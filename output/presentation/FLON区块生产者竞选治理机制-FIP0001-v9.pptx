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1803fcfca94e61" /><Relationship Type="http://schemas.openxmlformats.org/officeDocument/2006/relationships/extended-properties" Target="/docProps/app.xml" Id="R25c25cd161464202" /><Relationship Type="http://schemas.openxmlformats.org/officeDocument/2006/relationships/officeDocument" Target="/ppt/presentation.xml" Id="R18e10849f5634442" /></Relationships>
</file>

<file path=ppt/presentation.xml><?xml version="1.0" encoding="utf-8"?>
<p:presentation xmlns:p="http://schemas.openxmlformats.org/presentationml/2006/main">
  <p:sldMasterIdLst>
    <p:sldMasterId xmlns:r="http://schemas.openxmlformats.org/officeDocument/2006/relationships" id="2147483648" r:id="R2fd6fd25010048e0"/>
  </p:sldMasterIdLst>
  <p:notesMasterIdLst>
    <p:notesMasterId xmlns:r="http://schemas.openxmlformats.org/officeDocument/2006/relationships" r:id="Re8c8d138412a4c49"/>
  </p:notesMasterIdLst>
  <p:sldIdLst>
    <p:sldId xmlns:r="http://schemas.openxmlformats.org/officeDocument/2006/relationships" id="256" r:id="R3dba596545044171"/>
    <p:sldId xmlns:r="http://schemas.openxmlformats.org/officeDocument/2006/relationships" id="257" r:id="R8b0cb0d5ff5f4337"/>
    <p:sldId xmlns:r="http://schemas.openxmlformats.org/officeDocument/2006/relationships" id="258" r:id="R764e6616a70c4c6b"/>
    <p:sldId xmlns:r="http://schemas.openxmlformats.org/officeDocument/2006/relationships" id="259" r:id="R97408da9eb934377"/>
    <p:sldId xmlns:r="http://schemas.openxmlformats.org/officeDocument/2006/relationships" id="260" r:id="R43603f305b4f4f94"/>
    <p:sldId xmlns:r="http://schemas.openxmlformats.org/officeDocument/2006/relationships" id="261" r:id="Rbc77106e43a04e09"/>
    <p:sldId xmlns:r="http://schemas.openxmlformats.org/officeDocument/2006/relationships" id="262" r:id="Rbadec0bf750c41af"/>
    <p:sldId xmlns:r="http://schemas.openxmlformats.org/officeDocument/2006/relationships" id="263" r:id="R37dc4f3d27ff4f40"/>
    <p:sldId xmlns:r="http://schemas.openxmlformats.org/officeDocument/2006/relationships" id="264" r:id="R5c48d908c70c4dda"/>
    <p:sldId xmlns:r="http://schemas.openxmlformats.org/officeDocument/2006/relationships" id="265" r:id="Rd711bc51f81c40a3"/>
    <p:sldId xmlns:r="http://schemas.openxmlformats.org/officeDocument/2006/relationships" id="266" r:id="R9a5eef1e801c4060"/>
    <p:sldId xmlns:r="http://schemas.openxmlformats.org/officeDocument/2006/relationships" id="267" r:id="R8763d448ed9d4fad"/>
    <p:sldId xmlns:r="http://schemas.openxmlformats.org/officeDocument/2006/relationships" id="268" r:id="R41a014a23cd84eea"/>
    <p:sldId xmlns:r="http://schemas.openxmlformats.org/officeDocument/2006/relationships" id="269" r:id="R111dbd47d5fb4a07"/>
    <p:sldId xmlns:r="http://schemas.openxmlformats.org/officeDocument/2006/relationships" id="270" r:id="R69fe038e7dca421c"/>
    <p:sldId xmlns:r="http://schemas.openxmlformats.org/officeDocument/2006/relationships" id="271" r:id="R4879bf3032a14e22"/>
    <p:sldId xmlns:r="http://schemas.openxmlformats.org/officeDocument/2006/relationships" id="272" r:id="R5ce22d588f0b447c"/>
    <p:sldId xmlns:r="http://schemas.openxmlformats.org/officeDocument/2006/relationships" id="273" r:id="R72a0738dc5c548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5e49e13e3d47f4" /><Relationship Type="http://schemas.openxmlformats.org/officeDocument/2006/relationships/slideMaster" Target="/ppt/slideMasters/slideMaster1.xml" Id="R2fd6fd25010048e0" /><Relationship Type="http://schemas.openxmlformats.org/officeDocument/2006/relationships/notesMaster" Target="/ppt/notesMasters/notesMaster1.xml" Id="Re8c8d138412a4c49" /><Relationship Type="http://schemas.openxmlformats.org/officeDocument/2006/relationships/presProps" Target="/ppt/presProps.xml" Id="Rf382fc5d819a4503" /><Relationship Type="http://schemas.openxmlformats.org/officeDocument/2006/relationships/tableStyles" Target="/ppt/tableStyles.xml" Id="Rc5ab7a874c0e40a4" /><Relationship Type="http://schemas.openxmlformats.org/officeDocument/2006/relationships/slide" Target="/ppt/slides/slide1.xml" Id="R3dba596545044171" /><Relationship Type="http://schemas.openxmlformats.org/officeDocument/2006/relationships/slide" Target="/ppt/slides/slide2.xml" Id="R8b0cb0d5ff5f4337" /><Relationship Type="http://schemas.openxmlformats.org/officeDocument/2006/relationships/slide" Target="/ppt/slides/slide3.xml" Id="R764e6616a70c4c6b" /><Relationship Type="http://schemas.openxmlformats.org/officeDocument/2006/relationships/slide" Target="/ppt/slides/slide4.xml" Id="R97408da9eb934377" /><Relationship Type="http://schemas.openxmlformats.org/officeDocument/2006/relationships/slide" Target="/ppt/slides/slide5.xml" Id="R43603f305b4f4f94" /><Relationship Type="http://schemas.openxmlformats.org/officeDocument/2006/relationships/slide" Target="/ppt/slides/slide6.xml" Id="Rbc77106e43a04e09" /><Relationship Type="http://schemas.openxmlformats.org/officeDocument/2006/relationships/slide" Target="/ppt/slides/slide7.xml" Id="Rbadec0bf750c41af" /><Relationship Type="http://schemas.openxmlformats.org/officeDocument/2006/relationships/slide" Target="/ppt/slides/slide8.xml" Id="R37dc4f3d27ff4f40" /><Relationship Type="http://schemas.openxmlformats.org/officeDocument/2006/relationships/slide" Target="/ppt/slides/slide9.xml" Id="R5c48d908c70c4dda" /><Relationship Type="http://schemas.openxmlformats.org/officeDocument/2006/relationships/slide" Target="/ppt/slides/slide10.xml" Id="Rd711bc51f81c40a3" /><Relationship Type="http://schemas.openxmlformats.org/officeDocument/2006/relationships/slide" Target="/ppt/slides/slide11.xml" Id="R9a5eef1e801c4060" /><Relationship Type="http://schemas.openxmlformats.org/officeDocument/2006/relationships/slide" Target="/ppt/slides/slide12.xml" Id="R8763d448ed9d4fad" /><Relationship Type="http://schemas.openxmlformats.org/officeDocument/2006/relationships/slide" Target="/ppt/slides/slide13.xml" Id="R41a014a23cd84eea" /><Relationship Type="http://schemas.openxmlformats.org/officeDocument/2006/relationships/slide" Target="/ppt/slides/slide14.xml" Id="R111dbd47d5fb4a07" /><Relationship Type="http://schemas.openxmlformats.org/officeDocument/2006/relationships/slide" Target="/ppt/slides/slide15.xml" Id="R69fe038e7dca421c" /><Relationship Type="http://schemas.openxmlformats.org/officeDocument/2006/relationships/slide" Target="/ppt/slides/slide16.xml" Id="R4879bf3032a14e22" /><Relationship Type="http://schemas.openxmlformats.org/officeDocument/2006/relationships/slide" Target="/ppt/slides/slide17.xml" Id="R5ce22d588f0b447c" /><Relationship Type="http://schemas.openxmlformats.org/officeDocument/2006/relationships/slide" Target="/ppt/slides/slide18.xml" Id="R72a0738dc5c548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16149c618b40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6c6dee13b24440" /><Relationship Type="http://schemas.openxmlformats.org/officeDocument/2006/relationships/notesMaster" Target="/ppt/notesMasters/notesMaster1.xml" Id="R5f5471c9bed34a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a1e079afac4512" /><Relationship Type="http://schemas.openxmlformats.org/officeDocument/2006/relationships/notesMaster" Target="/ppt/notesMasters/notesMaster1.xml" Id="Rb8b5c9347aaf4f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a8fe03cd49493a" /><Relationship Type="http://schemas.openxmlformats.org/officeDocument/2006/relationships/notesMaster" Target="/ppt/notesMasters/notesMaster1.xml" Id="R192cd874a8a04b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3e3f634ea64ca0" /><Relationship Type="http://schemas.openxmlformats.org/officeDocument/2006/relationships/notesMaster" Target="/ppt/notesMasters/notesMaster1.xml" Id="Ra80df2eaf7c441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9745405eb84b81" /><Relationship Type="http://schemas.openxmlformats.org/officeDocument/2006/relationships/notesMaster" Target="/ppt/notesMasters/notesMaster1.xml" Id="R0c5c27b226db44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d22ef9e8e64a98" /><Relationship Type="http://schemas.openxmlformats.org/officeDocument/2006/relationships/notesMaster" Target="/ppt/notesMasters/notesMaster1.xml" Id="Reb289202b78244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459bcd1c8644a4" /><Relationship Type="http://schemas.openxmlformats.org/officeDocument/2006/relationships/notesMaster" Target="/ppt/notesMasters/notesMaster1.xml" Id="R78378700699748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c12f27be4e4398" /><Relationship Type="http://schemas.openxmlformats.org/officeDocument/2006/relationships/notesMaster" Target="/ppt/notesMasters/notesMaster1.xml" Id="Rf274409eb0ce4e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e18daf8b464378" /><Relationship Type="http://schemas.openxmlformats.org/officeDocument/2006/relationships/notesMaster" Target="/ppt/notesMasters/notesMaster1.xml" Id="R1f2fc5e35dd843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4929581e2c46f7" /><Relationship Type="http://schemas.openxmlformats.org/officeDocument/2006/relationships/notesMaster" Target="/ppt/notesMasters/notesMaster1.xml" Id="R908afcc52f2d4d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362d9ba7674f73" /><Relationship Type="http://schemas.openxmlformats.org/officeDocument/2006/relationships/notesMaster" Target="/ppt/notesMasters/notesMaster1.xml" Id="R06ebc6a643e146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038a736ad5406c" /><Relationship Type="http://schemas.openxmlformats.org/officeDocument/2006/relationships/notesMaster" Target="/ppt/notesMasters/notesMaster1.xml" Id="Re437352a7d1d41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578ff2704f4755" /><Relationship Type="http://schemas.openxmlformats.org/officeDocument/2006/relationships/notesMaster" Target="/ppt/notesMasters/notesMaster1.xml" Id="R4820649fa2b2402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3c0dab0ac848f3" /><Relationship Type="http://schemas.openxmlformats.org/officeDocument/2006/relationships/notesMaster" Target="/ppt/notesMasters/notesMaster1.xml" Id="R85dff20db16e4a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308174f311436e" /><Relationship Type="http://schemas.openxmlformats.org/officeDocument/2006/relationships/notesMaster" Target="/ppt/notesMasters/notesMaster1.xml" Id="Re3a2e1a497bd4e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ef767dc14e4b2e" /><Relationship Type="http://schemas.openxmlformats.org/officeDocument/2006/relationships/notesMaster" Target="/ppt/notesMasters/notesMaster1.xml" Id="Ra67564b0497e4b9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1c04b4fdd841f8" /><Relationship Type="http://schemas.openxmlformats.org/officeDocument/2006/relationships/notesMaster" Target="/ppt/notesMasters/notesMaster1.xml" Id="R7a5ff207568f439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72ca1b16624754" /><Relationship Type="http://schemas.openxmlformats.org/officeDocument/2006/relationships/notesMaster" Target="/ppt/notesMasters/notesMaster1.xml" Id="Rfbe991f6d92948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This deck summarizes a proposal under review; it does not represent an activated protocol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Epoch timing and transition rules. Six hours equals 43,200 slots at the proposed 500 ms slot interval. Governance changes may range from two to 24 hours and activate only at an epoch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flon.contracts/contracts/flon.system/src/producer_pay.cpp and contracts/voter.reward/src/voter.reward.cpp. Formulas describe the current local implementation, which has not yet completed WASM build and deployment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flon.contracts/contracts/voter.reward/src/voter.reward.cpp, voteproducer, change_vote and allocate_producer_rewards. Dynamic changes settle the prior accumulator checkpoint before changing weight.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current claim path in flon.contracts/contracts/flon.system/src/producer_pay.cpp and proposed epoch accounting in FIP-0001. The claim-time allocation gap is a code-review finding, not an activated protocol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FIP-0001 draft in fullon-labs/flon.fips. Parameters shown are proposed defaults and remain subject to FIP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05e29eecbf4e4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665bd4e0cd43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b0a5ba4cbe4e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db82a997544b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6225cbd81f4f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b3366808314d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407869-BB3A-4359-8F36-383270863ED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49B0968-6DAC-4F5B-8A37-CA7C61ABA8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2AC0D6-15A1-4830-893B-0C5E17858D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F1EEC6-9238-46DE-892C-67AB30CD85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A66C76-23AF-470D-A43A-96112FB01A5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17C5FD-D4D7-42B8-9D12-12F3250B6E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799296-8B68-4738-8FA8-44DBAA7FF0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A63026-8E15-4C6F-A555-BEF0D9BC31B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AC16E5-9E9C-4221-87DD-694429F3BE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34D0A7-A020-4309-82E9-DCFCC6C417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fd5efc92a14b75" /><Relationship Type="http://schemas.openxmlformats.org/officeDocument/2006/relationships/slideLayout" Target="/ppt/slideLayouts/slideLayout1.xml" Id="R0324e41f3d6f4f99" /><Relationship Type="http://schemas.openxmlformats.org/officeDocument/2006/relationships/slideLayout" Target="/ppt/slideLayouts/slideLayout2.xml" Id="R7c4b367c590a4a34" /><Relationship Type="http://schemas.openxmlformats.org/officeDocument/2006/relationships/slideLayout" Target="/ppt/slideLayouts/slideLayout3.xml" Id="Ra2c31335340e4981" /><Relationship Type="http://schemas.openxmlformats.org/officeDocument/2006/relationships/slideLayout" Target="/ppt/slideLayouts/slideLayout4.xml" Id="Rb297c71a6f4f4538" /><Relationship Type="http://schemas.openxmlformats.org/officeDocument/2006/relationships/slideLayout" Target="/ppt/slideLayouts/slideLayout5.xml" Id="Rc056f337c31545d4" /><Relationship Type="http://schemas.openxmlformats.org/officeDocument/2006/relationships/slideLayout" Target="/ppt/slideLayouts/slideLayout6.xml" Id="R7b99c31986fe4a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4e41f3d6f4f99"/>
    <p:sldLayoutId xmlns:r="http://schemas.openxmlformats.org/officeDocument/2006/relationships" id="2147483650" r:id="R7c4b367c590a4a34"/>
    <p:sldLayoutId xmlns:r="http://schemas.openxmlformats.org/officeDocument/2006/relationships" id="2147483651" r:id="Ra2c31335340e4981"/>
    <p:sldLayoutId xmlns:r="http://schemas.openxmlformats.org/officeDocument/2006/relationships" id="2147483652" r:id="Rb297c71a6f4f4538"/>
    <p:sldLayoutId xmlns:r="http://schemas.openxmlformats.org/officeDocument/2006/relationships" id="2147483653" r:id="Rc056f337c31545d4"/>
    <p:sldLayoutId xmlns:r="http://schemas.openxmlformats.org/officeDocument/2006/relationships" id="2147483654" r:id="R7b99c31986fe4a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a5befa141b4dd7" /><Relationship Type="http://schemas.openxmlformats.org/officeDocument/2006/relationships/notesSlide" Target="/ppt/notesSlides/notesSlide1.xml" Id="Rcfb465e52f8f4f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426931b769c4ec1" /><Relationship Type="http://schemas.openxmlformats.org/officeDocument/2006/relationships/notesSlide" Target="/ppt/notesSlides/notesSlide2.xml" Id="R70d62b063a584c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0b80804cc04aed" /><Relationship Type="http://schemas.openxmlformats.org/officeDocument/2006/relationships/notesSlide" Target="/ppt/notesSlides/notesSlide3.xml" Id="R7dc78f4879bb43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4913bc7b611472f" /><Relationship Type="http://schemas.openxmlformats.org/officeDocument/2006/relationships/notesSlide" Target="/ppt/notesSlides/notesSlide4.xml" Id="Rd7ed6bab068c47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34c75ea541b4fa1" /><Relationship Type="http://schemas.openxmlformats.org/officeDocument/2006/relationships/notesSlide" Target="/ppt/notesSlides/notesSlide5.xml" Id="R82e62ad0cc5542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b1922248184f10" /><Relationship Type="http://schemas.openxmlformats.org/officeDocument/2006/relationships/notesSlide" Target="/ppt/notesSlides/notesSlide6.xml" Id="Rf41521f4030b40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4c05d2b2e74426" /><Relationship Type="http://schemas.openxmlformats.org/officeDocument/2006/relationships/notesSlide" Target="/ppt/notesSlides/notesSlide7.xml" Id="Rc71eb83162b748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5518fead8a84eb3" /><Relationship Type="http://schemas.openxmlformats.org/officeDocument/2006/relationships/notesSlide" Target="/ppt/notesSlides/notesSlide8.xml" Id="Rb446177091074b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872da99c4c943d0" /><Relationship Type="http://schemas.openxmlformats.org/officeDocument/2006/relationships/notesSlide" Target="/ppt/notesSlides/notesSlide9.xml" Id="R724bdb1bbd6146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4fda1a2a7bf484a" /><Relationship Type="http://schemas.openxmlformats.org/officeDocument/2006/relationships/notesSlide" Target="/ppt/notesSlides/notesSlide10.xml" Id="Rc2e47d4d880a4b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16b3031bf1843b9" /><Relationship Type="http://schemas.openxmlformats.org/officeDocument/2006/relationships/notesSlide" Target="/ppt/notesSlides/notesSlide11.xml" Id="Rd1220c5d49b74e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7295dacbd6f4852" /><Relationship Type="http://schemas.openxmlformats.org/officeDocument/2006/relationships/notesSlide" Target="/ppt/notesSlides/notesSlide12.xml" Id="R684ea4c6db594c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fa17fb1350d4e5d" /><Relationship Type="http://schemas.openxmlformats.org/officeDocument/2006/relationships/notesSlide" Target="/ppt/notesSlides/notesSlide13.xml" Id="Rd10eabccba2d45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912f2c22b1b4b6f" /><Relationship Type="http://schemas.openxmlformats.org/officeDocument/2006/relationships/notesSlide" Target="/ppt/notesSlides/notesSlide14.xml" Id="R548e6ef255694c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1a1139986f2458e" /><Relationship Type="http://schemas.openxmlformats.org/officeDocument/2006/relationships/notesSlide" Target="/ppt/notesSlides/notesSlide15.xml" Id="R324fa2b24c27405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e8aa2ba2dca4aa5" /><Relationship Type="http://schemas.openxmlformats.org/officeDocument/2006/relationships/notesSlide" Target="/ppt/notesSlides/notesSlide16.xml" Id="R5a527aaadc6940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b2e0ef7479e421d" /><Relationship Type="http://schemas.openxmlformats.org/officeDocument/2006/relationships/notesSlide" Target="/ppt/notesSlides/notesSlide17.xml" Id="Rcae22cdf48f44a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3e0db8a291d4d5d" /><Relationship Type="http://schemas.openxmlformats.org/officeDocument/2006/relationships/notesSlide" Target="/ppt/notesSlides/notesSlide18.xml" Id="Rd5849585429249bd" /></Relationships>
</file>

<file path=ppt/slides/slide1.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F4459BC-3216-470B-9E9F-2DCC2B2C69E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B2207F-7F3C-4C86-8FEC-D2CA23E65EBD}"/>
              </a:ext>
            </a:extLst>
          </p:cNvPr>
          <p:cNvSpPr>
            <a:spLocks xmlns:a="http://schemas.openxmlformats.org/drawingml/2006/main" noGrp="1"/>
          </p:cNvSpPr>
          <p:nvPr/>
        </p:nvSpPr>
        <p:spPr>
          <a:xfrm xmlns:a="http://schemas.openxmlformats.org/drawingml/2006/main">
            <a:off x="8477250" y="0"/>
            <a:ext cx="3714750" cy="6858000"/>
          </a:xfrm>
          <a:prstGeom xmlns:a="http://schemas.openxmlformats.org/drawingml/2006/main" prst="rect">
            <a:avLst/>
          </a:prstGeom>
          <a:solidFill xmlns:a="http://schemas.openxmlformats.org/drawingml/2006/main">
            <a:srgbClr val="0B203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29F1161-0FAB-4D7B-ACCB-01A9CC2A6D83}"/>
              </a:ext>
            </a:extLst>
          </p:cNvPr>
          <p:cNvSpPr>
            <a:spLocks xmlns:a="http://schemas.openxmlformats.org/drawingml/2006/main" noGrp="1"/>
          </p:cNvSpPr>
          <p:nvPr/>
        </p:nvSpPr>
        <p:spPr>
          <a:xfrm xmlns:a="http://schemas.openxmlformats.org/drawingml/2006/main">
            <a:off x="8953500" y="1047750"/>
            <a:ext cx="2095500" cy="2095500"/>
          </a:xfrm>
          <a:prstGeom xmlns:a="http://schemas.openxmlformats.org/drawingml/2006/main" prst="roundRect">
            <a:avLst>
              <a:gd name="adj" fmla="val 3636"/>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E61834C-FA18-430C-A948-8EB8F8A91187}"/>
              </a:ext>
            </a:extLst>
          </p:cNvPr>
          <p:cNvSpPr>
            <a:spLocks xmlns:a="http://schemas.openxmlformats.org/drawingml/2006/main" noGrp="1"/>
          </p:cNvSpPr>
          <p:nvPr/>
        </p:nvSpPr>
        <p:spPr>
          <a:xfrm xmlns:a="http://schemas.openxmlformats.org/drawingml/2006/main">
            <a:off x="9096375" y="1162050"/>
            <a:ext cx="1809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6150" b="1">
                <a:solidFill>
                  <a:srgbClr val="F7FBFF"/>
                </a:solidFill>
                <a:latin typeface="Arial Unicode MS"/>
                <a:ea typeface="Arial Unicode MS"/>
                <a:cs typeface="Arial Unicode MS"/>
              </a:defRPr>
            </a:defPPr>
          </a:lstStyle>
          <a:p xmlns:a="http://schemas.openxmlformats.org/drawingml/2006/main">
            <a:pPr algn="ctr">
              <a:defRPr sz="6150" b="1">
                <a:solidFill>
                  <a:srgbClr val="F7FBFF"/>
                </a:solidFill>
                <a:latin typeface="Arial Unicode MS"/>
                <a:ea typeface="Arial Unicode MS"/>
                <a:cs typeface="Arial Unicode MS"/>
              </a:defRPr>
            </a:pPr>
            <a:r>
              <a:rPr sz="6150" b="1">
                <a:solidFill>
                  <a:srgbClr val="F7FBFF"/>
                </a:solidFill>
                <a:latin typeface="Arial Unicode MS"/>
                <a:ea typeface="Arial Unicode MS"/>
                <a:cs typeface="Arial Unicode MS"/>
              </a:rPr>
              <a:t>21</a:t>
            </a:r>
          </a:p>
        </p:txBody>
      </p:sp>
      <p:sp>
        <p:nvSpPr>
          <p:cNvPr id="5" name="">
            <a:extLst xmlns:a="http://schemas.openxmlformats.org/drawingml/2006/main">
              <a:ext uri="{FF2B5EF4-FFF2-40B4-BE49-F238E27FC236}">
                <a16:creationId xmlns:a16="http://schemas.microsoft.com/office/drawing/2014/main" id="{1B7482B0-C9D8-49E4-8529-78B69B53948B}"/>
              </a:ext>
            </a:extLst>
          </p:cNvPr>
          <p:cNvSpPr>
            <a:spLocks xmlns:a="http://schemas.openxmlformats.org/drawingml/2006/main" noGrp="1"/>
          </p:cNvSpPr>
          <p:nvPr/>
        </p:nvSpPr>
        <p:spPr>
          <a:xfrm xmlns:a="http://schemas.openxmlformats.org/drawingml/2006/main">
            <a:off x="9096375" y="221932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350" b="1">
                <a:solidFill>
                  <a:srgbClr val="4DE3D1"/>
                </a:solidFill>
                <a:latin typeface="Arial Unicode MS"/>
                <a:ea typeface="Arial Unicode MS"/>
                <a:cs typeface="Arial Unicode MS"/>
              </a:defRPr>
            </a:defPPr>
          </a:lstStyle>
          <a:p xmlns:a="http://schemas.openxmlformats.org/drawingml/2006/main">
            <a:pPr algn="ctr">
              <a:defRPr sz="1350" b="1">
                <a:solidFill>
                  <a:srgbClr val="4DE3D1"/>
                </a:solidFill>
                <a:latin typeface="Arial Unicode MS"/>
                <a:ea typeface="Arial Unicode MS"/>
                <a:cs typeface="Arial Unicode MS"/>
              </a:defRPr>
            </a:pPr>
            <a:r>
              <a:rPr sz="1350" b="1">
                <a:solidFill>
                  <a:srgbClr val="4DE3D1"/>
                </a:solidFill>
                <a:latin typeface="Arial Unicode MS"/>
                <a:ea typeface="Arial Unicode MS"/>
                <a:cs typeface="Arial Unicode MS"/>
              </a:rPr>
              <a:t>ACTIVE BP</a:t>
            </a:r>
          </a:p>
        </p:txBody>
      </p:sp>
      <p:sp>
        <p:nvSpPr>
          <p:cNvPr id="6" name="">
            <a:extLst xmlns:a="http://schemas.openxmlformats.org/drawingml/2006/main">
              <a:ext uri="{FF2B5EF4-FFF2-40B4-BE49-F238E27FC236}">
                <a16:creationId xmlns:a16="http://schemas.microsoft.com/office/drawing/2014/main" id="{C04EA922-C11B-4624-BD5C-5A6C7ECE13EE}"/>
              </a:ext>
            </a:extLst>
          </p:cNvPr>
          <p:cNvSpPr>
            <a:spLocks xmlns:a="http://schemas.openxmlformats.org/drawingml/2006/main" noGrp="1"/>
          </p:cNvSpPr>
          <p:nvPr/>
        </p:nvSpPr>
        <p:spPr>
          <a:xfrm xmlns:a="http://schemas.openxmlformats.org/drawingml/2006/main">
            <a:off x="9667875" y="3390900"/>
            <a:ext cx="1381125" cy="1381125"/>
          </a:xfrm>
          <a:prstGeom xmlns:a="http://schemas.openxmlformats.org/drawingml/2006/main" prst="roundRect">
            <a:avLst>
              <a:gd name="adj" fmla="val 5517"/>
            </a:avLst>
          </a:prstGeom>
          <a:solidFill xmlns:a="http://schemas.openxmlformats.org/drawingml/2006/main">
            <a:srgbClr val="F1B84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D9EF55B-8CDD-4BF4-9954-34E4133A6E71}"/>
              </a:ext>
            </a:extLst>
          </p:cNvPr>
          <p:cNvSpPr>
            <a:spLocks xmlns:a="http://schemas.openxmlformats.org/drawingml/2006/main" noGrp="1"/>
          </p:cNvSpPr>
          <p:nvPr/>
        </p:nvSpPr>
        <p:spPr>
          <a:xfrm xmlns:a="http://schemas.openxmlformats.org/drawingml/2006/main">
            <a:off x="9763125" y="3467100"/>
            <a:ext cx="11906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4200" b="1">
                <a:solidFill>
                  <a:srgbClr val="071525"/>
                </a:solidFill>
                <a:latin typeface="Arial Unicode MS"/>
                <a:ea typeface="Arial Unicode MS"/>
                <a:cs typeface="Arial Unicode MS"/>
              </a:defRPr>
            </a:defPPr>
          </a:lstStyle>
          <a:p xmlns:a="http://schemas.openxmlformats.org/drawingml/2006/main">
            <a:pPr algn="ctr">
              <a:defRPr sz="4200" b="1">
                <a:solidFill>
                  <a:srgbClr val="071525"/>
                </a:solidFill>
                <a:latin typeface="Arial Unicode MS"/>
                <a:ea typeface="Arial Unicode MS"/>
                <a:cs typeface="Arial Unicode MS"/>
              </a:defRPr>
            </a:pPr>
            <a:r>
              <a:rPr sz="4200" b="1">
                <a:solidFill>
                  <a:srgbClr val="071525"/>
                </a:solidFill>
                <a:latin typeface="Arial Unicode MS"/>
                <a:ea typeface="Arial Unicode MS"/>
                <a:cs typeface="Arial Unicode MS"/>
              </a:rPr>
              <a:t>30</a:t>
            </a:r>
          </a:p>
        </p:txBody>
      </p:sp>
      <p:sp>
        <p:nvSpPr>
          <p:cNvPr id="8" name="">
            <a:extLst xmlns:a="http://schemas.openxmlformats.org/drawingml/2006/main">
              <a:ext uri="{FF2B5EF4-FFF2-40B4-BE49-F238E27FC236}">
                <a16:creationId xmlns:a16="http://schemas.microsoft.com/office/drawing/2014/main" id="{421B60AD-8E03-42D2-90AB-581870249D6C}"/>
              </a:ext>
            </a:extLst>
          </p:cNvPr>
          <p:cNvSpPr>
            <a:spLocks xmlns:a="http://schemas.openxmlformats.org/drawingml/2006/main" noGrp="1"/>
          </p:cNvSpPr>
          <p:nvPr/>
        </p:nvSpPr>
        <p:spPr>
          <a:xfrm xmlns:a="http://schemas.openxmlformats.org/drawingml/2006/main">
            <a:off x="9763125" y="417195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071525"/>
                </a:solidFill>
                <a:latin typeface="Arial Unicode MS"/>
                <a:ea typeface="Arial Unicode MS"/>
                <a:cs typeface="Arial Unicode MS"/>
              </a:defRPr>
            </a:defPPr>
          </a:lstStyle>
          <a:p xmlns:a="http://schemas.openxmlformats.org/drawingml/2006/main">
            <a:pPr algn="ctr">
              <a:defRPr sz="1125" b="1">
                <a:solidFill>
                  <a:srgbClr val="071525"/>
                </a:solidFill>
                <a:latin typeface="Arial Unicode MS"/>
                <a:ea typeface="Arial Unicode MS"/>
                <a:cs typeface="Arial Unicode MS"/>
              </a:defRPr>
            </a:pPr>
            <a:r>
              <a:rPr sz="1125" b="1">
                <a:solidFill>
                  <a:srgbClr val="071525"/>
                </a:solidFill>
                <a:latin typeface="Arial Unicode MS"/>
                <a:ea typeface="Arial Unicode MS"/>
                <a:cs typeface="Arial Unicode MS"/>
              </a:rPr>
              <a:t>STANDBY</a:t>
            </a:r>
          </a:p>
        </p:txBody>
      </p:sp>
      <p:sp>
        <p:nvSpPr>
          <p:cNvPr id="9" name="">
            <a:extLst xmlns:a="http://schemas.openxmlformats.org/drawingml/2006/main">
              <a:ext uri="{FF2B5EF4-FFF2-40B4-BE49-F238E27FC236}">
                <a16:creationId xmlns:a16="http://schemas.microsoft.com/office/drawing/2014/main" id="{13DEA275-BA55-4B36-83F3-E5936F20DAAE}"/>
              </a:ext>
            </a:extLst>
          </p:cNvPr>
          <p:cNvSpPr>
            <a:spLocks xmlns:a="http://schemas.openxmlformats.org/drawingml/2006/main" noGrp="1"/>
          </p:cNvSpPr>
          <p:nvPr/>
        </p:nvSpPr>
        <p:spPr>
          <a:xfrm xmlns:a="http://schemas.openxmlformats.org/drawingml/2006/main">
            <a:off x="666750" y="7429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75" b="1">
                <a:solidFill>
                  <a:srgbClr val="4DE3D1"/>
                </a:solidFill>
                <a:latin typeface="Arial Unicode MS"/>
                <a:ea typeface="Arial Unicode MS"/>
                <a:cs typeface="Arial Unicode MS"/>
              </a:defRPr>
            </a:defPPr>
          </a:lstStyle>
          <a:p xmlns:a="http://schemas.openxmlformats.org/drawingml/2006/main">
            <a:pPr algn="l">
              <a:defRPr sz="1875" b="1">
                <a:solidFill>
                  <a:srgbClr val="4DE3D1"/>
                </a:solidFill>
                <a:latin typeface="Arial Unicode MS"/>
                <a:ea typeface="Arial Unicode MS"/>
                <a:cs typeface="Arial Unicode MS"/>
              </a:defRPr>
            </a:pPr>
            <a:r>
              <a:rPr sz="1875" b="1">
                <a:solidFill>
                  <a:srgbClr val="4DE3D1"/>
                </a:solidFill>
                <a:latin typeface="Arial Unicode MS"/>
                <a:ea typeface="Arial Unicode MS"/>
                <a:cs typeface="Arial Unicode MS"/>
              </a:rPr>
              <a:t>FLON</a:t>
            </a:r>
          </a:p>
        </p:txBody>
      </p:sp>
      <p:sp>
        <p:nvSpPr>
          <p:cNvPr id="10" name="">
            <a:extLst xmlns:a="http://schemas.openxmlformats.org/drawingml/2006/main">
              <a:ext uri="{FF2B5EF4-FFF2-40B4-BE49-F238E27FC236}">
                <a16:creationId xmlns:a16="http://schemas.microsoft.com/office/drawing/2014/main" id="{098DB382-CCC0-48B7-9F18-652E52932AB6}"/>
              </a:ext>
            </a:extLst>
          </p:cNvPr>
          <p:cNvSpPr>
            <a:spLocks xmlns:a="http://schemas.openxmlformats.org/drawingml/2006/main" noGrp="1"/>
          </p:cNvSpPr>
          <p:nvPr/>
        </p:nvSpPr>
        <p:spPr>
          <a:xfrm xmlns:a="http://schemas.openxmlformats.org/drawingml/2006/main">
            <a:off x="666750" y="1638300"/>
            <a:ext cx="7620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300" b="1">
                <a:solidFill>
                  <a:srgbClr val="F7FBFF"/>
                </a:solidFill>
                <a:latin typeface="Arial Unicode MS"/>
                <a:ea typeface="Arial Unicode MS"/>
                <a:cs typeface="Arial Unicode MS"/>
              </a:defRPr>
            </a:defPPr>
          </a:lstStyle>
          <a:p xmlns:a="http://schemas.openxmlformats.org/drawingml/2006/main">
            <a:pPr algn="l">
              <a:defRPr sz="3300" b="1">
                <a:solidFill>
                  <a:srgbClr val="F7FBFF"/>
                </a:solidFill>
                <a:latin typeface="Arial Unicode MS"/>
                <a:ea typeface="Arial Unicode MS"/>
                <a:cs typeface="Arial Unicode MS"/>
              </a:defRPr>
            </a:pPr>
            <a:r>
              <a:rPr sz="3300" b="1">
                <a:solidFill>
                  <a:srgbClr val="F7FBFF"/>
                </a:solidFill>
                <a:latin typeface="Arial Unicode MS"/>
                <a:ea typeface="Arial Unicode MS"/>
                <a:cs typeface="Arial Unicode MS"/>
              </a:rPr>
              <a:t>区块生产者（BP）竞选、治理、奖励与惩罚机制</a:t>
            </a:r>
          </a:p>
        </p:txBody>
      </p:sp>
      <p:sp>
        <p:nvSpPr>
          <p:cNvPr id="11" name="">
            <a:extLst xmlns:a="http://schemas.openxmlformats.org/drawingml/2006/main">
              <a:ext uri="{FF2B5EF4-FFF2-40B4-BE49-F238E27FC236}">
                <a16:creationId xmlns:a16="http://schemas.microsoft.com/office/drawing/2014/main" id="{1B507544-C29C-4491-BC5F-9BDEC20F3B41}"/>
              </a:ext>
            </a:extLst>
          </p:cNvPr>
          <p:cNvSpPr>
            <a:spLocks xmlns:a="http://schemas.openxmlformats.org/drawingml/2006/main" noGrp="1"/>
          </p:cNvSpPr>
          <p:nvPr/>
        </p:nvSpPr>
        <p:spPr>
          <a:xfrm xmlns:a="http://schemas.openxmlformats.org/drawingml/2006/main">
            <a:off x="685800" y="306705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75" b="0">
                <a:solidFill>
                  <a:srgbClr val="D7E7F2"/>
                </a:solidFill>
                <a:latin typeface="Arial Unicode MS"/>
                <a:ea typeface="Arial Unicode MS"/>
                <a:cs typeface="Arial Unicode MS"/>
              </a:defRPr>
            </a:defPPr>
          </a:lstStyle>
          <a:p xmlns:a="http://schemas.openxmlformats.org/drawingml/2006/main">
            <a:pPr algn="l">
              <a:defRPr sz="1875" b="0">
                <a:solidFill>
                  <a:srgbClr val="D7E7F2"/>
                </a:solidFill>
                <a:latin typeface="Arial Unicode MS"/>
                <a:ea typeface="Arial Unicode MS"/>
                <a:cs typeface="Arial Unicode MS"/>
              </a:defRPr>
            </a:pPr>
            <a:r>
              <a:rPr sz="1875" b="0">
                <a:solidFill>
                  <a:srgbClr val="D7E7F2"/>
                </a:solidFill>
                <a:latin typeface="Arial Unicode MS"/>
                <a:ea typeface="Arial Unicode MS"/>
                <a:cs typeface="Arial Unicode MS"/>
              </a:rPr>
              <a:t>基于 FIP-0001 Draft 的总体设计</a:t>
            </a:r>
          </a:p>
        </p:txBody>
      </p:sp>
      <p:sp>
        <p:nvSpPr>
          <p:cNvPr id="12" name="">
            <a:extLst xmlns:a="http://schemas.openxmlformats.org/drawingml/2006/main">
              <a:ext uri="{FF2B5EF4-FFF2-40B4-BE49-F238E27FC236}">
                <a16:creationId xmlns:a16="http://schemas.microsoft.com/office/drawing/2014/main" id="{F9B74A99-C304-4DB4-BDB4-ADB9860C068C}"/>
              </a:ext>
            </a:extLst>
          </p:cNvPr>
          <p:cNvSpPr>
            <a:spLocks xmlns:a="http://schemas.openxmlformats.org/drawingml/2006/main" noGrp="1"/>
          </p:cNvSpPr>
          <p:nvPr/>
        </p:nvSpPr>
        <p:spPr>
          <a:xfrm xmlns:a="http://schemas.openxmlformats.org/drawingml/2006/main">
            <a:off x="685800" y="3790950"/>
            <a:ext cx="5810250" cy="381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09FB730-74D4-409A-9A3B-0EC81EEF3B77}"/>
              </a:ext>
            </a:extLst>
          </p:cNvPr>
          <p:cNvSpPr>
            <a:spLocks xmlns:a="http://schemas.openxmlformats.org/drawingml/2006/main" noGrp="1"/>
          </p:cNvSpPr>
          <p:nvPr/>
        </p:nvSpPr>
        <p:spPr>
          <a:xfrm xmlns:a="http://schemas.openxmlformats.org/drawingml/2006/main">
            <a:off x="685800" y="4095750"/>
            <a:ext cx="695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a:solidFill>
                  <a:srgbClr val="F1B84B"/>
                </a:solidFill>
                <a:latin typeface="Arial Unicode MS"/>
                <a:ea typeface="Arial Unicode MS"/>
                <a:cs typeface="Arial Unicode MS"/>
              </a:defRPr>
            </a:defPPr>
          </a:lstStyle>
          <a:p xmlns:a="http://schemas.openxmlformats.org/drawingml/2006/main">
            <a:pPr algn="l">
              <a:defRPr sz="1650" b="1">
                <a:solidFill>
                  <a:srgbClr val="F1B84B"/>
                </a:solidFill>
                <a:latin typeface="Arial Unicode MS"/>
                <a:ea typeface="Arial Unicode MS"/>
                <a:cs typeface="Arial Unicode MS"/>
              </a:defRPr>
            </a:pPr>
            <a:r>
              <a:rPr sz="1650" b="1">
                <a:solidFill>
                  <a:srgbClr val="F1B84B"/>
                </a:solidFill>
                <a:latin typeface="Arial Unicode MS"/>
                <a:ea typeface="Arial Unicode MS"/>
                <a:cs typeface="Arial Unicode MS"/>
              </a:rPr>
              <a:t>一币一份总票权  ·  确定性绩效  ·  ELON 全额 FLON 储备</a:t>
            </a:r>
          </a:p>
        </p:txBody>
      </p:sp>
      <p:sp>
        <p:nvSpPr>
          <p:cNvPr id="14" name="">
            <a:extLst xmlns:a="http://schemas.openxmlformats.org/drawingml/2006/main">
              <a:ext uri="{FF2B5EF4-FFF2-40B4-BE49-F238E27FC236}">
                <a16:creationId xmlns:a16="http://schemas.microsoft.com/office/drawing/2014/main" id="{5890C013-2FD3-4491-832F-D5CAE957AF43}"/>
              </a:ext>
            </a:extLst>
          </p:cNvPr>
          <p:cNvSpPr>
            <a:spLocks xmlns:a="http://schemas.openxmlformats.org/drawingml/2006/main" noGrp="1"/>
          </p:cNvSpPr>
          <p:nvPr/>
        </p:nvSpPr>
        <p:spPr>
          <a:xfrm xmlns:a="http://schemas.openxmlformats.org/drawingml/2006/main">
            <a:off x="685800" y="61150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8FA9BB"/>
                </a:solidFill>
                <a:latin typeface="Arial Unicode MS"/>
                <a:ea typeface="Arial Unicode MS"/>
                <a:cs typeface="Arial Unicode MS"/>
              </a:defRPr>
            </a:defPPr>
          </a:lstStyle>
          <a:p xmlns:a="http://schemas.openxmlformats.org/drawingml/2006/main">
            <a:pPr algn="l">
              <a:defRPr sz="1050" b="0">
                <a:solidFill>
                  <a:srgbClr val="8FA9BB"/>
                </a:solidFill>
                <a:latin typeface="Arial Unicode MS"/>
                <a:ea typeface="Arial Unicode MS"/>
                <a:cs typeface="Arial Unicode MS"/>
              </a:defRPr>
            </a:pPr>
            <a:r>
              <a:rPr sz="1050" b="0">
                <a:solidFill>
                  <a:srgbClr val="8FA9BB"/>
                </a:solidFill>
                <a:latin typeface="Arial Unicode MS"/>
                <a:ea typeface="Arial Unicode MS"/>
                <a:cs typeface="Arial Unicode MS"/>
              </a:rPr>
              <a:t>FullOn Improvement Proposal  ·  2026-10-15</a:t>
            </a:r>
          </a:p>
        </p:txBody>
      </p:sp>
    </p:spTree>
    <p:extLst>
      <p:ext uri="{BB962C8B-B14F-4D97-AF65-F5344CB8AC3E}">
        <p14:creationId xmlns:p14="http://schemas.microsoft.com/office/powerpoint/2010/main" val="307276305"/>
      </p:ext>
    </p:extLst>
  </p:cSld>
</p:sld>
</file>

<file path=ppt/slides/slide2.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7EC1E6C-B940-42A9-BD4E-CFDD67E9324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5AD888-0DE4-4D8B-96FD-34BC5AEA184F}"/>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01 机制总览</a:t>
            </a:r>
          </a:p>
        </p:txBody>
      </p:sp>
      <p:sp>
        <p:nvSpPr>
          <p:cNvPr id="3" name="">
            <a:extLst xmlns:a="http://schemas.openxmlformats.org/drawingml/2006/main">
              <a:ext uri="{FF2B5EF4-FFF2-40B4-BE49-F238E27FC236}">
                <a16:creationId xmlns:a16="http://schemas.microsoft.com/office/drawing/2014/main" id="{BAD9003A-625C-4F58-9F25-AFA8AC2DD172}"/>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总体架构</a:t>
            </a:r>
          </a:p>
        </p:txBody>
      </p:sp>
      <p:sp>
        <p:nvSpPr>
          <p:cNvPr id="4" name="">
            <a:extLst xmlns:a="http://schemas.openxmlformats.org/drawingml/2006/main">
              <a:ext uri="{FF2B5EF4-FFF2-40B4-BE49-F238E27FC236}">
                <a16:creationId xmlns:a16="http://schemas.microsoft.com/office/drawing/2014/main" id="{F2CD5E9D-DE9B-4B4C-825B-1B1022227DFD}"/>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0359C2D-84D0-419A-AAFF-6590A436D04C}"/>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02</a:t>
            </a:r>
          </a:p>
        </p:txBody>
      </p:sp>
      <p:sp>
        <p:nvSpPr>
          <p:cNvPr id="6" name="">
            <a:extLst xmlns:a="http://schemas.openxmlformats.org/drawingml/2006/main">
              <a:ext uri="{FF2B5EF4-FFF2-40B4-BE49-F238E27FC236}">
                <a16:creationId xmlns:a16="http://schemas.microsoft.com/office/drawing/2014/main" id="{7F71BFCA-14C5-429F-93C6-9842222DC68F}"/>
              </a:ext>
            </a:extLst>
          </p:cNvPr>
          <p:cNvSpPr>
            <a:spLocks xmlns:a="http://schemas.openxmlformats.org/drawingml/2006/main" noGrp="1"/>
          </p:cNvSpPr>
          <p:nvPr/>
        </p:nvSpPr>
        <p:spPr>
          <a:xfrm xmlns:a="http://schemas.openxmlformats.org/drawingml/2006/main">
            <a:off x="857250" y="1638300"/>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4200" b="1">
                <a:solidFill>
                  <a:srgbClr val="4DE3D1"/>
                </a:solidFill>
                <a:latin typeface="Arial Unicode MS"/>
                <a:ea typeface="Arial Unicode MS"/>
                <a:cs typeface="Arial Unicode MS"/>
              </a:defRPr>
            </a:defPPr>
          </a:lstStyle>
          <a:p xmlns:a="http://schemas.openxmlformats.org/drawingml/2006/main">
            <a:pPr algn="ctr">
              <a:defRPr sz="4200" b="1">
                <a:solidFill>
                  <a:srgbClr val="4DE3D1"/>
                </a:solidFill>
                <a:latin typeface="Arial Unicode MS"/>
                <a:ea typeface="Arial Unicode MS"/>
                <a:cs typeface="Arial Unicode MS"/>
              </a:defRPr>
            </a:pPr>
            <a:r>
              <a:rPr sz="4200" b="1">
                <a:solidFill>
                  <a:srgbClr val="4DE3D1"/>
                </a:solidFill>
                <a:latin typeface="Arial Unicode MS"/>
                <a:ea typeface="Arial Unicode MS"/>
                <a:cs typeface="Arial Unicode MS"/>
              </a:rPr>
              <a:t>3 → 21</a:t>
            </a:r>
          </a:p>
        </p:txBody>
      </p:sp>
      <p:sp>
        <p:nvSpPr>
          <p:cNvPr id="7" name="">
            <a:extLst xmlns:a="http://schemas.openxmlformats.org/drawingml/2006/main">
              <a:ext uri="{FF2B5EF4-FFF2-40B4-BE49-F238E27FC236}">
                <a16:creationId xmlns:a16="http://schemas.microsoft.com/office/drawing/2014/main" id="{7D22331D-595F-4A6E-889D-E7192003B590}"/>
              </a:ext>
            </a:extLst>
          </p:cNvPr>
          <p:cNvSpPr>
            <a:spLocks xmlns:a="http://schemas.openxmlformats.org/drawingml/2006/main" noGrp="1"/>
          </p:cNvSpPr>
          <p:nvPr/>
        </p:nvSpPr>
        <p:spPr>
          <a:xfrm xmlns:a="http://schemas.openxmlformats.org/drawingml/2006/main">
            <a:off x="857250" y="23241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Active BP 渐进扩容</a:t>
            </a:r>
          </a:p>
        </p:txBody>
      </p:sp>
      <p:sp>
        <p:nvSpPr>
          <p:cNvPr id="8" name="">
            <a:extLst xmlns:a="http://schemas.openxmlformats.org/drawingml/2006/main">
              <a:ext uri="{FF2B5EF4-FFF2-40B4-BE49-F238E27FC236}">
                <a16:creationId xmlns:a16="http://schemas.microsoft.com/office/drawing/2014/main" id="{BC72BE84-C9B5-4C67-A25C-D16E30FBA028}"/>
              </a:ext>
            </a:extLst>
          </p:cNvPr>
          <p:cNvSpPr>
            <a:spLocks xmlns:a="http://schemas.openxmlformats.org/drawingml/2006/main" noGrp="1"/>
          </p:cNvSpPr>
          <p:nvPr/>
        </p:nvSpPr>
        <p:spPr>
          <a:xfrm xmlns:a="http://schemas.openxmlformats.org/drawingml/2006/main">
            <a:off x="3238500" y="1638300"/>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4200" b="1">
                <a:solidFill>
                  <a:srgbClr val="F1B84B"/>
                </a:solidFill>
                <a:latin typeface="Arial Unicode MS"/>
                <a:ea typeface="Arial Unicode MS"/>
                <a:cs typeface="Arial Unicode MS"/>
              </a:defRPr>
            </a:defPPr>
          </a:lstStyle>
          <a:p xmlns:a="http://schemas.openxmlformats.org/drawingml/2006/main">
            <a:pPr algn="ctr">
              <a:defRPr sz="4200" b="1">
                <a:solidFill>
                  <a:srgbClr val="F1B84B"/>
                </a:solidFill>
                <a:latin typeface="Arial Unicode MS"/>
                <a:ea typeface="Arial Unicode MS"/>
                <a:cs typeface="Arial Unicode MS"/>
              </a:defRPr>
            </a:pPr>
            <a:r>
              <a:rPr sz="4200" b="1">
                <a:solidFill>
                  <a:srgbClr val="F1B84B"/>
                </a:solidFill>
                <a:latin typeface="Arial Unicode MS"/>
                <a:ea typeface="Arial Unicode MS"/>
                <a:cs typeface="Arial Unicode MS"/>
              </a:rPr>
              <a:t>30</a:t>
            </a:r>
          </a:p>
        </p:txBody>
      </p:sp>
      <p:sp>
        <p:nvSpPr>
          <p:cNvPr id="9" name="">
            <a:extLst xmlns:a="http://schemas.openxmlformats.org/drawingml/2006/main">
              <a:ext uri="{FF2B5EF4-FFF2-40B4-BE49-F238E27FC236}">
                <a16:creationId xmlns:a16="http://schemas.microsoft.com/office/drawing/2014/main" id="{AA154D7F-FB04-4831-B836-900CD48ABBC8}"/>
              </a:ext>
            </a:extLst>
          </p:cNvPr>
          <p:cNvSpPr>
            <a:spLocks xmlns:a="http://schemas.openxmlformats.org/drawingml/2006/main" noGrp="1"/>
          </p:cNvSpPr>
          <p:nvPr/>
        </p:nvSpPr>
        <p:spPr>
          <a:xfrm xmlns:a="http://schemas.openxmlformats.org/drawingml/2006/main">
            <a:off x="3238500" y="23241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合格 Standby BP</a:t>
            </a:r>
          </a:p>
        </p:txBody>
      </p:sp>
      <p:sp>
        <p:nvSpPr>
          <p:cNvPr id="10" name="">
            <a:extLst xmlns:a="http://schemas.openxmlformats.org/drawingml/2006/main">
              <a:ext uri="{FF2B5EF4-FFF2-40B4-BE49-F238E27FC236}">
                <a16:creationId xmlns:a16="http://schemas.microsoft.com/office/drawing/2014/main" id="{F65CB142-8CF8-4E7C-B4BA-C893F841AE33}"/>
              </a:ext>
            </a:extLst>
          </p:cNvPr>
          <p:cNvSpPr>
            <a:spLocks xmlns:a="http://schemas.openxmlformats.org/drawingml/2006/main" noGrp="1"/>
          </p:cNvSpPr>
          <p:nvPr/>
        </p:nvSpPr>
        <p:spPr>
          <a:xfrm xmlns:a="http://schemas.openxmlformats.org/drawingml/2006/main">
            <a:off x="5619750" y="1638300"/>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4200" b="1">
                <a:solidFill>
                  <a:srgbClr val="9FF3E8"/>
                </a:solidFill>
                <a:latin typeface="Arial Unicode MS"/>
                <a:ea typeface="Arial Unicode MS"/>
                <a:cs typeface="Arial Unicode MS"/>
              </a:defRPr>
            </a:defPPr>
          </a:lstStyle>
          <a:p xmlns:a="http://schemas.openxmlformats.org/drawingml/2006/main">
            <a:pPr algn="ctr">
              <a:defRPr sz="4200" b="1">
                <a:solidFill>
                  <a:srgbClr val="9FF3E8"/>
                </a:solidFill>
                <a:latin typeface="Arial Unicode MS"/>
                <a:ea typeface="Arial Unicode MS"/>
                <a:cs typeface="Arial Unicode MS"/>
              </a:defRPr>
            </a:pPr>
            <a:r>
              <a:rPr sz="4200" b="1">
                <a:solidFill>
                  <a:srgbClr val="9FF3E8"/>
                </a:solidFill>
                <a:latin typeface="Arial Unicode MS"/>
                <a:ea typeface="Arial Unicode MS"/>
                <a:cs typeface="Arial Unicode MS"/>
              </a:rPr>
              <a:t>30</a:t>
            </a:r>
          </a:p>
        </p:txBody>
      </p:sp>
      <p:sp>
        <p:nvSpPr>
          <p:cNvPr id="11" name="">
            <a:extLst xmlns:a="http://schemas.openxmlformats.org/drawingml/2006/main">
              <a:ext uri="{FF2B5EF4-FFF2-40B4-BE49-F238E27FC236}">
                <a16:creationId xmlns:a16="http://schemas.microsoft.com/office/drawing/2014/main" id="{1C515666-164D-4F2F-8D2D-E72905152611}"/>
              </a:ext>
            </a:extLst>
          </p:cNvPr>
          <p:cNvSpPr>
            <a:spLocks xmlns:a="http://schemas.openxmlformats.org/drawingml/2006/main" noGrp="1"/>
          </p:cNvSpPr>
          <p:nvPr/>
        </p:nvSpPr>
        <p:spPr>
          <a:xfrm xmlns:a="http://schemas.openxmlformats.org/drawingml/2006/main">
            <a:off x="5619750" y="23241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单账户最多选择</a:t>
            </a:r>
          </a:p>
        </p:txBody>
      </p:sp>
      <p:sp>
        <p:nvSpPr>
          <p:cNvPr id="12" name="">
            <a:extLst xmlns:a="http://schemas.openxmlformats.org/drawingml/2006/main">
              <a:ext uri="{FF2B5EF4-FFF2-40B4-BE49-F238E27FC236}">
                <a16:creationId xmlns:a16="http://schemas.microsoft.com/office/drawing/2014/main" id="{07FBBD72-5F6D-4F39-9479-CF6EE1EC613E}"/>
              </a:ext>
            </a:extLst>
          </p:cNvPr>
          <p:cNvSpPr>
            <a:spLocks xmlns:a="http://schemas.openxmlformats.org/drawingml/2006/main" noGrp="1"/>
          </p:cNvSpPr>
          <p:nvPr/>
        </p:nvSpPr>
        <p:spPr>
          <a:xfrm xmlns:a="http://schemas.openxmlformats.org/drawingml/2006/main">
            <a:off x="8001000" y="1638300"/>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4200" b="1">
                <a:solidFill>
                  <a:srgbClr val="FF7A6E"/>
                </a:solidFill>
                <a:latin typeface="Arial Unicode MS"/>
                <a:ea typeface="Arial Unicode MS"/>
                <a:cs typeface="Arial Unicode MS"/>
              </a:defRPr>
            </a:defPPr>
          </a:lstStyle>
          <a:p xmlns:a="http://schemas.openxmlformats.org/drawingml/2006/main">
            <a:pPr algn="ctr">
              <a:defRPr sz="4200" b="1">
                <a:solidFill>
                  <a:srgbClr val="FF7A6E"/>
                </a:solidFill>
                <a:latin typeface="Arial Unicode MS"/>
                <a:ea typeface="Arial Unicode MS"/>
                <a:cs typeface="Arial Unicode MS"/>
              </a:defRPr>
            </a:pPr>
            <a:r>
              <a:rPr sz="4200" b="1">
                <a:solidFill>
                  <a:srgbClr val="FF7A6E"/>
                </a:solidFill>
                <a:latin typeface="Arial Unicode MS"/>
                <a:ea typeface="Arial Unicode MS"/>
                <a:cs typeface="Arial Unicode MS"/>
              </a:rPr>
              <a:t>1:1</a:t>
            </a:r>
          </a:p>
        </p:txBody>
      </p:sp>
      <p:sp>
        <p:nvSpPr>
          <p:cNvPr id="13" name="">
            <a:extLst xmlns:a="http://schemas.openxmlformats.org/drawingml/2006/main">
              <a:ext uri="{FF2B5EF4-FFF2-40B4-BE49-F238E27FC236}">
                <a16:creationId xmlns:a16="http://schemas.microsoft.com/office/drawing/2014/main" id="{EC277A9B-23E3-4ACA-A05A-A725EF321899}"/>
              </a:ext>
            </a:extLst>
          </p:cNvPr>
          <p:cNvSpPr>
            <a:spLocks xmlns:a="http://schemas.openxmlformats.org/drawingml/2006/main" noGrp="1"/>
          </p:cNvSpPr>
          <p:nvPr/>
        </p:nvSpPr>
        <p:spPr>
          <a:xfrm xmlns:a="http://schemas.openxmlformats.org/drawingml/2006/main">
            <a:off x="8001000" y="23241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锁定 FLON 铸造 GLON</a:t>
            </a:r>
          </a:p>
        </p:txBody>
      </p:sp>
      <p:sp>
        <p:nvSpPr>
          <p:cNvPr id="14" name="">
            <a:extLst xmlns:a="http://schemas.openxmlformats.org/drawingml/2006/main">
              <a:ext uri="{FF2B5EF4-FFF2-40B4-BE49-F238E27FC236}">
                <a16:creationId xmlns:a16="http://schemas.microsoft.com/office/drawing/2014/main" id="{C2E82AAF-D09C-4857-B8BD-DFAC5C9A217F}"/>
              </a:ext>
            </a:extLst>
          </p:cNvPr>
          <p:cNvSpPr>
            <a:spLocks xmlns:a="http://schemas.openxmlformats.org/drawingml/2006/main" noGrp="1"/>
          </p:cNvSpPr>
          <p:nvPr/>
        </p:nvSpPr>
        <p:spPr>
          <a:xfrm xmlns:a="http://schemas.openxmlformats.org/drawingml/2006/main">
            <a:off x="762000" y="3000375"/>
            <a:ext cx="990600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A5388C1-66AA-41DC-B588-A6808DEBEA95}"/>
              </a:ext>
            </a:extLst>
          </p:cNvPr>
          <p:cNvSpPr>
            <a:spLocks xmlns:a="http://schemas.openxmlformats.org/drawingml/2006/main" noGrp="1"/>
          </p:cNvSpPr>
          <p:nvPr/>
        </p:nvSpPr>
        <p:spPr>
          <a:xfrm xmlns:a="http://schemas.openxmlformats.org/drawingml/2006/main">
            <a:off x="857250" y="33528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a:solidFill>
                  <a:srgbClr val="F7FBFF"/>
                </a:solidFill>
                <a:latin typeface="Arial Unicode MS"/>
                <a:ea typeface="Arial Unicode MS"/>
                <a:cs typeface="Arial Unicode MS"/>
              </a:defRPr>
            </a:defPPr>
          </a:lstStyle>
          <a:p xmlns:a="http://schemas.openxmlformats.org/drawingml/2006/main">
            <a:pPr algn="l">
              <a:defRPr sz="1650" b="1">
                <a:solidFill>
                  <a:srgbClr val="F7FBFF"/>
                </a:solidFill>
                <a:latin typeface="Arial Unicode MS"/>
                <a:ea typeface="Arial Unicode MS"/>
                <a:cs typeface="Arial Unicode MS"/>
              </a:defRPr>
            </a:pPr>
            <a:r>
              <a:rPr sz="1650" b="1">
                <a:solidFill>
                  <a:srgbClr val="F7FBFF"/>
                </a:solidFill>
                <a:latin typeface="Arial Unicode MS"/>
                <a:ea typeface="Arial Unicode MS"/>
                <a:cs typeface="Arial Unicode MS"/>
              </a:rPr>
              <a:t>现有 DPoS 排班</a:t>
            </a:r>
          </a:p>
        </p:txBody>
      </p:sp>
      <p:sp>
        <p:nvSpPr>
          <p:cNvPr id="16" name="">
            <a:extLst xmlns:a="http://schemas.openxmlformats.org/drawingml/2006/main">
              <a:ext uri="{FF2B5EF4-FFF2-40B4-BE49-F238E27FC236}">
                <a16:creationId xmlns:a16="http://schemas.microsoft.com/office/drawing/2014/main" id="{F882526A-CA6D-4474-880E-13E854D9F59F}"/>
              </a:ext>
            </a:extLst>
          </p:cNvPr>
          <p:cNvSpPr>
            <a:spLocks xmlns:a="http://schemas.openxmlformats.org/drawingml/2006/main" noGrp="1"/>
          </p:cNvSpPr>
          <p:nvPr/>
        </p:nvSpPr>
        <p:spPr>
          <a:xfrm xmlns:a="http://schemas.openxmlformats.org/drawingml/2006/main">
            <a:off x="857250" y="37909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flon 账户设置 3–21 个 Active BP；最终 21</a:t>
            </a:r>
          </a:p>
        </p:txBody>
      </p:sp>
      <p:sp>
        <p:nvSpPr>
          <p:cNvPr id="17" name="">
            <a:extLst xmlns:a="http://schemas.openxmlformats.org/drawingml/2006/main">
              <a:ext uri="{FF2B5EF4-FFF2-40B4-BE49-F238E27FC236}">
                <a16:creationId xmlns:a16="http://schemas.microsoft.com/office/drawing/2014/main" id="{28C97D0F-536D-426A-BB81-8C7CAB9BF191}"/>
              </a:ext>
            </a:extLst>
          </p:cNvPr>
          <p:cNvSpPr>
            <a:spLocks xmlns:a="http://schemas.openxmlformats.org/drawingml/2006/main" noGrp="1"/>
          </p:cNvSpPr>
          <p:nvPr/>
        </p:nvSpPr>
        <p:spPr>
          <a:xfrm xmlns:a="http://schemas.openxmlformats.org/drawingml/2006/main">
            <a:off x="4619625" y="33528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a:solidFill>
                  <a:srgbClr val="F7FBFF"/>
                </a:solidFill>
                <a:latin typeface="Arial Unicode MS"/>
                <a:ea typeface="Arial Unicode MS"/>
                <a:cs typeface="Arial Unicode MS"/>
              </a:defRPr>
            </a:defPPr>
          </a:lstStyle>
          <a:p xmlns:a="http://schemas.openxmlformats.org/drawingml/2006/main">
            <a:pPr algn="l">
              <a:defRPr sz="1650" b="1">
                <a:solidFill>
                  <a:srgbClr val="F7FBFF"/>
                </a:solidFill>
                <a:latin typeface="Arial Unicode MS"/>
                <a:ea typeface="Arial Unicode MS"/>
                <a:cs typeface="Arial Unicode MS"/>
              </a:defRPr>
            </a:pPr>
            <a:r>
              <a:rPr sz="1650" b="1">
                <a:solidFill>
                  <a:srgbClr val="F7FBFF"/>
                </a:solidFill>
                <a:latin typeface="Arial Unicode MS"/>
                <a:ea typeface="Arial Unicode MS"/>
                <a:cs typeface="Arial Unicode MS"/>
              </a:rPr>
              <a:t>资格高于排名</a:t>
            </a:r>
          </a:p>
        </p:txBody>
      </p:sp>
      <p:sp>
        <p:nvSpPr>
          <p:cNvPr id="18" name="">
            <a:extLst xmlns:a="http://schemas.openxmlformats.org/drawingml/2006/main">
              <a:ext uri="{FF2B5EF4-FFF2-40B4-BE49-F238E27FC236}">
                <a16:creationId xmlns:a16="http://schemas.microsoft.com/office/drawing/2014/main" id="{3DD5BF47-684B-480A-811F-DAFB8E0CB92A}"/>
              </a:ext>
            </a:extLst>
          </p:cNvPr>
          <p:cNvSpPr>
            <a:spLocks xmlns:a="http://schemas.openxmlformats.org/drawingml/2006/main" noGrp="1"/>
          </p:cNvSpPr>
          <p:nvPr/>
        </p:nvSpPr>
        <p:spPr>
          <a:xfrm xmlns:a="http://schemas.openxmlformats.org/drawingml/2006/main">
            <a:off x="4619625" y="37909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票数靠前但绩效不达标，仍然失去排班资格</a:t>
            </a:r>
          </a:p>
        </p:txBody>
      </p:sp>
      <p:sp>
        <p:nvSpPr>
          <p:cNvPr id="19" name="">
            <a:extLst xmlns:a="http://schemas.openxmlformats.org/drawingml/2006/main">
              <a:ext uri="{FF2B5EF4-FFF2-40B4-BE49-F238E27FC236}">
                <a16:creationId xmlns:a16="http://schemas.microsoft.com/office/drawing/2014/main" id="{446E20AA-F154-4CBE-8319-96FE003B84FB}"/>
              </a:ext>
            </a:extLst>
          </p:cNvPr>
          <p:cNvSpPr>
            <a:spLocks xmlns:a="http://schemas.openxmlformats.org/drawingml/2006/main" noGrp="1"/>
          </p:cNvSpPr>
          <p:nvPr/>
        </p:nvSpPr>
        <p:spPr>
          <a:xfrm xmlns:a="http://schemas.openxmlformats.org/drawingml/2006/main">
            <a:off x="8382000" y="33528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a:solidFill>
                  <a:srgbClr val="F7FBFF"/>
                </a:solidFill>
                <a:latin typeface="Arial Unicode MS"/>
                <a:ea typeface="Arial Unicode MS"/>
                <a:cs typeface="Arial Unicode MS"/>
              </a:defRPr>
            </a:defPPr>
          </a:lstStyle>
          <a:p xmlns:a="http://schemas.openxmlformats.org/drawingml/2006/main">
            <a:pPr algn="l">
              <a:defRPr sz="1650" b="1">
                <a:solidFill>
                  <a:srgbClr val="F7FBFF"/>
                </a:solidFill>
                <a:latin typeface="Arial Unicode MS"/>
                <a:ea typeface="Arial Unicode MS"/>
                <a:cs typeface="Arial Unicode MS"/>
              </a:defRPr>
            </a:pPr>
            <a:r>
              <a:rPr sz="1650" b="1">
                <a:solidFill>
                  <a:srgbClr val="F7FBFF"/>
                </a:solidFill>
                <a:latin typeface="Arial Unicode MS"/>
                <a:ea typeface="Arial Unicode MS"/>
                <a:cs typeface="Arial Unicode MS"/>
              </a:rPr>
              <a:t>治理与竞选分离</a:t>
            </a:r>
          </a:p>
        </p:txBody>
      </p:sp>
      <p:sp>
        <p:nvSpPr>
          <p:cNvPr id="20" name="">
            <a:extLst xmlns:a="http://schemas.openxmlformats.org/drawingml/2006/main">
              <a:ext uri="{FF2B5EF4-FFF2-40B4-BE49-F238E27FC236}">
                <a16:creationId xmlns:a16="http://schemas.microsoft.com/office/drawing/2014/main" id="{C5B193AF-5690-41D0-942D-9557DA4A28E4}"/>
              </a:ext>
            </a:extLst>
          </p:cNvPr>
          <p:cNvSpPr>
            <a:spLocks xmlns:a="http://schemas.openxmlformats.org/drawingml/2006/main" noGrp="1"/>
          </p:cNvSpPr>
          <p:nvPr/>
        </p:nvSpPr>
        <p:spPr>
          <a:xfrm xmlns:a="http://schemas.openxmlformats.org/drawingml/2006/main">
            <a:off x="8382000" y="37909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共享质押和快照，使用不同动作、阈值与执行器</a:t>
            </a:r>
          </a:p>
        </p:txBody>
      </p:sp>
      <p:sp>
        <p:nvSpPr>
          <p:cNvPr id="21" name="">
            <a:extLst xmlns:a="http://schemas.openxmlformats.org/drawingml/2006/main">
              <a:ext uri="{FF2B5EF4-FFF2-40B4-BE49-F238E27FC236}">
                <a16:creationId xmlns:a16="http://schemas.microsoft.com/office/drawing/2014/main" id="{ADD42473-0913-424B-8CE5-B032BEB3D436}"/>
              </a:ext>
            </a:extLst>
          </p:cNvPr>
          <p:cNvSpPr>
            <a:spLocks xmlns:a="http://schemas.openxmlformats.org/drawingml/2006/main" noGrp="1"/>
          </p:cNvSpPr>
          <p:nvPr/>
        </p:nvSpPr>
        <p:spPr>
          <a:xfrm xmlns:a="http://schemas.openxmlformats.org/drawingml/2006/main">
            <a:off x="857250" y="5095875"/>
            <a:ext cx="1571625" cy="342900"/>
          </a:xfrm>
          <a:prstGeom xmlns:a="http://schemas.openxmlformats.org/drawingml/2006/main" prst="roundRect">
            <a:avLst>
              <a:gd name="adj" fmla="val 22222"/>
            </a:avLst>
          </a:prstGeom>
          <a:solidFill xmlns:a="http://schemas.openxmlformats.org/drawingml/2006/main">
            <a:srgbClr val="4DE3D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B879BBE-3988-4312-92E7-DDFC8F882CFF}"/>
              </a:ext>
            </a:extLst>
          </p:cNvPr>
          <p:cNvSpPr>
            <a:spLocks xmlns:a="http://schemas.openxmlformats.org/drawingml/2006/main" noGrp="1"/>
          </p:cNvSpPr>
          <p:nvPr/>
        </p:nvSpPr>
        <p:spPr>
          <a:xfrm xmlns:a="http://schemas.openxmlformats.org/drawingml/2006/main">
            <a:off x="933450" y="5114925"/>
            <a:ext cx="141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071525"/>
                </a:solidFill>
                <a:latin typeface="Arial Unicode MS"/>
                <a:ea typeface="Arial Unicode MS"/>
                <a:cs typeface="Arial Unicode MS"/>
              </a:defRPr>
            </a:defPPr>
          </a:lstStyle>
          <a:p xmlns:a="http://schemas.openxmlformats.org/drawingml/2006/main">
            <a:pPr algn="ctr">
              <a:defRPr sz="1125" b="1">
                <a:solidFill>
                  <a:srgbClr val="071525"/>
                </a:solidFill>
                <a:latin typeface="Arial Unicode MS"/>
                <a:ea typeface="Arial Unicode MS"/>
                <a:cs typeface="Arial Unicode MS"/>
              </a:defRPr>
            </a:pPr>
            <a:r>
              <a:rPr sz="1125" b="1">
                <a:solidFill>
                  <a:srgbClr val="071525"/>
                </a:solidFill>
                <a:latin typeface="Arial Unicode MS"/>
                <a:ea typeface="Arial Unicode MS"/>
                <a:cs typeface="Arial Unicode MS"/>
              </a:rPr>
              <a:t>候选自质押</a:t>
            </a:r>
          </a:p>
        </p:txBody>
      </p:sp>
      <p:sp>
        <p:nvSpPr>
          <p:cNvPr id="23" name="">
            <a:extLst xmlns:a="http://schemas.openxmlformats.org/drawingml/2006/main">
              <a:ext uri="{FF2B5EF4-FFF2-40B4-BE49-F238E27FC236}">
                <a16:creationId xmlns:a16="http://schemas.microsoft.com/office/drawing/2014/main" id="{12A41D81-3CCC-4C64-A7C5-219FBE9BB749}"/>
              </a:ext>
            </a:extLst>
          </p:cNvPr>
          <p:cNvSpPr>
            <a:spLocks xmlns:a="http://schemas.openxmlformats.org/drawingml/2006/main" noGrp="1"/>
          </p:cNvSpPr>
          <p:nvPr/>
        </p:nvSpPr>
        <p:spPr>
          <a:xfrm xmlns:a="http://schemas.openxmlformats.org/drawingml/2006/main">
            <a:off x="2667000" y="5095875"/>
            <a:ext cx="1381125" cy="342900"/>
          </a:xfrm>
          <a:prstGeom xmlns:a="http://schemas.openxmlformats.org/drawingml/2006/main" prst="roundRect">
            <a:avLst>
              <a:gd name="adj" fmla="val 22222"/>
            </a:avLst>
          </a:prstGeom>
          <a:solidFill xmlns:a="http://schemas.openxmlformats.org/drawingml/2006/main">
            <a:srgbClr val="9FF3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AE3CE7D-3F4B-4BF5-86B0-4D2E84306B69}"/>
              </a:ext>
            </a:extLst>
          </p:cNvPr>
          <p:cNvSpPr>
            <a:spLocks xmlns:a="http://schemas.openxmlformats.org/drawingml/2006/main" noGrp="1"/>
          </p:cNvSpPr>
          <p:nvPr/>
        </p:nvSpPr>
        <p:spPr>
          <a:xfrm xmlns:a="http://schemas.openxmlformats.org/drawingml/2006/main">
            <a:off x="2743200" y="5114925"/>
            <a:ext cx="1228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071525"/>
                </a:solidFill>
                <a:latin typeface="Arial Unicode MS"/>
                <a:ea typeface="Arial Unicode MS"/>
                <a:cs typeface="Arial Unicode MS"/>
              </a:defRPr>
            </a:defPPr>
          </a:lstStyle>
          <a:p xmlns:a="http://schemas.openxmlformats.org/drawingml/2006/main">
            <a:pPr algn="ctr">
              <a:defRPr sz="1125" b="1">
                <a:solidFill>
                  <a:srgbClr val="071525"/>
                </a:solidFill>
                <a:latin typeface="Arial Unicode MS"/>
                <a:ea typeface="Arial Unicode MS"/>
                <a:cs typeface="Arial Unicode MS"/>
              </a:defRPr>
            </a:pPr>
            <a:r>
              <a:rPr sz="1125" b="1">
                <a:solidFill>
                  <a:srgbClr val="071525"/>
                </a:solidFill>
                <a:latin typeface="Arial Unicode MS"/>
                <a:ea typeface="Arial Unicode MS"/>
                <a:cs typeface="Arial Unicode MS"/>
              </a:rPr>
              <a:t>平均分票</a:t>
            </a:r>
          </a:p>
        </p:txBody>
      </p:sp>
      <p:sp>
        <p:nvSpPr>
          <p:cNvPr id="25" name="">
            <a:extLst xmlns:a="http://schemas.openxmlformats.org/drawingml/2006/main">
              <a:ext uri="{FF2B5EF4-FFF2-40B4-BE49-F238E27FC236}">
                <a16:creationId xmlns:a16="http://schemas.microsoft.com/office/drawing/2014/main" id="{1279A556-A3CE-4EBF-BC1A-BBEE64B90DEF}"/>
              </a:ext>
            </a:extLst>
          </p:cNvPr>
          <p:cNvSpPr>
            <a:spLocks xmlns:a="http://schemas.openxmlformats.org/drawingml/2006/main" noGrp="1"/>
          </p:cNvSpPr>
          <p:nvPr/>
        </p:nvSpPr>
        <p:spPr>
          <a:xfrm xmlns:a="http://schemas.openxmlformats.org/drawingml/2006/main">
            <a:off x="4286250" y="5095875"/>
            <a:ext cx="1381125" cy="342900"/>
          </a:xfrm>
          <a:prstGeom xmlns:a="http://schemas.openxmlformats.org/drawingml/2006/main" prst="roundRect">
            <a:avLst>
              <a:gd name="adj" fmla="val 22222"/>
            </a:avLst>
          </a:prstGeom>
          <a:solidFill xmlns:a="http://schemas.openxmlformats.org/drawingml/2006/main">
            <a:srgbClr val="F1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A6D8541-D123-4D21-A2D4-9071DB114B6D}"/>
              </a:ext>
            </a:extLst>
          </p:cNvPr>
          <p:cNvSpPr>
            <a:spLocks xmlns:a="http://schemas.openxmlformats.org/drawingml/2006/main" noGrp="1"/>
          </p:cNvSpPr>
          <p:nvPr/>
        </p:nvSpPr>
        <p:spPr>
          <a:xfrm xmlns:a="http://schemas.openxmlformats.org/drawingml/2006/main">
            <a:off x="4362450" y="5114925"/>
            <a:ext cx="1228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071525"/>
                </a:solidFill>
                <a:latin typeface="Arial Unicode MS"/>
                <a:ea typeface="Arial Unicode MS"/>
                <a:cs typeface="Arial Unicode MS"/>
              </a:defRPr>
            </a:defPPr>
          </a:lstStyle>
          <a:p xmlns:a="http://schemas.openxmlformats.org/drawingml/2006/main">
            <a:pPr algn="ctr">
              <a:defRPr sz="1125" b="1">
                <a:solidFill>
                  <a:srgbClr val="071525"/>
                </a:solidFill>
                <a:latin typeface="Arial Unicode MS"/>
                <a:ea typeface="Arial Unicode MS"/>
                <a:cs typeface="Arial Unicode MS"/>
              </a:defRPr>
            </a:pPr>
            <a:r>
              <a:rPr sz="1125" b="1">
                <a:solidFill>
                  <a:srgbClr val="071525"/>
                </a:solidFill>
                <a:latin typeface="Arial Unicode MS"/>
                <a:ea typeface="Arial Unicode MS"/>
                <a:cs typeface="Arial Unicode MS"/>
              </a:rPr>
              <a:t>备用递补</a:t>
            </a:r>
          </a:p>
        </p:txBody>
      </p:sp>
      <p:sp>
        <p:nvSpPr>
          <p:cNvPr id="27" name="">
            <a:extLst xmlns:a="http://schemas.openxmlformats.org/drawingml/2006/main">
              <a:ext uri="{FF2B5EF4-FFF2-40B4-BE49-F238E27FC236}">
                <a16:creationId xmlns:a16="http://schemas.microsoft.com/office/drawing/2014/main" id="{59FEAE8D-A2A6-463B-A9DA-E7EAA84DFCD5}"/>
              </a:ext>
            </a:extLst>
          </p:cNvPr>
          <p:cNvSpPr>
            <a:spLocks xmlns:a="http://schemas.openxmlformats.org/drawingml/2006/main" noGrp="1"/>
          </p:cNvSpPr>
          <p:nvPr/>
        </p:nvSpPr>
        <p:spPr>
          <a:xfrm xmlns:a="http://schemas.openxmlformats.org/drawingml/2006/main">
            <a:off x="5905500" y="5095875"/>
            <a:ext cx="1571625" cy="342900"/>
          </a:xfrm>
          <a:prstGeom xmlns:a="http://schemas.openxmlformats.org/drawingml/2006/main" prst="roundRect">
            <a:avLst>
              <a:gd name="adj" fmla="val 22222"/>
            </a:avLst>
          </a:prstGeom>
          <a:solidFill xmlns:a="http://schemas.openxmlformats.org/drawingml/2006/main">
            <a:srgbClr val="4DE3D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0B99F75-B364-443E-B5A7-F23D96686472}"/>
              </a:ext>
            </a:extLst>
          </p:cNvPr>
          <p:cNvSpPr>
            <a:spLocks xmlns:a="http://schemas.openxmlformats.org/drawingml/2006/main" noGrp="1"/>
          </p:cNvSpPr>
          <p:nvPr/>
        </p:nvSpPr>
        <p:spPr>
          <a:xfrm xmlns:a="http://schemas.openxmlformats.org/drawingml/2006/main">
            <a:off x="5981700" y="5114925"/>
            <a:ext cx="141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071525"/>
                </a:solidFill>
                <a:latin typeface="Arial Unicode MS"/>
                <a:ea typeface="Arial Unicode MS"/>
                <a:cs typeface="Arial Unicode MS"/>
              </a:defRPr>
            </a:defPPr>
          </a:lstStyle>
          <a:p xmlns:a="http://schemas.openxmlformats.org/drawingml/2006/main">
            <a:pPr algn="ctr">
              <a:defRPr sz="1125" b="1">
                <a:solidFill>
                  <a:srgbClr val="071525"/>
                </a:solidFill>
                <a:latin typeface="Arial Unicode MS"/>
                <a:ea typeface="Arial Unicode MS"/>
                <a:cs typeface="Arial Unicode MS"/>
              </a:defRPr>
            </a:pPr>
            <a:r>
              <a:rPr sz="1125" b="1">
                <a:solidFill>
                  <a:srgbClr val="071525"/>
                </a:solidFill>
                <a:latin typeface="Arial Unicode MS"/>
                <a:ea typeface="Arial Unicode MS"/>
                <a:cs typeface="Arial Unicode MS"/>
              </a:rPr>
              <a:t>按绩效发奖</a:t>
            </a:r>
          </a:p>
        </p:txBody>
      </p:sp>
      <p:sp>
        <p:nvSpPr>
          <p:cNvPr id="29" name="">
            <a:extLst xmlns:a="http://schemas.openxmlformats.org/drawingml/2006/main">
              <a:ext uri="{FF2B5EF4-FFF2-40B4-BE49-F238E27FC236}">
                <a16:creationId xmlns:a16="http://schemas.microsoft.com/office/drawing/2014/main" id="{0AC4ED1D-A9BB-40EA-97F7-5348AB7C2C64}"/>
              </a:ext>
            </a:extLst>
          </p:cNvPr>
          <p:cNvSpPr>
            <a:spLocks xmlns:a="http://schemas.openxmlformats.org/drawingml/2006/main" noGrp="1"/>
          </p:cNvSpPr>
          <p:nvPr/>
        </p:nvSpPr>
        <p:spPr>
          <a:xfrm xmlns:a="http://schemas.openxmlformats.org/drawingml/2006/main">
            <a:off x="7715250" y="5095875"/>
            <a:ext cx="1381125" cy="342900"/>
          </a:xfrm>
          <a:prstGeom xmlns:a="http://schemas.openxmlformats.org/drawingml/2006/main" prst="roundRect">
            <a:avLst>
              <a:gd name="adj" fmla="val 22222"/>
            </a:avLst>
          </a:prstGeom>
          <a:solidFill xmlns:a="http://schemas.openxmlformats.org/drawingml/2006/main">
            <a:srgbClr val="FF7A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838F0CD-3B55-45BE-A80B-617D21212333}"/>
              </a:ext>
            </a:extLst>
          </p:cNvPr>
          <p:cNvSpPr>
            <a:spLocks xmlns:a="http://schemas.openxmlformats.org/drawingml/2006/main" noGrp="1"/>
          </p:cNvSpPr>
          <p:nvPr/>
        </p:nvSpPr>
        <p:spPr>
          <a:xfrm xmlns:a="http://schemas.openxmlformats.org/drawingml/2006/main">
            <a:off x="7791450" y="5114925"/>
            <a:ext cx="1228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071525"/>
                </a:solidFill>
                <a:latin typeface="Arial Unicode MS"/>
                <a:ea typeface="Arial Unicode MS"/>
                <a:cs typeface="Arial Unicode MS"/>
              </a:defRPr>
            </a:defPPr>
          </a:lstStyle>
          <a:p xmlns:a="http://schemas.openxmlformats.org/drawingml/2006/main">
            <a:pPr algn="ctr">
              <a:defRPr sz="1125" b="1">
                <a:solidFill>
                  <a:srgbClr val="071525"/>
                </a:solidFill>
                <a:latin typeface="Arial Unicode MS"/>
                <a:ea typeface="Arial Unicode MS"/>
                <a:cs typeface="Arial Unicode MS"/>
              </a:defRPr>
            </a:pPr>
            <a:r>
              <a:rPr sz="1125" b="1">
                <a:solidFill>
                  <a:srgbClr val="071525"/>
                </a:solidFill>
                <a:latin typeface="Arial Unicode MS"/>
                <a:ea typeface="Arial Unicode MS"/>
                <a:cs typeface="Arial Unicode MS"/>
              </a:rPr>
              <a:t>证据罚没</a:t>
            </a:r>
          </a:p>
        </p:txBody>
      </p:sp>
      <p:sp>
        <p:nvSpPr>
          <p:cNvPr id="31" name="">
            <a:extLst xmlns:a="http://schemas.openxmlformats.org/drawingml/2006/main">
              <a:ext uri="{FF2B5EF4-FFF2-40B4-BE49-F238E27FC236}">
                <a16:creationId xmlns:a16="http://schemas.microsoft.com/office/drawing/2014/main" id="{FDE75217-C3E7-46C7-8440-EE601599563F}"/>
              </a:ext>
            </a:extLst>
          </p:cNvPr>
          <p:cNvSpPr>
            <a:spLocks xmlns:a="http://schemas.openxmlformats.org/drawingml/2006/main" noGrp="1"/>
          </p:cNvSpPr>
          <p:nvPr/>
        </p:nvSpPr>
        <p:spPr>
          <a:xfrm xmlns:a="http://schemas.openxmlformats.org/drawingml/2006/main">
            <a:off x="9334500" y="5095875"/>
            <a:ext cx="1809750" cy="342900"/>
          </a:xfrm>
          <a:prstGeom xmlns:a="http://schemas.openxmlformats.org/drawingml/2006/main" prst="roundRect">
            <a:avLst>
              <a:gd name="adj" fmla="val 22222"/>
            </a:avLst>
          </a:prstGeom>
          <a:solidFill xmlns:a="http://schemas.openxmlformats.org/drawingml/2006/main">
            <a:srgbClr val="F1B84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9AB6191-69DD-46E2-B988-A6F54BB0EB01}"/>
              </a:ext>
            </a:extLst>
          </p:cNvPr>
          <p:cNvSpPr>
            <a:spLocks xmlns:a="http://schemas.openxmlformats.org/drawingml/2006/main" noGrp="1"/>
          </p:cNvSpPr>
          <p:nvPr/>
        </p:nvSpPr>
        <p:spPr>
          <a:xfrm xmlns:a="http://schemas.openxmlformats.org/drawingml/2006/main">
            <a:off x="9410700" y="5114925"/>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071525"/>
                </a:solidFill>
                <a:latin typeface="Arial Unicode MS"/>
                <a:ea typeface="Arial Unicode MS"/>
                <a:cs typeface="Arial Unicode MS"/>
              </a:defRPr>
            </a:defPPr>
          </a:lstStyle>
          <a:p xmlns:a="http://schemas.openxmlformats.org/drawingml/2006/main">
            <a:pPr algn="ctr">
              <a:defRPr sz="1125" b="1">
                <a:solidFill>
                  <a:srgbClr val="071525"/>
                </a:solidFill>
                <a:latin typeface="Arial Unicode MS"/>
                <a:ea typeface="Arial Unicode MS"/>
                <a:cs typeface="Arial Unicode MS"/>
              </a:defRPr>
            </a:pPr>
            <a:r>
              <a:rPr sz="1125" b="1">
                <a:solidFill>
                  <a:srgbClr val="071525"/>
                </a:solidFill>
                <a:latin typeface="Arial Unicode MS"/>
                <a:ea typeface="Arial Unicode MS"/>
                <a:cs typeface="Arial Unicode MS"/>
              </a:rPr>
              <a:t>DAO 延时执行</a:t>
            </a:r>
          </a:p>
        </p:txBody>
      </p:sp>
    </p:spTree>
    <p:extLst>
      <p:ext uri="{BB962C8B-B14F-4D97-AF65-F5344CB8AC3E}">
        <p14:creationId xmlns:p14="http://schemas.microsoft.com/office/powerpoint/2010/main" val="1278380673"/>
      </p:ext>
    </p:extLst>
  </p:cSld>
</p:sld>
</file>

<file path=ppt/slides/slide3.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998FD2DB-FF99-4ABA-B689-C0A4113486F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0C5723-9FF0-455E-9280-A75B2BC2DF83}"/>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02 BP 竞选</a:t>
            </a:r>
          </a:p>
        </p:txBody>
      </p:sp>
      <p:sp>
        <p:nvSpPr>
          <p:cNvPr id="3" name="">
            <a:extLst xmlns:a="http://schemas.openxmlformats.org/drawingml/2006/main">
              <a:ext uri="{FF2B5EF4-FFF2-40B4-BE49-F238E27FC236}">
                <a16:creationId xmlns:a16="http://schemas.microsoft.com/office/drawing/2014/main" id="{41AC7C71-E5E0-465B-A6B3-6FE16F450F1A}"/>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候选 BP 准入与生命周期</a:t>
            </a:r>
          </a:p>
        </p:txBody>
      </p:sp>
      <p:sp>
        <p:nvSpPr>
          <p:cNvPr id="4" name="">
            <a:extLst xmlns:a="http://schemas.openxmlformats.org/drawingml/2006/main">
              <a:ext uri="{FF2B5EF4-FFF2-40B4-BE49-F238E27FC236}">
                <a16:creationId xmlns:a16="http://schemas.microsoft.com/office/drawing/2014/main" id="{30A01718-9625-41E3-AF93-6EC84E03B6B6}"/>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506033-447F-41A9-AEC2-820276467BB3}"/>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03</a:t>
            </a:r>
          </a:p>
        </p:txBody>
      </p:sp>
      <p:sp>
        <p:nvSpPr>
          <p:cNvPr id="6" name="">
            <a:extLst xmlns:a="http://schemas.openxmlformats.org/drawingml/2006/main">
              <a:ext uri="{FF2B5EF4-FFF2-40B4-BE49-F238E27FC236}">
                <a16:creationId xmlns:a16="http://schemas.microsoft.com/office/drawing/2014/main" id="{7335A84E-4CDD-493F-9BB5-343A7C86DA9E}"/>
              </a:ext>
            </a:extLst>
          </p:cNvPr>
          <p:cNvSpPr>
            <a:spLocks xmlns:a="http://schemas.openxmlformats.org/drawingml/2006/main" noGrp="1"/>
          </p:cNvSpPr>
          <p:nvPr/>
        </p:nvSpPr>
        <p:spPr>
          <a:xfrm xmlns:a="http://schemas.openxmlformats.org/drawingml/2006/main">
            <a:off x="552450" y="1790700"/>
            <a:ext cx="1866900" cy="1714500"/>
          </a:xfrm>
          <a:prstGeom xmlns:a="http://schemas.openxmlformats.org/drawingml/2006/main" prst="roundRect">
            <a:avLst>
              <a:gd name="adj" fmla="val 4444"/>
            </a:avLst>
          </a:prstGeom>
          <a:solidFill xmlns:a="http://schemas.openxmlformats.org/drawingml/2006/main">
            <a:srgbClr val="0B2035"/>
          </a:solidFill>
          <a:ln xmlns:a="http://schemas.openxmlformats.org/drawingml/2006/main" w="9525">
            <a:solidFill>
              <a:srgbClr val="176B87"/>
            </a:solidFill>
            <a:prstDash val="solid"/>
          </a:ln>
        </p:spPr>
      </p:sp>
      <p:sp>
        <p:nvSpPr>
          <p:cNvPr id="7" name="">
            <a:extLst xmlns:a="http://schemas.openxmlformats.org/drawingml/2006/main">
              <a:ext uri="{FF2B5EF4-FFF2-40B4-BE49-F238E27FC236}">
                <a16:creationId xmlns:a16="http://schemas.microsoft.com/office/drawing/2014/main" id="{006D85D1-5B7D-4C29-910F-99546293A1FE}"/>
              </a:ext>
            </a:extLst>
          </p:cNvPr>
          <p:cNvSpPr>
            <a:spLocks xmlns:a="http://schemas.openxmlformats.org/drawingml/2006/main" noGrp="1"/>
          </p:cNvSpPr>
          <p:nvPr/>
        </p:nvSpPr>
        <p:spPr>
          <a:xfrm xmlns:a="http://schemas.openxmlformats.org/drawingml/2006/main">
            <a:off x="723900" y="19240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a:solidFill>
                  <a:srgbClr val="176B87"/>
                </a:solidFill>
                <a:latin typeface="Arial Unicode MS"/>
                <a:ea typeface="Arial Unicode MS"/>
                <a:cs typeface="Arial Unicode MS"/>
              </a:defRPr>
            </a:defPPr>
          </a:lstStyle>
          <a:p xmlns:a="http://schemas.openxmlformats.org/drawingml/2006/main">
            <a:pPr algn="l">
              <a:defRPr sz="1350" b="1">
                <a:solidFill>
                  <a:srgbClr val="176B87"/>
                </a:solidFill>
                <a:latin typeface="Arial Unicode MS"/>
                <a:ea typeface="Arial Unicode MS"/>
                <a:cs typeface="Arial Unicode MS"/>
              </a:defRPr>
            </a:pPr>
            <a:r>
              <a:rPr sz="1350" b="1">
                <a:solidFill>
                  <a:srgbClr val="176B87"/>
                </a:solidFill>
                <a:latin typeface="Arial Unicode MS"/>
                <a:ea typeface="Arial Unicode MS"/>
                <a:cs typeface="Arial Unicode MS"/>
              </a:rPr>
              <a:t>01</a:t>
            </a:r>
          </a:p>
        </p:txBody>
      </p:sp>
      <p:sp>
        <p:nvSpPr>
          <p:cNvPr id="8" name="">
            <a:extLst xmlns:a="http://schemas.openxmlformats.org/drawingml/2006/main">
              <a:ext uri="{FF2B5EF4-FFF2-40B4-BE49-F238E27FC236}">
                <a16:creationId xmlns:a16="http://schemas.microsoft.com/office/drawing/2014/main" id="{9F2B9076-9A0F-401C-93DA-F0D3BBE570D2}"/>
              </a:ext>
            </a:extLst>
          </p:cNvPr>
          <p:cNvSpPr>
            <a:spLocks xmlns:a="http://schemas.openxmlformats.org/drawingml/2006/main" noGrp="1"/>
          </p:cNvSpPr>
          <p:nvPr/>
        </p:nvSpPr>
        <p:spPr>
          <a:xfrm xmlns:a="http://schemas.openxmlformats.org/drawingml/2006/main">
            <a:off x="723900" y="2314575"/>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100" b="1">
                <a:solidFill>
                  <a:srgbClr val="F7FBFF"/>
                </a:solidFill>
                <a:latin typeface="Arial Unicode MS"/>
                <a:ea typeface="Arial Unicode MS"/>
                <a:cs typeface="Arial Unicode MS"/>
              </a:defRPr>
            </a:defPPr>
          </a:lstStyle>
          <a:p xmlns:a="http://schemas.openxmlformats.org/drawingml/2006/main">
            <a:pPr algn="l">
              <a:defRPr sz="2100" b="1">
                <a:solidFill>
                  <a:srgbClr val="F7FBFF"/>
                </a:solidFill>
                <a:latin typeface="Arial Unicode MS"/>
                <a:ea typeface="Arial Unicode MS"/>
                <a:cs typeface="Arial Unicode MS"/>
              </a:defRPr>
            </a:pPr>
            <a:r>
              <a:rPr sz="2100" b="1">
                <a:solidFill>
                  <a:srgbClr val="F7FBFF"/>
                </a:solidFill>
                <a:latin typeface="Arial Unicode MS"/>
                <a:ea typeface="Arial Unicode MS"/>
                <a:cs typeface="Arial Unicode MS"/>
              </a:rPr>
              <a:t>注册</a:t>
            </a:r>
          </a:p>
        </p:txBody>
      </p:sp>
      <p:sp>
        <p:nvSpPr>
          <p:cNvPr id="9" name="">
            <a:extLst xmlns:a="http://schemas.openxmlformats.org/drawingml/2006/main">
              <a:ext uri="{FF2B5EF4-FFF2-40B4-BE49-F238E27FC236}">
                <a16:creationId xmlns:a16="http://schemas.microsoft.com/office/drawing/2014/main" id="{A144C7C2-D318-441F-BD51-2CB0B2346F8E}"/>
              </a:ext>
            </a:extLst>
          </p:cNvPr>
          <p:cNvSpPr>
            <a:spLocks xmlns:a="http://schemas.openxmlformats.org/drawingml/2006/main" noGrp="1"/>
          </p:cNvSpPr>
          <p:nvPr/>
        </p:nvSpPr>
        <p:spPr>
          <a:xfrm xmlns:a="http://schemas.openxmlformats.org/drawingml/2006/main">
            <a:off x="723900" y="2809875"/>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账户、签名密钥</a:t>
            </a:r>
          </a:p>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公开资料</a:t>
            </a:r>
          </a:p>
        </p:txBody>
      </p:sp>
      <p:sp>
        <p:nvSpPr>
          <p:cNvPr id="10" name="">
            <a:extLst xmlns:a="http://schemas.openxmlformats.org/drawingml/2006/main">
              <a:ext uri="{FF2B5EF4-FFF2-40B4-BE49-F238E27FC236}">
                <a16:creationId xmlns:a16="http://schemas.microsoft.com/office/drawing/2014/main" id="{E26CD891-E388-4AC6-8329-DA12422A287B}"/>
              </a:ext>
            </a:extLst>
          </p:cNvPr>
          <p:cNvSpPr>
            <a:spLocks xmlns:a="http://schemas.openxmlformats.org/drawingml/2006/main" noGrp="1"/>
          </p:cNvSpPr>
          <p:nvPr/>
        </p:nvSpPr>
        <p:spPr>
          <a:xfrm xmlns:a="http://schemas.openxmlformats.org/drawingml/2006/main">
            <a:off x="2419350" y="2590800"/>
            <a:ext cx="400050" cy="3810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4E55E12-E732-4C47-85ED-11E6290CD8A3}"/>
              </a:ext>
            </a:extLst>
          </p:cNvPr>
          <p:cNvSpPr>
            <a:spLocks xmlns:a="http://schemas.openxmlformats.org/drawingml/2006/main" noGrp="1"/>
          </p:cNvSpPr>
          <p:nvPr/>
        </p:nvSpPr>
        <p:spPr>
          <a:xfrm xmlns:a="http://schemas.openxmlformats.org/drawingml/2006/main">
            <a:off x="2819400" y="1790700"/>
            <a:ext cx="1866900" cy="1714500"/>
          </a:xfrm>
          <a:prstGeom xmlns:a="http://schemas.openxmlformats.org/drawingml/2006/main" prst="roundRect">
            <a:avLst>
              <a:gd name="adj" fmla="val 4444"/>
            </a:avLst>
          </a:prstGeom>
          <a:solidFill xmlns:a="http://schemas.openxmlformats.org/drawingml/2006/main">
            <a:srgbClr val="0B2035"/>
          </a:solidFill>
          <a:ln xmlns:a="http://schemas.openxmlformats.org/drawingml/2006/main" w="9525">
            <a:solidFill>
              <a:srgbClr val="4DE3D1"/>
            </a:solidFill>
            <a:prstDash val="solid"/>
          </a:ln>
        </p:spPr>
      </p:sp>
      <p:sp>
        <p:nvSpPr>
          <p:cNvPr id="12" name="">
            <a:extLst xmlns:a="http://schemas.openxmlformats.org/drawingml/2006/main">
              <a:ext uri="{FF2B5EF4-FFF2-40B4-BE49-F238E27FC236}">
                <a16:creationId xmlns:a16="http://schemas.microsoft.com/office/drawing/2014/main" id="{363DB44B-9E3A-4DC8-A45E-4A03E7CA3A88}"/>
              </a:ext>
            </a:extLst>
          </p:cNvPr>
          <p:cNvSpPr>
            <a:spLocks xmlns:a="http://schemas.openxmlformats.org/drawingml/2006/main" noGrp="1"/>
          </p:cNvSpPr>
          <p:nvPr/>
        </p:nvSpPr>
        <p:spPr>
          <a:xfrm xmlns:a="http://schemas.openxmlformats.org/drawingml/2006/main">
            <a:off x="2990850" y="19240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a:solidFill>
                  <a:srgbClr val="4DE3D1"/>
                </a:solidFill>
                <a:latin typeface="Arial Unicode MS"/>
                <a:ea typeface="Arial Unicode MS"/>
                <a:cs typeface="Arial Unicode MS"/>
              </a:defRPr>
            </a:defPPr>
          </a:lstStyle>
          <a:p xmlns:a="http://schemas.openxmlformats.org/drawingml/2006/main">
            <a:pPr algn="l">
              <a:defRPr sz="1350" b="1">
                <a:solidFill>
                  <a:srgbClr val="4DE3D1"/>
                </a:solidFill>
                <a:latin typeface="Arial Unicode MS"/>
                <a:ea typeface="Arial Unicode MS"/>
                <a:cs typeface="Arial Unicode MS"/>
              </a:defRPr>
            </a:pPr>
            <a:r>
              <a:rPr sz="1350" b="1">
                <a:solidFill>
                  <a:srgbClr val="4DE3D1"/>
                </a:solidFill>
                <a:latin typeface="Arial Unicode MS"/>
                <a:ea typeface="Arial Unicode MS"/>
                <a:cs typeface="Arial Unicode MS"/>
              </a:rPr>
              <a:t>02</a:t>
            </a:r>
          </a:p>
        </p:txBody>
      </p:sp>
      <p:sp>
        <p:nvSpPr>
          <p:cNvPr id="13" name="">
            <a:extLst xmlns:a="http://schemas.openxmlformats.org/drawingml/2006/main">
              <a:ext uri="{FF2B5EF4-FFF2-40B4-BE49-F238E27FC236}">
                <a16:creationId xmlns:a16="http://schemas.microsoft.com/office/drawing/2014/main" id="{80B94EFD-94CF-47B7-8DD9-A211D68B124C}"/>
              </a:ext>
            </a:extLst>
          </p:cNvPr>
          <p:cNvSpPr>
            <a:spLocks xmlns:a="http://schemas.openxmlformats.org/drawingml/2006/main" noGrp="1"/>
          </p:cNvSpPr>
          <p:nvPr/>
        </p:nvSpPr>
        <p:spPr>
          <a:xfrm xmlns:a="http://schemas.openxmlformats.org/drawingml/2006/main">
            <a:off x="2990850" y="2314575"/>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100" b="1">
                <a:solidFill>
                  <a:srgbClr val="F7FBFF"/>
                </a:solidFill>
                <a:latin typeface="Arial Unicode MS"/>
                <a:ea typeface="Arial Unicode MS"/>
                <a:cs typeface="Arial Unicode MS"/>
              </a:defRPr>
            </a:defPPr>
          </a:lstStyle>
          <a:p xmlns:a="http://schemas.openxmlformats.org/drawingml/2006/main">
            <a:pPr algn="l">
              <a:defRPr sz="2100" b="1">
                <a:solidFill>
                  <a:srgbClr val="F7FBFF"/>
                </a:solidFill>
                <a:latin typeface="Arial Unicode MS"/>
                <a:ea typeface="Arial Unicode MS"/>
                <a:cs typeface="Arial Unicode MS"/>
              </a:defRPr>
            </a:pPr>
            <a:r>
              <a:rPr sz="2100" b="1">
                <a:solidFill>
                  <a:srgbClr val="F7FBFF"/>
                </a:solidFill>
                <a:latin typeface="Arial Unicode MS"/>
                <a:ea typeface="Arial Unicode MS"/>
                <a:cs typeface="Arial Unicode MS"/>
              </a:rPr>
              <a:t>合格</a:t>
            </a:r>
          </a:p>
        </p:txBody>
      </p:sp>
      <p:sp>
        <p:nvSpPr>
          <p:cNvPr id="14" name="">
            <a:extLst xmlns:a="http://schemas.openxmlformats.org/drawingml/2006/main">
              <a:ext uri="{FF2B5EF4-FFF2-40B4-BE49-F238E27FC236}">
                <a16:creationId xmlns:a16="http://schemas.microsoft.com/office/drawing/2014/main" id="{A16AC2E5-1D09-45B8-AFC7-3EA313C65111}"/>
              </a:ext>
            </a:extLst>
          </p:cNvPr>
          <p:cNvSpPr>
            <a:spLocks xmlns:a="http://schemas.openxmlformats.org/drawingml/2006/main" noGrp="1"/>
          </p:cNvSpPr>
          <p:nvPr/>
        </p:nvSpPr>
        <p:spPr>
          <a:xfrm xmlns:a="http://schemas.openxmlformats.org/drawingml/2006/main">
            <a:off x="2990850" y="2809875"/>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自质押达标</a:t>
            </a:r>
          </a:p>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资料未过期</a:t>
            </a:r>
          </a:p>
        </p:txBody>
      </p:sp>
      <p:sp>
        <p:nvSpPr>
          <p:cNvPr id="15" name="">
            <a:extLst xmlns:a="http://schemas.openxmlformats.org/drawingml/2006/main">
              <a:ext uri="{FF2B5EF4-FFF2-40B4-BE49-F238E27FC236}">
                <a16:creationId xmlns:a16="http://schemas.microsoft.com/office/drawing/2014/main" id="{D17EDF58-06DC-440C-A2BF-849CCD17CCC2}"/>
              </a:ext>
            </a:extLst>
          </p:cNvPr>
          <p:cNvSpPr>
            <a:spLocks xmlns:a="http://schemas.openxmlformats.org/drawingml/2006/main" noGrp="1"/>
          </p:cNvSpPr>
          <p:nvPr/>
        </p:nvSpPr>
        <p:spPr>
          <a:xfrm xmlns:a="http://schemas.openxmlformats.org/drawingml/2006/main">
            <a:off x="4686300" y="2590800"/>
            <a:ext cx="400050" cy="3810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A8DDD96-B094-45A4-B720-3A4F0606FB64}"/>
              </a:ext>
            </a:extLst>
          </p:cNvPr>
          <p:cNvSpPr>
            <a:spLocks xmlns:a="http://schemas.openxmlformats.org/drawingml/2006/main" noGrp="1"/>
          </p:cNvSpPr>
          <p:nvPr/>
        </p:nvSpPr>
        <p:spPr>
          <a:xfrm xmlns:a="http://schemas.openxmlformats.org/drawingml/2006/main">
            <a:off x="5086350" y="1790700"/>
            <a:ext cx="1866900" cy="1714500"/>
          </a:xfrm>
          <a:prstGeom xmlns:a="http://schemas.openxmlformats.org/drawingml/2006/main" prst="roundRect">
            <a:avLst>
              <a:gd name="adj" fmla="val 4444"/>
            </a:avLst>
          </a:prstGeom>
          <a:solidFill xmlns:a="http://schemas.openxmlformats.org/drawingml/2006/main">
            <a:srgbClr val="0B2035"/>
          </a:solidFill>
          <a:ln xmlns:a="http://schemas.openxmlformats.org/drawingml/2006/main" w="9525">
            <a:solidFill>
              <a:srgbClr val="F1B84B"/>
            </a:solidFill>
            <a:prstDash val="solid"/>
          </a:ln>
        </p:spPr>
      </p:sp>
      <p:sp>
        <p:nvSpPr>
          <p:cNvPr id="17" name="">
            <a:extLst xmlns:a="http://schemas.openxmlformats.org/drawingml/2006/main">
              <a:ext uri="{FF2B5EF4-FFF2-40B4-BE49-F238E27FC236}">
                <a16:creationId xmlns:a16="http://schemas.microsoft.com/office/drawing/2014/main" id="{4C259177-58B6-4E98-B8EE-5E49CA02F79A}"/>
              </a:ext>
            </a:extLst>
          </p:cNvPr>
          <p:cNvSpPr>
            <a:spLocks xmlns:a="http://schemas.openxmlformats.org/drawingml/2006/main" noGrp="1"/>
          </p:cNvSpPr>
          <p:nvPr/>
        </p:nvSpPr>
        <p:spPr>
          <a:xfrm xmlns:a="http://schemas.openxmlformats.org/drawingml/2006/main">
            <a:off x="5257800" y="19240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a:solidFill>
                  <a:srgbClr val="F1B84B"/>
                </a:solidFill>
                <a:latin typeface="Arial Unicode MS"/>
                <a:ea typeface="Arial Unicode MS"/>
                <a:cs typeface="Arial Unicode MS"/>
              </a:defRPr>
            </a:defPPr>
          </a:lstStyle>
          <a:p xmlns:a="http://schemas.openxmlformats.org/drawingml/2006/main">
            <a:pPr algn="l">
              <a:defRPr sz="1350" b="1">
                <a:solidFill>
                  <a:srgbClr val="F1B84B"/>
                </a:solidFill>
                <a:latin typeface="Arial Unicode MS"/>
                <a:ea typeface="Arial Unicode MS"/>
                <a:cs typeface="Arial Unicode MS"/>
              </a:defRPr>
            </a:pPr>
            <a:r>
              <a:rPr sz="1350" b="1">
                <a:solidFill>
                  <a:srgbClr val="F1B84B"/>
                </a:solidFill>
                <a:latin typeface="Arial Unicode MS"/>
                <a:ea typeface="Arial Unicode MS"/>
                <a:cs typeface="Arial Unicode MS"/>
              </a:rPr>
              <a:t>03</a:t>
            </a:r>
          </a:p>
        </p:txBody>
      </p:sp>
      <p:sp>
        <p:nvSpPr>
          <p:cNvPr id="18" name="">
            <a:extLst xmlns:a="http://schemas.openxmlformats.org/drawingml/2006/main">
              <a:ext uri="{FF2B5EF4-FFF2-40B4-BE49-F238E27FC236}">
                <a16:creationId xmlns:a16="http://schemas.microsoft.com/office/drawing/2014/main" id="{043FD763-6F33-4F55-B568-4DEC1283909C}"/>
              </a:ext>
            </a:extLst>
          </p:cNvPr>
          <p:cNvSpPr>
            <a:spLocks xmlns:a="http://schemas.openxmlformats.org/drawingml/2006/main" noGrp="1"/>
          </p:cNvSpPr>
          <p:nvPr/>
        </p:nvSpPr>
        <p:spPr>
          <a:xfrm xmlns:a="http://schemas.openxmlformats.org/drawingml/2006/main">
            <a:off x="5257800" y="2314575"/>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100" b="1">
                <a:solidFill>
                  <a:srgbClr val="F7FBFF"/>
                </a:solidFill>
                <a:latin typeface="Arial Unicode MS"/>
                <a:ea typeface="Arial Unicode MS"/>
                <a:cs typeface="Arial Unicode MS"/>
              </a:defRPr>
            </a:defPPr>
          </a:lstStyle>
          <a:p xmlns:a="http://schemas.openxmlformats.org/drawingml/2006/main">
            <a:pPr algn="l">
              <a:defRPr sz="2100" b="1">
                <a:solidFill>
                  <a:srgbClr val="F7FBFF"/>
                </a:solidFill>
                <a:latin typeface="Arial Unicode MS"/>
                <a:ea typeface="Arial Unicode MS"/>
                <a:cs typeface="Arial Unicode MS"/>
              </a:defRPr>
            </a:pPr>
            <a:r>
              <a:rPr sz="2100" b="1">
                <a:solidFill>
                  <a:srgbClr val="F7FBFF"/>
                </a:solidFill>
                <a:latin typeface="Arial Unicode MS"/>
                <a:ea typeface="Arial Unicode MS"/>
                <a:cs typeface="Arial Unicode MS"/>
              </a:rPr>
              <a:t>备用</a:t>
            </a:r>
          </a:p>
        </p:txBody>
      </p:sp>
      <p:sp>
        <p:nvSpPr>
          <p:cNvPr id="19" name="">
            <a:extLst xmlns:a="http://schemas.openxmlformats.org/drawingml/2006/main">
              <a:ext uri="{FF2B5EF4-FFF2-40B4-BE49-F238E27FC236}">
                <a16:creationId xmlns:a16="http://schemas.microsoft.com/office/drawing/2014/main" id="{32F62A72-5C35-45DB-981E-0A501523CC4D}"/>
              </a:ext>
            </a:extLst>
          </p:cNvPr>
          <p:cNvSpPr>
            <a:spLocks xmlns:a="http://schemas.openxmlformats.org/drawingml/2006/main" noGrp="1"/>
          </p:cNvSpPr>
          <p:nvPr/>
        </p:nvSpPr>
        <p:spPr>
          <a:xfrm xmlns:a="http://schemas.openxmlformats.org/drawingml/2006/main">
            <a:off x="5257800" y="2809875"/>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完成观察排班</a:t>
            </a:r>
          </a:p>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可自动递补</a:t>
            </a:r>
          </a:p>
        </p:txBody>
      </p:sp>
      <p:sp>
        <p:nvSpPr>
          <p:cNvPr id="20" name="">
            <a:extLst xmlns:a="http://schemas.openxmlformats.org/drawingml/2006/main">
              <a:ext uri="{FF2B5EF4-FFF2-40B4-BE49-F238E27FC236}">
                <a16:creationId xmlns:a16="http://schemas.microsoft.com/office/drawing/2014/main" id="{4AA1B2DE-2556-4A92-ABC9-AE6ADC34953E}"/>
              </a:ext>
            </a:extLst>
          </p:cNvPr>
          <p:cNvSpPr>
            <a:spLocks xmlns:a="http://schemas.openxmlformats.org/drawingml/2006/main" noGrp="1"/>
          </p:cNvSpPr>
          <p:nvPr/>
        </p:nvSpPr>
        <p:spPr>
          <a:xfrm xmlns:a="http://schemas.openxmlformats.org/drawingml/2006/main">
            <a:off x="6953250" y="2590800"/>
            <a:ext cx="400050" cy="3810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4AF1588-999C-46E9-A243-9BD23E059CEE}"/>
              </a:ext>
            </a:extLst>
          </p:cNvPr>
          <p:cNvSpPr>
            <a:spLocks xmlns:a="http://schemas.openxmlformats.org/drawingml/2006/main" noGrp="1"/>
          </p:cNvSpPr>
          <p:nvPr/>
        </p:nvSpPr>
        <p:spPr>
          <a:xfrm xmlns:a="http://schemas.openxmlformats.org/drawingml/2006/main">
            <a:off x="7353300" y="1790700"/>
            <a:ext cx="1866900" cy="1714500"/>
          </a:xfrm>
          <a:prstGeom xmlns:a="http://schemas.openxmlformats.org/drawingml/2006/main" prst="roundRect">
            <a:avLst>
              <a:gd name="adj" fmla="val 4444"/>
            </a:avLst>
          </a:prstGeom>
          <a:solidFill xmlns:a="http://schemas.openxmlformats.org/drawingml/2006/main">
            <a:srgbClr val="0B2035"/>
          </a:solidFill>
          <a:ln xmlns:a="http://schemas.openxmlformats.org/drawingml/2006/main" w="9525">
            <a:solidFill>
              <a:srgbClr val="58D68D"/>
            </a:solidFill>
            <a:prstDash val="solid"/>
          </a:ln>
        </p:spPr>
      </p:sp>
      <p:sp>
        <p:nvSpPr>
          <p:cNvPr id="22" name="">
            <a:extLst xmlns:a="http://schemas.openxmlformats.org/drawingml/2006/main">
              <a:ext uri="{FF2B5EF4-FFF2-40B4-BE49-F238E27FC236}">
                <a16:creationId xmlns:a16="http://schemas.microsoft.com/office/drawing/2014/main" id="{06094B98-8687-4522-9124-4DF349D06834}"/>
              </a:ext>
            </a:extLst>
          </p:cNvPr>
          <p:cNvSpPr>
            <a:spLocks xmlns:a="http://schemas.openxmlformats.org/drawingml/2006/main" noGrp="1"/>
          </p:cNvSpPr>
          <p:nvPr/>
        </p:nvSpPr>
        <p:spPr>
          <a:xfrm xmlns:a="http://schemas.openxmlformats.org/drawingml/2006/main">
            <a:off x="7524750" y="19240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a:solidFill>
                  <a:srgbClr val="58D68D"/>
                </a:solidFill>
                <a:latin typeface="Arial Unicode MS"/>
                <a:ea typeface="Arial Unicode MS"/>
                <a:cs typeface="Arial Unicode MS"/>
              </a:defRPr>
            </a:defPPr>
          </a:lstStyle>
          <a:p xmlns:a="http://schemas.openxmlformats.org/drawingml/2006/main">
            <a:pPr algn="l">
              <a:defRPr sz="1350" b="1">
                <a:solidFill>
                  <a:srgbClr val="58D68D"/>
                </a:solidFill>
                <a:latin typeface="Arial Unicode MS"/>
                <a:ea typeface="Arial Unicode MS"/>
                <a:cs typeface="Arial Unicode MS"/>
              </a:defRPr>
            </a:pPr>
            <a:r>
              <a:rPr sz="1350" b="1">
                <a:solidFill>
                  <a:srgbClr val="58D68D"/>
                </a:solidFill>
                <a:latin typeface="Arial Unicode MS"/>
                <a:ea typeface="Arial Unicode MS"/>
                <a:cs typeface="Arial Unicode MS"/>
              </a:rPr>
              <a:t>04</a:t>
            </a:r>
          </a:p>
        </p:txBody>
      </p:sp>
      <p:sp>
        <p:nvSpPr>
          <p:cNvPr id="23" name="">
            <a:extLst xmlns:a="http://schemas.openxmlformats.org/drawingml/2006/main">
              <a:ext uri="{FF2B5EF4-FFF2-40B4-BE49-F238E27FC236}">
                <a16:creationId xmlns:a16="http://schemas.microsoft.com/office/drawing/2014/main" id="{CD5B5147-A655-4DA5-9560-8730C8F3E81A}"/>
              </a:ext>
            </a:extLst>
          </p:cNvPr>
          <p:cNvSpPr>
            <a:spLocks xmlns:a="http://schemas.openxmlformats.org/drawingml/2006/main" noGrp="1"/>
          </p:cNvSpPr>
          <p:nvPr/>
        </p:nvSpPr>
        <p:spPr>
          <a:xfrm xmlns:a="http://schemas.openxmlformats.org/drawingml/2006/main">
            <a:off x="7524750" y="2314575"/>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100" b="1">
                <a:solidFill>
                  <a:srgbClr val="F7FBFF"/>
                </a:solidFill>
                <a:latin typeface="Arial Unicode MS"/>
                <a:ea typeface="Arial Unicode MS"/>
                <a:cs typeface="Arial Unicode MS"/>
              </a:defRPr>
            </a:defPPr>
          </a:lstStyle>
          <a:p xmlns:a="http://schemas.openxmlformats.org/drawingml/2006/main">
            <a:pPr algn="l">
              <a:defRPr sz="2100" b="1">
                <a:solidFill>
                  <a:srgbClr val="F7FBFF"/>
                </a:solidFill>
                <a:latin typeface="Arial Unicode MS"/>
                <a:ea typeface="Arial Unicode MS"/>
                <a:cs typeface="Arial Unicode MS"/>
              </a:defRPr>
            </a:pPr>
            <a:r>
              <a:rPr sz="2100" b="1">
                <a:solidFill>
                  <a:srgbClr val="F7FBFF"/>
                </a:solidFill>
                <a:latin typeface="Arial Unicode MS"/>
                <a:ea typeface="Arial Unicode MS"/>
                <a:cs typeface="Arial Unicode MS"/>
              </a:rPr>
              <a:t>活跃</a:t>
            </a:r>
          </a:p>
        </p:txBody>
      </p:sp>
      <p:sp>
        <p:nvSpPr>
          <p:cNvPr id="24" name="">
            <a:extLst xmlns:a="http://schemas.openxmlformats.org/drawingml/2006/main">
              <a:ext uri="{FF2B5EF4-FFF2-40B4-BE49-F238E27FC236}">
                <a16:creationId xmlns:a16="http://schemas.microsoft.com/office/drawing/2014/main" id="{D30DD563-6841-4BB2-85A0-B9E491D3E8C1}"/>
              </a:ext>
            </a:extLst>
          </p:cNvPr>
          <p:cNvSpPr>
            <a:spLocks xmlns:a="http://schemas.openxmlformats.org/drawingml/2006/main" noGrp="1"/>
          </p:cNvSpPr>
          <p:nvPr/>
        </p:nvSpPr>
        <p:spPr>
          <a:xfrm xmlns:a="http://schemas.openxmlformats.org/drawingml/2006/main">
            <a:off x="7524750" y="2809875"/>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进入当前排班</a:t>
            </a:r>
          </a:p>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承担出块职责</a:t>
            </a:r>
          </a:p>
        </p:txBody>
      </p:sp>
      <p:sp>
        <p:nvSpPr>
          <p:cNvPr id="25" name="">
            <a:extLst xmlns:a="http://schemas.openxmlformats.org/drawingml/2006/main">
              <a:ext uri="{FF2B5EF4-FFF2-40B4-BE49-F238E27FC236}">
                <a16:creationId xmlns:a16="http://schemas.microsoft.com/office/drawing/2014/main" id="{9D78A536-5AC0-4036-B1D5-307CA1C3D3E9}"/>
              </a:ext>
            </a:extLst>
          </p:cNvPr>
          <p:cNvSpPr>
            <a:spLocks xmlns:a="http://schemas.openxmlformats.org/drawingml/2006/main" noGrp="1"/>
          </p:cNvSpPr>
          <p:nvPr/>
        </p:nvSpPr>
        <p:spPr>
          <a:xfrm xmlns:a="http://schemas.openxmlformats.org/drawingml/2006/main">
            <a:off x="9220200" y="2590800"/>
            <a:ext cx="400050" cy="3810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A9A40A1-595E-4ACF-AECC-23C86080B7D1}"/>
              </a:ext>
            </a:extLst>
          </p:cNvPr>
          <p:cNvSpPr>
            <a:spLocks xmlns:a="http://schemas.openxmlformats.org/drawingml/2006/main" noGrp="1"/>
          </p:cNvSpPr>
          <p:nvPr/>
        </p:nvSpPr>
        <p:spPr>
          <a:xfrm xmlns:a="http://schemas.openxmlformats.org/drawingml/2006/main">
            <a:off x="9620250" y="1790700"/>
            <a:ext cx="1866900" cy="1714500"/>
          </a:xfrm>
          <a:prstGeom xmlns:a="http://schemas.openxmlformats.org/drawingml/2006/main" prst="roundRect">
            <a:avLst>
              <a:gd name="adj" fmla="val 4444"/>
            </a:avLst>
          </a:prstGeom>
          <a:solidFill xmlns:a="http://schemas.openxmlformats.org/drawingml/2006/main">
            <a:srgbClr val="0B2035"/>
          </a:solidFill>
          <a:ln xmlns:a="http://schemas.openxmlformats.org/drawingml/2006/main" w="9525">
            <a:solidFill>
              <a:srgbClr val="FF7A6E"/>
            </a:solidFill>
            <a:prstDash val="solid"/>
          </a:ln>
        </p:spPr>
      </p:sp>
      <p:sp>
        <p:nvSpPr>
          <p:cNvPr id="27" name="">
            <a:extLst xmlns:a="http://schemas.openxmlformats.org/drawingml/2006/main">
              <a:ext uri="{FF2B5EF4-FFF2-40B4-BE49-F238E27FC236}">
                <a16:creationId xmlns:a16="http://schemas.microsoft.com/office/drawing/2014/main" id="{B6892A49-7BCF-432D-B981-350521F5F378}"/>
              </a:ext>
            </a:extLst>
          </p:cNvPr>
          <p:cNvSpPr>
            <a:spLocks xmlns:a="http://schemas.openxmlformats.org/drawingml/2006/main" noGrp="1"/>
          </p:cNvSpPr>
          <p:nvPr/>
        </p:nvSpPr>
        <p:spPr>
          <a:xfrm xmlns:a="http://schemas.openxmlformats.org/drawingml/2006/main">
            <a:off x="9791700" y="19240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a:solidFill>
                  <a:srgbClr val="FF7A6E"/>
                </a:solidFill>
                <a:latin typeface="Arial Unicode MS"/>
                <a:ea typeface="Arial Unicode MS"/>
                <a:cs typeface="Arial Unicode MS"/>
              </a:defRPr>
            </a:defPPr>
          </a:lstStyle>
          <a:p xmlns:a="http://schemas.openxmlformats.org/drawingml/2006/main">
            <a:pPr algn="l">
              <a:defRPr sz="1350" b="1">
                <a:solidFill>
                  <a:srgbClr val="FF7A6E"/>
                </a:solidFill>
                <a:latin typeface="Arial Unicode MS"/>
                <a:ea typeface="Arial Unicode MS"/>
                <a:cs typeface="Arial Unicode MS"/>
              </a:defRPr>
            </a:pPr>
            <a:r>
              <a:rPr sz="1350" b="1">
                <a:solidFill>
                  <a:srgbClr val="FF7A6E"/>
                </a:solidFill>
                <a:latin typeface="Arial Unicode MS"/>
                <a:ea typeface="Arial Unicode MS"/>
                <a:cs typeface="Arial Unicode MS"/>
              </a:rPr>
              <a:t>05</a:t>
            </a:r>
          </a:p>
        </p:txBody>
      </p:sp>
      <p:sp>
        <p:nvSpPr>
          <p:cNvPr id="28" name="">
            <a:extLst xmlns:a="http://schemas.openxmlformats.org/drawingml/2006/main">
              <a:ext uri="{FF2B5EF4-FFF2-40B4-BE49-F238E27FC236}">
                <a16:creationId xmlns:a16="http://schemas.microsoft.com/office/drawing/2014/main" id="{B86B7D27-0A34-4F5C-A2D2-DC992A02CDBE}"/>
              </a:ext>
            </a:extLst>
          </p:cNvPr>
          <p:cNvSpPr>
            <a:spLocks xmlns:a="http://schemas.openxmlformats.org/drawingml/2006/main" noGrp="1"/>
          </p:cNvSpPr>
          <p:nvPr/>
        </p:nvSpPr>
        <p:spPr>
          <a:xfrm xmlns:a="http://schemas.openxmlformats.org/drawingml/2006/main">
            <a:off x="9791700" y="2314575"/>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100" b="1">
                <a:solidFill>
                  <a:srgbClr val="F7FBFF"/>
                </a:solidFill>
                <a:latin typeface="Arial Unicode MS"/>
                <a:ea typeface="Arial Unicode MS"/>
                <a:cs typeface="Arial Unicode MS"/>
              </a:defRPr>
            </a:defPPr>
          </a:lstStyle>
          <a:p xmlns:a="http://schemas.openxmlformats.org/drawingml/2006/main">
            <a:pPr algn="l">
              <a:defRPr sz="2100" b="1">
                <a:solidFill>
                  <a:srgbClr val="F7FBFF"/>
                </a:solidFill>
                <a:latin typeface="Arial Unicode MS"/>
                <a:ea typeface="Arial Unicode MS"/>
                <a:cs typeface="Arial Unicode MS"/>
              </a:defRPr>
            </a:pPr>
            <a:r>
              <a:rPr sz="2100" b="1">
                <a:solidFill>
                  <a:srgbClr val="F7FBFF"/>
                </a:solidFill>
                <a:latin typeface="Arial Unicode MS"/>
                <a:ea typeface="Arial Unicode MS"/>
                <a:cs typeface="Arial Unicode MS"/>
              </a:rPr>
              <a:t>停权</a:t>
            </a:r>
          </a:p>
        </p:txBody>
      </p:sp>
      <p:sp>
        <p:nvSpPr>
          <p:cNvPr id="29" name="">
            <a:extLst xmlns:a="http://schemas.openxmlformats.org/drawingml/2006/main">
              <a:ext uri="{FF2B5EF4-FFF2-40B4-BE49-F238E27FC236}">
                <a16:creationId xmlns:a16="http://schemas.microsoft.com/office/drawing/2014/main" id="{E1E548F1-B864-4112-A449-97EE47044403}"/>
              </a:ext>
            </a:extLst>
          </p:cNvPr>
          <p:cNvSpPr>
            <a:spLocks xmlns:a="http://schemas.openxmlformats.org/drawingml/2006/main" noGrp="1"/>
          </p:cNvSpPr>
          <p:nvPr/>
        </p:nvSpPr>
        <p:spPr>
          <a:xfrm xmlns:a="http://schemas.openxmlformats.org/drawingml/2006/main">
            <a:off x="9791700" y="2809875"/>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绩效失败</a:t>
            </a:r>
          </a:p>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进入冷却期</a:t>
            </a:r>
          </a:p>
        </p:txBody>
      </p:sp>
      <p:sp>
        <p:nvSpPr>
          <p:cNvPr id="30" name="">
            <a:extLst xmlns:a="http://schemas.openxmlformats.org/drawingml/2006/main">
              <a:ext uri="{FF2B5EF4-FFF2-40B4-BE49-F238E27FC236}">
                <a16:creationId xmlns:a16="http://schemas.microsoft.com/office/drawing/2014/main" id="{1B55C553-9EB1-44FC-94AC-9CF2151F868E}"/>
              </a:ext>
            </a:extLst>
          </p:cNvPr>
          <p:cNvSpPr>
            <a:spLocks xmlns:a="http://schemas.openxmlformats.org/drawingml/2006/main" noGrp="1"/>
          </p:cNvSpPr>
          <p:nvPr/>
        </p:nvSpPr>
        <p:spPr>
          <a:xfrm xmlns:a="http://schemas.openxmlformats.org/drawingml/2006/main">
            <a:off x="666750" y="40957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a:solidFill>
                  <a:srgbClr val="F7FBFF"/>
                </a:solidFill>
                <a:latin typeface="Arial Unicode MS"/>
                <a:ea typeface="Arial Unicode MS"/>
                <a:cs typeface="Arial Unicode MS"/>
              </a:defRPr>
            </a:defPPr>
          </a:lstStyle>
          <a:p xmlns:a="http://schemas.openxmlformats.org/drawingml/2006/main">
            <a:pPr algn="l">
              <a:defRPr sz="1725" b="1">
                <a:solidFill>
                  <a:srgbClr val="F7FBFF"/>
                </a:solidFill>
                <a:latin typeface="Arial Unicode MS"/>
                <a:ea typeface="Arial Unicode MS"/>
                <a:cs typeface="Arial Unicode MS"/>
              </a:defRPr>
            </a:pPr>
            <a:r>
              <a:rPr sz="1725" b="1">
                <a:solidFill>
                  <a:srgbClr val="F7FBFF"/>
                </a:solidFill>
                <a:latin typeface="Arial Unicode MS"/>
                <a:ea typeface="Arial Unicode MS"/>
                <a:cs typeface="Arial Unicode MS"/>
              </a:rPr>
              <a:t>强制准入条件</a:t>
            </a:r>
          </a:p>
        </p:txBody>
      </p:sp>
      <p:sp>
        <p:nvSpPr>
          <p:cNvPr id="31" name="">
            <a:extLst xmlns:a="http://schemas.openxmlformats.org/drawingml/2006/main">
              <a:ext uri="{FF2B5EF4-FFF2-40B4-BE49-F238E27FC236}">
                <a16:creationId xmlns:a16="http://schemas.microsoft.com/office/drawing/2014/main" id="{CB4846E9-5580-41E1-A0B4-6BE48DDAFD18}"/>
              </a:ext>
            </a:extLst>
          </p:cNvPr>
          <p:cNvSpPr>
            <a:spLocks xmlns:a="http://schemas.openxmlformats.org/drawingml/2006/main" noGrp="1"/>
          </p:cNvSpPr>
          <p:nvPr/>
        </p:nvSpPr>
        <p:spPr>
          <a:xfrm xmlns:a="http://schemas.openxmlformats.org/drawingml/2006/main">
            <a:off x="666750" y="4648200"/>
            <a:ext cx="3143250" cy="419100"/>
          </a:xfrm>
          <a:prstGeom xmlns:a="http://schemas.openxmlformats.org/drawingml/2006/main" prst="roundRect">
            <a:avLst>
              <a:gd name="adj" fmla="val 18182"/>
            </a:avLst>
          </a:prstGeom>
          <a:solidFill xmlns:a="http://schemas.openxmlformats.org/drawingml/2006/main">
            <a:srgbClr val="0B203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F2B5A6D-EC8E-4470-97D7-EAF652A88DBF}"/>
              </a:ext>
            </a:extLst>
          </p:cNvPr>
          <p:cNvSpPr>
            <a:spLocks xmlns:a="http://schemas.openxmlformats.org/drawingml/2006/main" noGrp="1"/>
          </p:cNvSpPr>
          <p:nvPr/>
        </p:nvSpPr>
        <p:spPr>
          <a:xfrm xmlns:a="http://schemas.openxmlformats.org/drawingml/2006/main">
            <a:off x="666750" y="4648200"/>
            <a:ext cx="66675" cy="4191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D7F9A4E-DADD-4D7D-B832-397D5BD2A2C8}"/>
              </a:ext>
            </a:extLst>
          </p:cNvPr>
          <p:cNvSpPr>
            <a:spLocks xmlns:a="http://schemas.openxmlformats.org/drawingml/2006/main" noGrp="1"/>
          </p:cNvSpPr>
          <p:nvPr/>
        </p:nvSpPr>
        <p:spPr>
          <a:xfrm xmlns:a="http://schemas.openxmlformats.org/drawingml/2006/main">
            <a:off x="838200" y="467677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有效签名与 finalizer key</a:t>
            </a:r>
          </a:p>
        </p:txBody>
      </p:sp>
      <p:sp>
        <p:nvSpPr>
          <p:cNvPr id="34" name="">
            <a:extLst xmlns:a="http://schemas.openxmlformats.org/drawingml/2006/main">
              <a:ext uri="{FF2B5EF4-FFF2-40B4-BE49-F238E27FC236}">
                <a16:creationId xmlns:a16="http://schemas.microsoft.com/office/drawing/2014/main" id="{BF912693-95C8-4871-9BC3-BEC9B56A5146}"/>
              </a:ext>
            </a:extLst>
          </p:cNvPr>
          <p:cNvSpPr>
            <a:spLocks xmlns:a="http://schemas.openxmlformats.org/drawingml/2006/main" noGrp="1"/>
          </p:cNvSpPr>
          <p:nvPr/>
        </p:nvSpPr>
        <p:spPr>
          <a:xfrm xmlns:a="http://schemas.openxmlformats.org/drawingml/2006/main">
            <a:off x="4286250" y="4648200"/>
            <a:ext cx="3143250" cy="419100"/>
          </a:xfrm>
          <a:prstGeom xmlns:a="http://schemas.openxmlformats.org/drawingml/2006/main" prst="roundRect">
            <a:avLst>
              <a:gd name="adj" fmla="val 18182"/>
            </a:avLst>
          </a:prstGeom>
          <a:solidFill xmlns:a="http://schemas.openxmlformats.org/drawingml/2006/main">
            <a:srgbClr val="0B203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083B6D1-6A1E-48F4-86C9-8A8B244BDA06}"/>
              </a:ext>
            </a:extLst>
          </p:cNvPr>
          <p:cNvSpPr>
            <a:spLocks xmlns:a="http://schemas.openxmlformats.org/drawingml/2006/main" noGrp="1"/>
          </p:cNvSpPr>
          <p:nvPr/>
        </p:nvSpPr>
        <p:spPr>
          <a:xfrm xmlns:a="http://schemas.openxmlformats.org/drawingml/2006/main">
            <a:off x="4286250" y="4648200"/>
            <a:ext cx="66675" cy="4191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D2637783-71BD-4CF1-8206-BFBAAD989EDB}"/>
              </a:ext>
            </a:extLst>
          </p:cNvPr>
          <p:cNvSpPr>
            <a:spLocks xmlns:a="http://schemas.openxmlformats.org/drawingml/2006/main" noGrp="1"/>
          </p:cNvSpPr>
          <p:nvPr/>
        </p:nvSpPr>
        <p:spPr>
          <a:xfrm xmlns:a="http://schemas.openxmlformats.org/drawingml/2006/main">
            <a:off x="4457700" y="467677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最低自质押</a:t>
            </a:r>
          </a:p>
        </p:txBody>
      </p:sp>
      <p:sp>
        <p:nvSpPr>
          <p:cNvPr id="37" name="">
            <a:extLst xmlns:a="http://schemas.openxmlformats.org/drawingml/2006/main">
              <a:ext uri="{FF2B5EF4-FFF2-40B4-BE49-F238E27FC236}">
                <a16:creationId xmlns:a16="http://schemas.microsoft.com/office/drawing/2014/main" id="{98D796EF-92E7-4174-A0DD-7679ACD42822}"/>
              </a:ext>
            </a:extLst>
          </p:cNvPr>
          <p:cNvSpPr>
            <a:spLocks xmlns:a="http://schemas.openxmlformats.org/drawingml/2006/main" noGrp="1"/>
          </p:cNvSpPr>
          <p:nvPr/>
        </p:nvSpPr>
        <p:spPr>
          <a:xfrm xmlns:a="http://schemas.openxmlformats.org/drawingml/2006/main">
            <a:off x="7905750" y="4648200"/>
            <a:ext cx="3143250" cy="419100"/>
          </a:xfrm>
          <a:prstGeom xmlns:a="http://schemas.openxmlformats.org/drawingml/2006/main" prst="roundRect">
            <a:avLst>
              <a:gd name="adj" fmla="val 18182"/>
            </a:avLst>
          </a:prstGeom>
          <a:solidFill xmlns:a="http://schemas.openxmlformats.org/drawingml/2006/main">
            <a:srgbClr val="0B203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E454EB6-436A-4A85-952A-683778C0C0A6}"/>
              </a:ext>
            </a:extLst>
          </p:cNvPr>
          <p:cNvSpPr>
            <a:spLocks xmlns:a="http://schemas.openxmlformats.org/drawingml/2006/main" noGrp="1"/>
          </p:cNvSpPr>
          <p:nvPr/>
        </p:nvSpPr>
        <p:spPr>
          <a:xfrm xmlns:a="http://schemas.openxmlformats.org/drawingml/2006/main">
            <a:off x="7905750" y="4648200"/>
            <a:ext cx="66675" cy="419100"/>
          </a:xfrm>
          <a:prstGeom xmlns:a="http://schemas.openxmlformats.org/drawingml/2006/main" prst="rect">
            <a:avLst/>
          </a:prstGeom>
          <a:solidFill xmlns:a="http://schemas.openxmlformats.org/drawingml/2006/main">
            <a:srgbClr val="F1B84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4F59584-DA46-4CE8-B10D-55E6D5C37484}"/>
              </a:ext>
            </a:extLst>
          </p:cNvPr>
          <p:cNvSpPr>
            <a:spLocks xmlns:a="http://schemas.openxmlformats.org/drawingml/2006/main" noGrp="1"/>
          </p:cNvSpPr>
          <p:nvPr/>
        </p:nvSpPr>
        <p:spPr>
          <a:xfrm xmlns:a="http://schemas.openxmlformats.org/drawingml/2006/main">
            <a:off x="8077200" y="467677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D7E7F2"/>
                </a:solidFill>
                <a:latin typeface="Arial Unicode MS"/>
                <a:ea typeface="Arial Unicode MS"/>
                <a:cs typeface="Arial Unicode MS"/>
              </a:defRPr>
            </a:defPPr>
          </a:lstStyle>
          <a:p xmlns:a="http://schemas.openxmlformats.org/drawingml/2006/main">
            <a:pPr algn="l">
              <a:defRPr sz="1275" b="1">
                <a:solidFill>
                  <a:srgbClr val="D7E7F2"/>
                </a:solidFill>
                <a:latin typeface="Arial Unicode MS"/>
                <a:ea typeface="Arial Unicode MS"/>
                <a:cs typeface="Arial Unicode MS"/>
              </a:defRPr>
            </a:pPr>
            <a:r>
              <a:rPr sz="1275" b="1">
                <a:solidFill>
                  <a:srgbClr val="D7E7F2"/>
                </a:solidFill>
                <a:latin typeface="Arial Unicode MS"/>
                <a:ea typeface="Arial Unicode MS"/>
                <a:cs typeface="Arial Unicode MS"/>
              </a:rPr>
              <a:t>网站与 X 账号</a:t>
            </a:r>
          </a:p>
        </p:txBody>
      </p:sp>
      <p:sp>
        <p:nvSpPr>
          <p:cNvPr id="40" name="">
            <a:extLst xmlns:a="http://schemas.openxmlformats.org/drawingml/2006/main">
              <a:ext uri="{FF2B5EF4-FFF2-40B4-BE49-F238E27FC236}">
                <a16:creationId xmlns:a16="http://schemas.microsoft.com/office/drawing/2014/main" id="{EA86DA17-40A2-4260-AFCB-A06DA72F4E05}"/>
              </a:ext>
            </a:extLst>
          </p:cNvPr>
          <p:cNvSpPr>
            <a:spLocks xmlns:a="http://schemas.openxmlformats.org/drawingml/2006/main" noGrp="1"/>
          </p:cNvSpPr>
          <p:nvPr/>
        </p:nvSpPr>
        <p:spPr>
          <a:xfrm xmlns:a="http://schemas.openxmlformats.org/drawingml/2006/main">
            <a:off x="666750" y="5238750"/>
            <a:ext cx="3143250" cy="419100"/>
          </a:xfrm>
          <a:prstGeom xmlns:a="http://schemas.openxmlformats.org/drawingml/2006/main" prst="roundRect">
            <a:avLst>
              <a:gd name="adj" fmla="val 18182"/>
            </a:avLst>
          </a:prstGeom>
          <a:solidFill xmlns:a="http://schemas.openxmlformats.org/drawingml/2006/main">
            <a:srgbClr val="0B203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5141DBF-8E8E-4C42-902B-9229CCF6B866}"/>
              </a:ext>
            </a:extLst>
          </p:cNvPr>
          <p:cNvSpPr>
            <a:spLocks xmlns:a="http://schemas.openxmlformats.org/drawingml/2006/main" noGrp="1"/>
          </p:cNvSpPr>
          <p:nvPr/>
        </p:nvSpPr>
        <p:spPr>
          <a:xfrm xmlns:a="http://schemas.openxmlformats.org/drawingml/2006/main">
            <a:off x="666750" y="5238750"/>
            <a:ext cx="66675" cy="4191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ED1292C-99A9-40D2-AFD4-0D2BB914EF05}"/>
              </a:ext>
            </a:extLst>
          </p:cNvPr>
          <p:cNvSpPr>
            <a:spLocks xmlns:a="http://schemas.openxmlformats.org/drawingml/2006/main" noGrp="1"/>
          </p:cNvSpPr>
          <p:nvPr/>
        </p:nvSpPr>
        <p:spPr>
          <a:xfrm xmlns:a="http://schemas.openxmlformats.org/drawingml/2006/main">
            <a:off x="838200" y="526732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接受规则哈希</a:t>
            </a:r>
          </a:p>
        </p:txBody>
      </p:sp>
      <p:sp>
        <p:nvSpPr>
          <p:cNvPr id="43" name="">
            <a:extLst xmlns:a="http://schemas.openxmlformats.org/drawingml/2006/main">
              <a:ext uri="{FF2B5EF4-FFF2-40B4-BE49-F238E27FC236}">
                <a16:creationId xmlns:a16="http://schemas.microsoft.com/office/drawing/2014/main" id="{33CD5265-99E3-41AE-9A67-67C810EED9DF}"/>
              </a:ext>
            </a:extLst>
          </p:cNvPr>
          <p:cNvSpPr>
            <a:spLocks xmlns:a="http://schemas.openxmlformats.org/drawingml/2006/main" noGrp="1"/>
          </p:cNvSpPr>
          <p:nvPr/>
        </p:nvSpPr>
        <p:spPr>
          <a:xfrm xmlns:a="http://schemas.openxmlformats.org/drawingml/2006/main">
            <a:off x="4286250" y="5238750"/>
            <a:ext cx="3143250" cy="419100"/>
          </a:xfrm>
          <a:prstGeom xmlns:a="http://schemas.openxmlformats.org/drawingml/2006/main" prst="roundRect">
            <a:avLst>
              <a:gd name="adj" fmla="val 18182"/>
            </a:avLst>
          </a:prstGeom>
          <a:solidFill xmlns:a="http://schemas.openxmlformats.org/drawingml/2006/main">
            <a:srgbClr val="0B2035"/>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080E623-E761-4515-9D48-C10A9E5A6D8D}"/>
              </a:ext>
            </a:extLst>
          </p:cNvPr>
          <p:cNvSpPr>
            <a:spLocks xmlns:a="http://schemas.openxmlformats.org/drawingml/2006/main" noGrp="1"/>
          </p:cNvSpPr>
          <p:nvPr/>
        </p:nvSpPr>
        <p:spPr>
          <a:xfrm xmlns:a="http://schemas.openxmlformats.org/drawingml/2006/main">
            <a:off x="4286250" y="5238750"/>
            <a:ext cx="66675" cy="4191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C4217032-5E3D-438E-A37B-9957C784876D}"/>
              </a:ext>
            </a:extLst>
          </p:cNvPr>
          <p:cNvSpPr>
            <a:spLocks xmlns:a="http://schemas.openxmlformats.org/drawingml/2006/main" noGrp="1"/>
          </p:cNvSpPr>
          <p:nvPr/>
        </p:nvSpPr>
        <p:spPr>
          <a:xfrm xmlns:a="http://schemas.openxmlformats.org/drawingml/2006/main">
            <a:off x="4457700" y="5267325"/>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资料 90 天确认</a:t>
            </a:r>
          </a:p>
        </p:txBody>
      </p:sp>
      <p:sp>
        <p:nvSpPr>
          <p:cNvPr id="46" name="">
            <a:extLst xmlns:a="http://schemas.openxmlformats.org/drawingml/2006/main">
              <a:ext uri="{FF2B5EF4-FFF2-40B4-BE49-F238E27FC236}">
                <a16:creationId xmlns:a16="http://schemas.microsoft.com/office/drawing/2014/main" id="{5A91714C-4682-46B4-84A8-DEC5D532D51E}"/>
              </a:ext>
            </a:extLst>
          </p:cNvPr>
          <p:cNvSpPr>
            <a:spLocks xmlns:a="http://schemas.openxmlformats.org/drawingml/2006/main" noGrp="1"/>
          </p:cNvSpPr>
          <p:nvPr/>
        </p:nvSpPr>
        <p:spPr>
          <a:xfrm xmlns:a="http://schemas.openxmlformats.org/drawingml/2006/main">
            <a:off x="666750" y="5972175"/>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F1B84B"/>
                </a:solidFill>
                <a:latin typeface="Arial Unicode MS"/>
                <a:ea typeface="Arial Unicode MS"/>
                <a:cs typeface="Arial Unicode MS"/>
              </a:defRPr>
            </a:defPPr>
          </a:lstStyle>
          <a:p xmlns:a="http://schemas.openxmlformats.org/drawingml/2006/main">
            <a:pPr algn="l">
              <a:defRPr sz="1050" b="0">
                <a:solidFill>
                  <a:srgbClr val="F1B84B"/>
                </a:solidFill>
                <a:latin typeface="Arial Unicode MS"/>
                <a:ea typeface="Arial Unicode MS"/>
                <a:cs typeface="Arial Unicode MS"/>
              </a:defRPr>
            </a:pPr>
            <a:r>
              <a:rPr sz="1050" b="0">
                <a:solidFill>
                  <a:srgbClr val="F1B84B"/>
                </a:solidFill>
                <a:latin typeface="Arial Unicode MS"/>
                <a:ea typeface="Arial Unicode MS"/>
                <a:cs typeface="Arial Unicode MS"/>
              </a:rPr>
              <a:t>正常退出建议等待 21 天；调查、停权和冷却期间不得提取自质押。</a:t>
            </a:r>
          </a:p>
        </p:txBody>
      </p:sp>
    </p:spTree>
    <p:extLst>
      <p:ext uri="{BB962C8B-B14F-4D97-AF65-F5344CB8AC3E}">
        <p14:creationId xmlns:p14="http://schemas.microsoft.com/office/powerpoint/2010/main" val="1001797323"/>
      </p:ext>
    </p:extLst>
  </p:cSld>
</p:sld>
</file>

<file path=ppt/slides/slide4.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0B3DB5C-33C9-4355-8252-6EA3C7B0B7C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35C89D-FE60-432F-BF1E-D0DFFA6135FD}"/>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03 投票机制</a:t>
            </a:r>
          </a:p>
        </p:txBody>
      </p:sp>
      <p:sp>
        <p:nvSpPr>
          <p:cNvPr id="3" name="">
            <a:extLst xmlns:a="http://schemas.openxmlformats.org/drawingml/2006/main">
              <a:ext uri="{FF2B5EF4-FFF2-40B4-BE49-F238E27FC236}">
                <a16:creationId xmlns:a16="http://schemas.microsoft.com/office/drawing/2014/main" id="{39384E86-E933-4691-8347-86A9EB4F38CE}"/>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一币一份总票权</a:t>
            </a:r>
          </a:p>
        </p:txBody>
      </p:sp>
      <p:sp>
        <p:nvSpPr>
          <p:cNvPr id="4" name="">
            <a:extLst xmlns:a="http://schemas.openxmlformats.org/drawingml/2006/main">
              <a:ext uri="{FF2B5EF4-FFF2-40B4-BE49-F238E27FC236}">
                <a16:creationId xmlns:a16="http://schemas.microsoft.com/office/drawing/2014/main" id="{1CB5727D-28FD-4BE6-923E-3AA9F1D955DD}"/>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22EC633-4EB0-414B-86A8-2FEBCBA570ED}"/>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04</a:t>
            </a:r>
          </a:p>
        </p:txBody>
      </p:sp>
      <p:sp>
        <p:nvSpPr>
          <p:cNvPr id="6" name="">
            <a:extLst xmlns:a="http://schemas.openxmlformats.org/drawingml/2006/main">
              <a:ext uri="{FF2B5EF4-FFF2-40B4-BE49-F238E27FC236}">
                <a16:creationId xmlns:a16="http://schemas.microsoft.com/office/drawing/2014/main" id="{42293F78-2C8C-4C6E-8781-002D80FC88C7}"/>
              </a:ext>
            </a:extLst>
          </p:cNvPr>
          <p:cNvSpPr>
            <a:spLocks xmlns:a="http://schemas.openxmlformats.org/drawingml/2006/main" noGrp="1"/>
          </p:cNvSpPr>
          <p:nvPr/>
        </p:nvSpPr>
        <p:spPr>
          <a:xfrm xmlns:a="http://schemas.openxmlformats.org/drawingml/2006/main">
            <a:off x="762000" y="166687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3150" b="1">
                <a:solidFill>
                  <a:srgbClr val="F7FBFF"/>
                </a:solidFill>
                <a:latin typeface="Arial Unicode MS"/>
                <a:ea typeface="Arial Unicode MS"/>
                <a:cs typeface="Arial Unicode MS"/>
              </a:defRPr>
            </a:defPPr>
          </a:lstStyle>
          <a:p xmlns:a="http://schemas.openxmlformats.org/drawingml/2006/main">
            <a:pPr algn="ctr">
              <a:defRPr sz="3150" b="1">
                <a:solidFill>
                  <a:srgbClr val="F7FBFF"/>
                </a:solidFill>
                <a:latin typeface="Arial Unicode MS"/>
                <a:ea typeface="Arial Unicode MS"/>
                <a:cs typeface="Arial Unicode MS"/>
              </a:defRPr>
            </a:pPr>
            <a:r>
              <a:rPr sz="3150" b="1">
                <a:solidFill>
                  <a:srgbClr val="F7FBFF"/>
                </a:solidFill>
                <a:latin typeface="Arial Unicode MS"/>
                <a:ea typeface="Arial Unicode MS"/>
                <a:cs typeface="Arial Unicode MS"/>
              </a:rPr>
              <a:t>10,000 FLON</a:t>
            </a:r>
          </a:p>
        </p:txBody>
      </p:sp>
      <p:sp>
        <p:nvSpPr>
          <p:cNvPr id="7" name="">
            <a:extLst xmlns:a="http://schemas.openxmlformats.org/drawingml/2006/main">
              <a:ext uri="{FF2B5EF4-FFF2-40B4-BE49-F238E27FC236}">
                <a16:creationId xmlns:a16="http://schemas.microsoft.com/office/drawing/2014/main" id="{9C8AF742-9559-476B-85C3-E4B5A2B59372}"/>
              </a:ext>
            </a:extLst>
          </p:cNvPr>
          <p:cNvSpPr>
            <a:spLocks xmlns:a="http://schemas.openxmlformats.org/drawingml/2006/main" noGrp="1"/>
          </p:cNvSpPr>
          <p:nvPr/>
        </p:nvSpPr>
        <p:spPr>
          <a:xfrm xmlns:a="http://schemas.openxmlformats.org/drawingml/2006/main">
            <a:off x="762000" y="23336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8FA9BB"/>
                </a:solidFill>
                <a:latin typeface="Arial Unicode MS"/>
                <a:ea typeface="Arial Unicode MS"/>
                <a:cs typeface="Arial Unicode MS"/>
              </a:defRPr>
            </a:defPPr>
          </a:lstStyle>
          <a:p xmlns:a="http://schemas.openxmlformats.org/drawingml/2006/main">
            <a:pPr algn="ctr">
              <a:defRPr sz="1275" b="0">
                <a:solidFill>
                  <a:srgbClr val="8FA9BB"/>
                </a:solidFill>
                <a:latin typeface="Arial Unicode MS"/>
                <a:ea typeface="Arial Unicode MS"/>
                <a:cs typeface="Arial Unicode MS"/>
              </a:defRPr>
            </a:pPr>
            <a:r>
              <a:rPr sz="1275" b="0">
                <a:solidFill>
                  <a:srgbClr val="8FA9BB"/>
                </a:solidFill>
                <a:latin typeface="Arial Unicode MS"/>
                <a:ea typeface="Arial Unicode MS"/>
                <a:cs typeface="Arial Unicode MS"/>
              </a:rPr>
              <a:t>锁仓并铸造 10,000 GLON</a:t>
            </a:r>
          </a:p>
        </p:txBody>
      </p:sp>
      <p:sp>
        <p:nvSpPr>
          <p:cNvPr id="8" name="">
            <a:extLst xmlns:a="http://schemas.openxmlformats.org/drawingml/2006/main">
              <a:ext uri="{FF2B5EF4-FFF2-40B4-BE49-F238E27FC236}">
                <a16:creationId xmlns:a16="http://schemas.microsoft.com/office/drawing/2014/main" id="{76AF33EA-CBB0-4869-B09B-516F6D12D01B}"/>
              </a:ext>
            </a:extLst>
          </p:cNvPr>
          <p:cNvSpPr>
            <a:spLocks xmlns:a="http://schemas.openxmlformats.org/drawingml/2006/main" noGrp="1"/>
          </p:cNvSpPr>
          <p:nvPr/>
        </p:nvSpPr>
        <p:spPr>
          <a:xfrm xmlns:a="http://schemas.openxmlformats.org/drawingml/2006/main">
            <a:off x="3762375" y="1952625"/>
            <a:ext cx="857250" cy="381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2D6DF09-4CBE-4EF7-82D7-4D939954B5A2}"/>
              </a:ext>
            </a:extLst>
          </p:cNvPr>
          <p:cNvSpPr>
            <a:spLocks xmlns:a="http://schemas.openxmlformats.org/drawingml/2006/main" noGrp="1"/>
          </p:cNvSpPr>
          <p:nvPr/>
        </p:nvSpPr>
        <p:spPr>
          <a:xfrm xmlns:a="http://schemas.openxmlformats.org/drawingml/2006/main">
            <a:off x="4762500" y="166687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550" b="1">
                <a:solidFill>
                  <a:srgbClr val="4DE3D1"/>
                </a:solidFill>
                <a:latin typeface="Arial Unicode MS"/>
                <a:ea typeface="Arial Unicode MS"/>
                <a:cs typeface="Arial Unicode MS"/>
              </a:defRPr>
            </a:defPPr>
          </a:lstStyle>
          <a:p xmlns:a="http://schemas.openxmlformats.org/drawingml/2006/main">
            <a:pPr algn="ctr">
              <a:defRPr sz="2550" b="1">
                <a:solidFill>
                  <a:srgbClr val="4DE3D1"/>
                </a:solidFill>
                <a:latin typeface="Arial Unicode MS"/>
                <a:ea typeface="Arial Unicode MS"/>
                <a:cs typeface="Arial Unicode MS"/>
              </a:defRPr>
            </a:pPr>
            <a:r>
              <a:rPr sz="2550" b="1">
                <a:solidFill>
                  <a:srgbClr val="4DE3D1"/>
                </a:solidFill>
                <a:latin typeface="Arial Unicode MS"/>
                <a:ea typeface="Arial Unicode MS"/>
                <a:cs typeface="Arial Unicode MS"/>
              </a:rPr>
              <a:t>选择 5 个 BP</a:t>
            </a:r>
          </a:p>
        </p:txBody>
      </p:sp>
      <p:sp>
        <p:nvSpPr>
          <p:cNvPr id="10" name="">
            <a:extLst xmlns:a="http://schemas.openxmlformats.org/drawingml/2006/main">
              <a:ext uri="{FF2B5EF4-FFF2-40B4-BE49-F238E27FC236}">
                <a16:creationId xmlns:a16="http://schemas.microsoft.com/office/drawing/2014/main" id="{71777802-A4BA-4F7C-940D-183B7957990A}"/>
              </a:ext>
            </a:extLst>
          </p:cNvPr>
          <p:cNvSpPr>
            <a:spLocks xmlns:a="http://schemas.openxmlformats.org/drawingml/2006/main" noGrp="1"/>
          </p:cNvSpPr>
          <p:nvPr/>
        </p:nvSpPr>
        <p:spPr>
          <a:xfrm xmlns:a="http://schemas.openxmlformats.org/drawingml/2006/main">
            <a:off x="4762500" y="23336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8FA9BB"/>
                </a:solidFill>
                <a:latin typeface="Arial Unicode MS"/>
                <a:ea typeface="Arial Unicode MS"/>
                <a:cs typeface="Arial Unicode MS"/>
              </a:defRPr>
            </a:defPPr>
          </a:lstStyle>
          <a:p xmlns:a="http://schemas.openxmlformats.org/drawingml/2006/main">
            <a:pPr algn="ctr">
              <a:defRPr sz="1275" b="0">
                <a:solidFill>
                  <a:srgbClr val="8FA9BB"/>
                </a:solidFill>
                <a:latin typeface="Arial Unicode MS"/>
                <a:ea typeface="Arial Unicode MS"/>
                <a:cs typeface="Arial Unicode MS"/>
              </a:defRPr>
            </a:pPr>
            <a:r>
              <a:rPr sz="1275" b="0">
                <a:solidFill>
                  <a:srgbClr val="8FA9BB"/>
                </a:solidFill>
                <a:latin typeface="Arial Unicode MS"/>
                <a:ea typeface="Arial Unicode MS"/>
                <a:cs typeface="Arial Unicode MS"/>
              </a:rPr>
              <a:t>票权平均分配</a:t>
            </a:r>
          </a:p>
        </p:txBody>
      </p:sp>
      <p:sp>
        <p:nvSpPr>
          <p:cNvPr id="11" name="">
            <a:extLst xmlns:a="http://schemas.openxmlformats.org/drawingml/2006/main">
              <a:ext uri="{FF2B5EF4-FFF2-40B4-BE49-F238E27FC236}">
                <a16:creationId xmlns:a16="http://schemas.microsoft.com/office/drawing/2014/main" id="{11088F9B-E7FA-4F7F-885C-6DD0272FDDF7}"/>
              </a:ext>
            </a:extLst>
          </p:cNvPr>
          <p:cNvSpPr>
            <a:spLocks xmlns:a="http://schemas.openxmlformats.org/drawingml/2006/main" noGrp="1"/>
          </p:cNvSpPr>
          <p:nvPr/>
        </p:nvSpPr>
        <p:spPr>
          <a:xfrm xmlns:a="http://schemas.openxmlformats.org/drawingml/2006/main">
            <a:off x="7715250" y="1952625"/>
            <a:ext cx="857250" cy="381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59F46CE-10BF-4120-B5FE-C04905032460}"/>
              </a:ext>
            </a:extLst>
          </p:cNvPr>
          <p:cNvSpPr>
            <a:spLocks xmlns:a="http://schemas.openxmlformats.org/drawingml/2006/main" noGrp="1"/>
          </p:cNvSpPr>
          <p:nvPr/>
        </p:nvSpPr>
        <p:spPr>
          <a:xfrm xmlns:a="http://schemas.openxmlformats.org/drawingml/2006/main">
            <a:off x="8715375" y="1666875"/>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3150" b="1">
                <a:solidFill>
                  <a:srgbClr val="F1B84B"/>
                </a:solidFill>
                <a:latin typeface="Arial Unicode MS"/>
                <a:ea typeface="Arial Unicode MS"/>
                <a:cs typeface="Arial Unicode MS"/>
              </a:defRPr>
            </a:defPPr>
          </a:lstStyle>
          <a:p xmlns:a="http://schemas.openxmlformats.org/drawingml/2006/main">
            <a:pPr algn="ctr">
              <a:defRPr sz="3150" b="1">
                <a:solidFill>
                  <a:srgbClr val="F1B84B"/>
                </a:solidFill>
                <a:latin typeface="Arial Unicode MS"/>
                <a:ea typeface="Arial Unicode MS"/>
                <a:cs typeface="Arial Unicode MS"/>
              </a:defRPr>
            </a:pPr>
            <a:r>
              <a:rPr sz="3150" b="1">
                <a:solidFill>
                  <a:srgbClr val="F1B84B"/>
                </a:solidFill>
                <a:latin typeface="Arial Unicode MS"/>
                <a:ea typeface="Arial Unicode MS"/>
                <a:cs typeface="Arial Unicode MS"/>
              </a:rPr>
              <a:t>每个 2,000</a:t>
            </a:r>
          </a:p>
        </p:txBody>
      </p:sp>
      <p:sp>
        <p:nvSpPr>
          <p:cNvPr id="13" name="">
            <a:extLst xmlns:a="http://schemas.openxmlformats.org/drawingml/2006/main">
              <a:ext uri="{FF2B5EF4-FFF2-40B4-BE49-F238E27FC236}">
                <a16:creationId xmlns:a16="http://schemas.microsoft.com/office/drawing/2014/main" id="{ADE6CD58-41DF-40F8-B85E-21356161F3C8}"/>
              </a:ext>
            </a:extLst>
          </p:cNvPr>
          <p:cNvSpPr>
            <a:spLocks xmlns:a="http://schemas.openxmlformats.org/drawingml/2006/main" noGrp="1"/>
          </p:cNvSpPr>
          <p:nvPr/>
        </p:nvSpPr>
        <p:spPr>
          <a:xfrm xmlns:a="http://schemas.openxmlformats.org/drawingml/2006/main">
            <a:off x="8715375" y="23336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8FA9BB"/>
                </a:solidFill>
                <a:latin typeface="Arial Unicode MS"/>
                <a:ea typeface="Arial Unicode MS"/>
                <a:cs typeface="Arial Unicode MS"/>
              </a:defRPr>
            </a:defPPr>
          </a:lstStyle>
          <a:p xmlns:a="http://schemas.openxmlformats.org/drawingml/2006/main">
            <a:pPr algn="ctr">
              <a:defRPr sz="1275" b="0">
                <a:solidFill>
                  <a:srgbClr val="8FA9BB"/>
                </a:solidFill>
                <a:latin typeface="Arial Unicode MS"/>
                <a:ea typeface="Arial Unicode MS"/>
                <a:cs typeface="Arial Unicode MS"/>
              </a:defRPr>
            </a:pPr>
            <a:r>
              <a:rPr sz="1275" b="0">
                <a:solidFill>
                  <a:srgbClr val="8FA9BB"/>
                </a:solidFill>
                <a:latin typeface="Arial Unicode MS"/>
                <a:ea typeface="Arial Unicode MS"/>
                <a:cs typeface="Arial Unicode MS"/>
              </a:rPr>
              <a:t>总票权没有复制</a:t>
            </a:r>
          </a:p>
        </p:txBody>
      </p:sp>
      <p:sp>
        <p:nvSpPr>
          <p:cNvPr id="14" name="">
            <a:extLst xmlns:a="http://schemas.openxmlformats.org/drawingml/2006/main">
              <a:ext uri="{FF2B5EF4-FFF2-40B4-BE49-F238E27FC236}">
                <a16:creationId xmlns:a16="http://schemas.microsoft.com/office/drawing/2014/main" id="{64B4DA23-3C1E-497F-A3F2-91A99248CDD5}"/>
              </a:ext>
            </a:extLst>
          </p:cNvPr>
          <p:cNvSpPr>
            <a:spLocks xmlns:a="http://schemas.openxmlformats.org/drawingml/2006/main" noGrp="1"/>
          </p:cNvSpPr>
          <p:nvPr/>
        </p:nvSpPr>
        <p:spPr>
          <a:xfrm xmlns:a="http://schemas.openxmlformats.org/drawingml/2006/main">
            <a:off x="714375" y="3000375"/>
            <a:ext cx="1066800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30C0634-7119-40DA-A62E-6A9E8AE23506}"/>
              </a:ext>
            </a:extLst>
          </p:cNvPr>
          <p:cNvSpPr>
            <a:spLocks xmlns:a="http://schemas.openxmlformats.org/drawingml/2006/main" noGrp="1"/>
          </p:cNvSpPr>
          <p:nvPr/>
        </p:nvSpPr>
        <p:spPr>
          <a:xfrm xmlns:a="http://schemas.openxmlformats.org/drawingml/2006/main">
            <a:off x="762000" y="33528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a:solidFill>
                  <a:srgbClr val="F7FBFF"/>
                </a:solidFill>
                <a:latin typeface="Arial Unicode MS"/>
                <a:ea typeface="Arial Unicode MS"/>
                <a:cs typeface="Arial Unicode MS"/>
              </a:defRPr>
            </a:defPPr>
          </a:lstStyle>
          <a:p xmlns:a="http://schemas.openxmlformats.org/drawingml/2006/main">
            <a:pPr algn="l">
              <a:defRPr sz="1725" b="1">
                <a:solidFill>
                  <a:srgbClr val="F7FBFF"/>
                </a:solidFill>
                <a:latin typeface="Arial Unicode MS"/>
                <a:ea typeface="Arial Unicode MS"/>
                <a:cs typeface="Arial Unicode MS"/>
              </a:defRPr>
            </a:pPr>
            <a:r>
              <a:rPr sz="1725" b="1">
                <a:solidFill>
                  <a:srgbClr val="F7FBFF"/>
                </a:solidFill>
                <a:latin typeface="Arial Unicode MS"/>
                <a:ea typeface="Arial Unicode MS"/>
                <a:cs typeface="Arial Unicode MS"/>
              </a:rPr>
              <a:t>排名票权</a:t>
            </a:r>
          </a:p>
        </p:txBody>
      </p:sp>
      <p:sp>
        <p:nvSpPr>
          <p:cNvPr id="16" name="">
            <a:extLst xmlns:a="http://schemas.openxmlformats.org/drawingml/2006/main">
              <a:ext uri="{FF2B5EF4-FFF2-40B4-BE49-F238E27FC236}">
                <a16:creationId xmlns:a16="http://schemas.microsoft.com/office/drawing/2014/main" id="{A09E3A6D-DF07-4F38-9935-E68EBCDA42C6}"/>
              </a:ext>
            </a:extLst>
          </p:cNvPr>
          <p:cNvSpPr>
            <a:spLocks xmlns:a="http://schemas.openxmlformats.org/drawingml/2006/main" noGrp="1"/>
          </p:cNvSpPr>
          <p:nvPr/>
        </p:nvSpPr>
        <p:spPr>
          <a:xfrm xmlns:a="http://schemas.openxmlformats.org/drawingml/2006/main">
            <a:off x="762000" y="38290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raw weight = 自质押 + 投票人平均分票</a:t>
            </a:r>
          </a:p>
        </p:txBody>
      </p:sp>
      <p:sp>
        <p:nvSpPr>
          <p:cNvPr id="17" name="">
            <a:extLst xmlns:a="http://schemas.openxmlformats.org/drawingml/2006/main">
              <a:ext uri="{FF2B5EF4-FFF2-40B4-BE49-F238E27FC236}">
                <a16:creationId xmlns:a16="http://schemas.microsoft.com/office/drawing/2014/main" id="{07D37D45-E414-40F4-90A8-5ABC8980579C}"/>
              </a:ext>
            </a:extLst>
          </p:cNvPr>
          <p:cNvSpPr>
            <a:spLocks xmlns:a="http://schemas.openxmlformats.org/drawingml/2006/main" noGrp="1"/>
          </p:cNvSpPr>
          <p:nvPr/>
        </p:nvSpPr>
        <p:spPr>
          <a:xfrm xmlns:a="http://schemas.openxmlformats.org/drawingml/2006/main">
            <a:off x="762000" y="4257675"/>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ranking weight = min(raw weight, 全网有效票权 × 5%)</a:t>
            </a:r>
          </a:p>
        </p:txBody>
      </p:sp>
      <p:sp>
        <p:nvSpPr>
          <p:cNvPr id="18" name="">
            <a:extLst xmlns:a="http://schemas.openxmlformats.org/drawingml/2006/main">
              <a:ext uri="{FF2B5EF4-FFF2-40B4-BE49-F238E27FC236}">
                <a16:creationId xmlns:a16="http://schemas.microsoft.com/office/drawing/2014/main" id="{10A7CFCC-968A-4CB4-9E01-D864D8429AC8}"/>
              </a:ext>
            </a:extLst>
          </p:cNvPr>
          <p:cNvSpPr>
            <a:spLocks xmlns:a="http://schemas.openxmlformats.org/drawingml/2006/main" noGrp="1"/>
          </p:cNvSpPr>
          <p:nvPr/>
        </p:nvSpPr>
        <p:spPr>
          <a:xfrm xmlns:a="http://schemas.openxmlformats.org/drawingml/2006/main">
            <a:off x="762000" y="46863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ranking score = ranking weight × 绩效系数</a:t>
            </a:r>
          </a:p>
        </p:txBody>
      </p:sp>
      <p:sp>
        <p:nvSpPr>
          <p:cNvPr id="19" name="">
            <a:extLst xmlns:a="http://schemas.openxmlformats.org/drawingml/2006/main">
              <a:ext uri="{FF2B5EF4-FFF2-40B4-BE49-F238E27FC236}">
                <a16:creationId xmlns:a16="http://schemas.microsoft.com/office/drawing/2014/main" id="{8D2628DE-BC54-49EE-8217-A533F175DF8A}"/>
              </a:ext>
            </a:extLst>
          </p:cNvPr>
          <p:cNvSpPr>
            <a:spLocks xmlns:a="http://schemas.openxmlformats.org/drawingml/2006/main" noGrp="1"/>
          </p:cNvSpPr>
          <p:nvPr/>
        </p:nvSpPr>
        <p:spPr>
          <a:xfrm xmlns:a="http://schemas.openxmlformats.org/drawingml/2006/main">
            <a:off x="6953250" y="33528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a:solidFill>
                  <a:srgbClr val="F7FBFF"/>
                </a:solidFill>
                <a:latin typeface="Arial Unicode MS"/>
                <a:ea typeface="Arial Unicode MS"/>
                <a:cs typeface="Arial Unicode MS"/>
              </a:defRPr>
            </a:defPPr>
          </a:lstStyle>
          <a:p xmlns:a="http://schemas.openxmlformats.org/drawingml/2006/main">
            <a:pPr algn="l">
              <a:defRPr sz="1725" b="1">
                <a:solidFill>
                  <a:srgbClr val="F7FBFF"/>
                </a:solidFill>
                <a:latin typeface="Arial Unicode MS"/>
                <a:ea typeface="Arial Unicode MS"/>
                <a:cs typeface="Arial Unicode MS"/>
              </a:defRPr>
            </a:pPr>
            <a:r>
              <a:rPr sz="1725" b="1">
                <a:solidFill>
                  <a:srgbClr val="F7FBFF"/>
                </a:solidFill>
                <a:latin typeface="Arial Unicode MS"/>
                <a:ea typeface="Arial Unicode MS"/>
                <a:cs typeface="Arial Unicode MS"/>
              </a:rPr>
              <a:t>票权新鲜度</a:t>
            </a:r>
          </a:p>
        </p:txBody>
      </p:sp>
      <p:sp>
        <p:nvSpPr>
          <p:cNvPr id="20" name="">
            <a:extLst xmlns:a="http://schemas.openxmlformats.org/drawingml/2006/main">
              <a:ext uri="{FF2B5EF4-FFF2-40B4-BE49-F238E27FC236}">
                <a16:creationId xmlns:a16="http://schemas.microsoft.com/office/drawing/2014/main" id="{91177011-154A-4E51-AD80-2BAED699BF90}"/>
              </a:ext>
            </a:extLst>
          </p:cNvPr>
          <p:cNvSpPr>
            <a:spLocks xmlns:a="http://schemas.openxmlformats.org/drawingml/2006/main" noGrp="1"/>
          </p:cNvSpPr>
          <p:nvPr/>
        </p:nvSpPr>
        <p:spPr>
          <a:xfrm xmlns:a="http://schemas.openxmlformats.org/drawingml/2006/main">
            <a:off x="6953250" y="3829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D7E7F2"/>
                </a:solidFill>
                <a:latin typeface="Arial Unicode MS"/>
                <a:ea typeface="Arial Unicode MS"/>
                <a:cs typeface="Arial Unicode MS"/>
              </a:defRPr>
            </a:defPPr>
          </a:lstStyle>
          <a:p xmlns:a="http://schemas.openxmlformats.org/drawingml/2006/main">
            <a:pPr algn="l">
              <a:defRPr sz="1200" b="0">
                <a:solidFill>
                  <a:srgbClr val="D7E7F2"/>
                </a:solidFill>
                <a:latin typeface="Arial Unicode MS"/>
                <a:ea typeface="Arial Unicode MS"/>
                <a:cs typeface="Arial Unicode MS"/>
              </a:defRPr>
            </a:pPr>
            <a:r>
              <a:rPr sz="1200" b="0">
                <a:solidFill>
                  <a:srgbClr val="D7E7F2"/>
                </a:solidFill>
                <a:latin typeface="Arial Unicode MS"/>
                <a:ea typeface="Arial Unicode MS"/>
                <a:cs typeface="Arial Unicode MS"/>
              </a:rPr>
              <a:t>0–90 天</a:t>
            </a:r>
          </a:p>
        </p:txBody>
      </p:sp>
      <p:sp>
        <p:nvSpPr>
          <p:cNvPr id="21" name="">
            <a:extLst xmlns:a="http://schemas.openxmlformats.org/drawingml/2006/main">
              <a:ext uri="{FF2B5EF4-FFF2-40B4-BE49-F238E27FC236}">
                <a16:creationId xmlns:a16="http://schemas.microsoft.com/office/drawing/2014/main" id="{FC467341-E0F5-4149-80FC-05FF78AEF6B0}"/>
              </a:ext>
            </a:extLst>
          </p:cNvPr>
          <p:cNvSpPr>
            <a:spLocks xmlns:a="http://schemas.openxmlformats.org/drawingml/2006/main" noGrp="1"/>
          </p:cNvSpPr>
          <p:nvPr/>
        </p:nvSpPr>
        <p:spPr>
          <a:xfrm xmlns:a="http://schemas.openxmlformats.org/drawingml/2006/main">
            <a:off x="8667750" y="3905250"/>
            <a:ext cx="2000250" cy="133350"/>
          </a:xfrm>
          <a:prstGeom xmlns:a="http://schemas.openxmlformats.org/drawingml/2006/main" prst="roundRect">
            <a:avLst>
              <a:gd name="adj" fmla="val 50000"/>
            </a:avLst>
          </a:prstGeom>
          <a:solidFill xmlns:a="http://schemas.openxmlformats.org/drawingml/2006/main">
            <a:srgbClr val="4DE3D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354B2E3-0D62-421C-92D3-5FA7E1186EAF}"/>
              </a:ext>
            </a:extLst>
          </p:cNvPr>
          <p:cNvSpPr>
            <a:spLocks xmlns:a="http://schemas.openxmlformats.org/drawingml/2006/main" noGrp="1"/>
          </p:cNvSpPr>
          <p:nvPr/>
        </p:nvSpPr>
        <p:spPr>
          <a:xfrm xmlns:a="http://schemas.openxmlformats.org/drawingml/2006/main">
            <a:off x="10763250" y="3829050"/>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r">
              <a:defRPr sz="1125" b="1">
                <a:solidFill>
                  <a:srgbClr val="F7FBFF"/>
                </a:solidFill>
                <a:latin typeface="Arial Unicode MS"/>
                <a:ea typeface="Arial Unicode MS"/>
                <a:cs typeface="Arial Unicode MS"/>
              </a:defRPr>
            </a:defPPr>
          </a:lstStyle>
          <a:p xmlns:a="http://schemas.openxmlformats.org/drawingml/2006/main">
            <a:pPr algn="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100%</a:t>
            </a:r>
          </a:p>
        </p:txBody>
      </p:sp>
      <p:sp>
        <p:nvSpPr>
          <p:cNvPr id="23" name="">
            <a:extLst xmlns:a="http://schemas.openxmlformats.org/drawingml/2006/main">
              <a:ext uri="{FF2B5EF4-FFF2-40B4-BE49-F238E27FC236}">
                <a16:creationId xmlns:a16="http://schemas.microsoft.com/office/drawing/2014/main" id="{16EE64A8-149F-435F-BACC-43661701F9E7}"/>
              </a:ext>
            </a:extLst>
          </p:cNvPr>
          <p:cNvSpPr>
            <a:spLocks xmlns:a="http://schemas.openxmlformats.org/drawingml/2006/main" noGrp="1"/>
          </p:cNvSpPr>
          <p:nvPr/>
        </p:nvSpPr>
        <p:spPr>
          <a:xfrm xmlns:a="http://schemas.openxmlformats.org/drawingml/2006/main">
            <a:off x="6953250" y="42005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D7E7F2"/>
                </a:solidFill>
                <a:latin typeface="Arial Unicode MS"/>
                <a:ea typeface="Arial Unicode MS"/>
                <a:cs typeface="Arial Unicode MS"/>
              </a:defRPr>
            </a:defPPr>
          </a:lstStyle>
          <a:p xmlns:a="http://schemas.openxmlformats.org/drawingml/2006/main">
            <a:pPr algn="l">
              <a:defRPr sz="1200" b="0">
                <a:solidFill>
                  <a:srgbClr val="D7E7F2"/>
                </a:solidFill>
                <a:latin typeface="Arial Unicode MS"/>
                <a:ea typeface="Arial Unicode MS"/>
                <a:cs typeface="Arial Unicode MS"/>
              </a:defRPr>
            </a:pPr>
            <a:r>
              <a:rPr sz="1200" b="0">
                <a:solidFill>
                  <a:srgbClr val="D7E7F2"/>
                </a:solidFill>
                <a:latin typeface="Arial Unicode MS"/>
                <a:ea typeface="Arial Unicode MS"/>
                <a:cs typeface="Arial Unicode MS"/>
              </a:rPr>
              <a:t>91–120</a:t>
            </a:r>
          </a:p>
        </p:txBody>
      </p:sp>
      <p:sp>
        <p:nvSpPr>
          <p:cNvPr id="24" name="">
            <a:extLst xmlns:a="http://schemas.openxmlformats.org/drawingml/2006/main">
              <a:ext uri="{FF2B5EF4-FFF2-40B4-BE49-F238E27FC236}">
                <a16:creationId xmlns:a16="http://schemas.microsoft.com/office/drawing/2014/main" id="{14F8FBAF-5B4E-4FD3-8591-29E495F0EC85}"/>
              </a:ext>
            </a:extLst>
          </p:cNvPr>
          <p:cNvSpPr>
            <a:spLocks xmlns:a="http://schemas.openxmlformats.org/drawingml/2006/main" noGrp="1"/>
          </p:cNvSpPr>
          <p:nvPr/>
        </p:nvSpPr>
        <p:spPr>
          <a:xfrm xmlns:a="http://schemas.openxmlformats.org/drawingml/2006/main">
            <a:off x="8667750" y="4276725"/>
            <a:ext cx="1500188" cy="133350"/>
          </a:xfrm>
          <a:prstGeom xmlns:a="http://schemas.openxmlformats.org/drawingml/2006/main" prst="roundRect">
            <a:avLst>
              <a:gd name="adj" fmla="val 50000"/>
            </a:avLst>
          </a:prstGeom>
          <a:solidFill xmlns:a="http://schemas.openxmlformats.org/drawingml/2006/main">
            <a:srgbClr val="4DE3D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1F0B115-52E6-47C5-B5A6-8B208D914FCD}"/>
              </a:ext>
            </a:extLst>
          </p:cNvPr>
          <p:cNvSpPr>
            <a:spLocks xmlns:a="http://schemas.openxmlformats.org/drawingml/2006/main" noGrp="1"/>
          </p:cNvSpPr>
          <p:nvPr/>
        </p:nvSpPr>
        <p:spPr>
          <a:xfrm xmlns:a="http://schemas.openxmlformats.org/drawingml/2006/main">
            <a:off x="10763250" y="4200525"/>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r">
              <a:defRPr sz="1125" b="1">
                <a:solidFill>
                  <a:srgbClr val="F7FBFF"/>
                </a:solidFill>
                <a:latin typeface="Arial Unicode MS"/>
                <a:ea typeface="Arial Unicode MS"/>
                <a:cs typeface="Arial Unicode MS"/>
              </a:defRPr>
            </a:defPPr>
          </a:lstStyle>
          <a:p xmlns:a="http://schemas.openxmlformats.org/drawingml/2006/main">
            <a:pPr algn="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75%</a:t>
            </a:r>
          </a:p>
        </p:txBody>
      </p:sp>
      <p:sp>
        <p:nvSpPr>
          <p:cNvPr id="26" name="">
            <a:extLst xmlns:a="http://schemas.openxmlformats.org/drawingml/2006/main">
              <a:ext uri="{FF2B5EF4-FFF2-40B4-BE49-F238E27FC236}">
                <a16:creationId xmlns:a16="http://schemas.microsoft.com/office/drawing/2014/main" id="{9D8A96B4-FE30-4ACA-BD86-6C6C86E09CA7}"/>
              </a:ext>
            </a:extLst>
          </p:cNvPr>
          <p:cNvSpPr>
            <a:spLocks xmlns:a="http://schemas.openxmlformats.org/drawingml/2006/main" noGrp="1"/>
          </p:cNvSpPr>
          <p:nvPr/>
        </p:nvSpPr>
        <p:spPr>
          <a:xfrm xmlns:a="http://schemas.openxmlformats.org/drawingml/2006/main">
            <a:off x="6953250" y="45720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D7E7F2"/>
                </a:solidFill>
                <a:latin typeface="Arial Unicode MS"/>
                <a:ea typeface="Arial Unicode MS"/>
                <a:cs typeface="Arial Unicode MS"/>
              </a:defRPr>
            </a:defPPr>
          </a:lstStyle>
          <a:p xmlns:a="http://schemas.openxmlformats.org/drawingml/2006/main">
            <a:pPr algn="l">
              <a:defRPr sz="1200" b="0">
                <a:solidFill>
                  <a:srgbClr val="D7E7F2"/>
                </a:solidFill>
                <a:latin typeface="Arial Unicode MS"/>
                <a:ea typeface="Arial Unicode MS"/>
                <a:cs typeface="Arial Unicode MS"/>
              </a:defRPr>
            </a:pPr>
            <a:r>
              <a:rPr sz="1200" b="0">
                <a:solidFill>
                  <a:srgbClr val="D7E7F2"/>
                </a:solidFill>
                <a:latin typeface="Arial Unicode MS"/>
                <a:ea typeface="Arial Unicode MS"/>
                <a:cs typeface="Arial Unicode MS"/>
              </a:rPr>
              <a:t>121–150</a:t>
            </a:r>
          </a:p>
        </p:txBody>
      </p:sp>
      <p:sp>
        <p:nvSpPr>
          <p:cNvPr id="27" name="">
            <a:extLst xmlns:a="http://schemas.openxmlformats.org/drawingml/2006/main">
              <a:ext uri="{FF2B5EF4-FFF2-40B4-BE49-F238E27FC236}">
                <a16:creationId xmlns:a16="http://schemas.microsoft.com/office/drawing/2014/main" id="{28147BF1-A38D-46A1-8696-BEED0ABA1E82}"/>
              </a:ext>
            </a:extLst>
          </p:cNvPr>
          <p:cNvSpPr>
            <a:spLocks xmlns:a="http://schemas.openxmlformats.org/drawingml/2006/main" noGrp="1"/>
          </p:cNvSpPr>
          <p:nvPr/>
        </p:nvSpPr>
        <p:spPr>
          <a:xfrm xmlns:a="http://schemas.openxmlformats.org/drawingml/2006/main">
            <a:off x="8667750" y="4648200"/>
            <a:ext cx="1000125" cy="133350"/>
          </a:xfrm>
          <a:prstGeom xmlns:a="http://schemas.openxmlformats.org/drawingml/2006/main" prst="roundRect">
            <a:avLst>
              <a:gd name="adj" fmla="val 50000"/>
            </a:avLst>
          </a:prstGeom>
          <a:solidFill xmlns:a="http://schemas.openxmlformats.org/drawingml/2006/main">
            <a:srgbClr val="4DE3D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8617AEB-EE37-43C5-9259-439B7AF8FDC8}"/>
              </a:ext>
            </a:extLst>
          </p:cNvPr>
          <p:cNvSpPr>
            <a:spLocks xmlns:a="http://schemas.openxmlformats.org/drawingml/2006/main" noGrp="1"/>
          </p:cNvSpPr>
          <p:nvPr/>
        </p:nvSpPr>
        <p:spPr>
          <a:xfrm xmlns:a="http://schemas.openxmlformats.org/drawingml/2006/main">
            <a:off x="10763250" y="4572000"/>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r">
              <a:defRPr sz="1125" b="1">
                <a:solidFill>
                  <a:srgbClr val="F7FBFF"/>
                </a:solidFill>
                <a:latin typeface="Arial Unicode MS"/>
                <a:ea typeface="Arial Unicode MS"/>
                <a:cs typeface="Arial Unicode MS"/>
              </a:defRPr>
            </a:defPPr>
          </a:lstStyle>
          <a:p xmlns:a="http://schemas.openxmlformats.org/drawingml/2006/main">
            <a:pPr algn="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50%</a:t>
            </a:r>
          </a:p>
        </p:txBody>
      </p:sp>
      <p:sp>
        <p:nvSpPr>
          <p:cNvPr id="29" name="">
            <a:extLst xmlns:a="http://schemas.openxmlformats.org/drawingml/2006/main">
              <a:ext uri="{FF2B5EF4-FFF2-40B4-BE49-F238E27FC236}">
                <a16:creationId xmlns:a16="http://schemas.microsoft.com/office/drawing/2014/main" id="{6F684313-2536-46DA-963D-46AEB3DC5636}"/>
              </a:ext>
            </a:extLst>
          </p:cNvPr>
          <p:cNvSpPr>
            <a:spLocks xmlns:a="http://schemas.openxmlformats.org/drawingml/2006/main" noGrp="1"/>
          </p:cNvSpPr>
          <p:nvPr/>
        </p:nvSpPr>
        <p:spPr>
          <a:xfrm xmlns:a="http://schemas.openxmlformats.org/drawingml/2006/main">
            <a:off x="6953250" y="49434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D7E7F2"/>
                </a:solidFill>
                <a:latin typeface="Arial Unicode MS"/>
                <a:ea typeface="Arial Unicode MS"/>
                <a:cs typeface="Arial Unicode MS"/>
              </a:defRPr>
            </a:defPPr>
          </a:lstStyle>
          <a:p xmlns:a="http://schemas.openxmlformats.org/drawingml/2006/main">
            <a:pPr algn="l">
              <a:defRPr sz="1200" b="0">
                <a:solidFill>
                  <a:srgbClr val="D7E7F2"/>
                </a:solidFill>
                <a:latin typeface="Arial Unicode MS"/>
                <a:ea typeface="Arial Unicode MS"/>
                <a:cs typeface="Arial Unicode MS"/>
              </a:defRPr>
            </a:pPr>
            <a:r>
              <a:rPr sz="1200" b="0">
                <a:solidFill>
                  <a:srgbClr val="D7E7F2"/>
                </a:solidFill>
                <a:latin typeface="Arial Unicode MS"/>
                <a:ea typeface="Arial Unicode MS"/>
                <a:cs typeface="Arial Unicode MS"/>
              </a:rPr>
              <a:t>151–180</a:t>
            </a:r>
          </a:p>
        </p:txBody>
      </p:sp>
      <p:sp>
        <p:nvSpPr>
          <p:cNvPr id="30" name="">
            <a:extLst xmlns:a="http://schemas.openxmlformats.org/drawingml/2006/main">
              <a:ext uri="{FF2B5EF4-FFF2-40B4-BE49-F238E27FC236}">
                <a16:creationId xmlns:a16="http://schemas.microsoft.com/office/drawing/2014/main" id="{9F18397F-A65B-4A54-95AE-B2CFC469DDDC}"/>
              </a:ext>
            </a:extLst>
          </p:cNvPr>
          <p:cNvSpPr>
            <a:spLocks xmlns:a="http://schemas.openxmlformats.org/drawingml/2006/main" noGrp="1"/>
          </p:cNvSpPr>
          <p:nvPr/>
        </p:nvSpPr>
        <p:spPr>
          <a:xfrm xmlns:a="http://schemas.openxmlformats.org/drawingml/2006/main">
            <a:off x="8667750" y="5019675"/>
            <a:ext cx="500063" cy="133350"/>
          </a:xfrm>
          <a:prstGeom xmlns:a="http://schemas.openxmlformats.org/drawingml/2006/main" prst="roundRect">
            <a:avLst>
              <a:gd name="adj" fmla="val 50000"/>
            </a:avLst>
          </a:prstGeom>
          <a:solidFill xmlns:a="http://schemas.openxmlformats.org/drawingml/2006/main">
            <a:srgbClr val="4DE3D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8CC9AB6-FE1F-4351-B667-15C390391B3F}"/>
              </a:ext>
            </a:extLst>
          </p:cNvPr>
          <p:cNvSpPr>
            <a:spLocks xmlns:a="http://schemas.openxmlformats.org/drawingml/2006/main" noGrp="1"/>
          </p:cNvSpPr>
          <p:nvPr/>
        </p:nvSpPr>
        <p:spPr>
          <a:xfrm xmlns:a="http://schemas.openxmlformats.org/drawingml/2006/main">
            <a:off x="10763250" y="4943475"/>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r">
              <a:defRPr sz="1125" b="1">
                <a:solidFill>
                  <a:srgbClr val="F7FBFF"/>
                </a:solidFill>
                <a:latin typeface="Arial Unicode MS"/>
                <a:ea typeface="Arial Unicode MS"/>
                <a:cs typeface="Arial Unicode MS"/>
              </a:defRPr>
            </a:defPPr>
          </a:lstStyle>
          <a:p xmlns:a="http://schemas.openxmlformats.org/drawingml/2006/main">
            <a:pPr algn="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25%</a:t>
            </a:r>
          </a:p>
        </p:txBody>
      </p:sp>
      <p:sp>
        <p:nvSpPr>
          <p:cNvPr id="32" name="">
            <a:extLst xmlns:a="http://schemas.openxmlformats.org/drawingml/2006/main">
              <a:ext uri="{FF2B5EF4-FFF2-40B4-BE49-F238E27FC236}">
                <a16:creationId xmlns:a16="http://schemas.microsoft.com/office/drawing/2014/main" id="{4615E68A-530A-4448-8A27-4CF75E714E71}"/>
              </a:ext>
            </a:extLst>
          </p:cNvPr>
          <p:cNvSpPr>
            <a:spLocks xmlns:a="http://schemas.openxmlformats.org/drawingml/2006/main" noGrp="1"/>
          </p:cNvSpPr>
          <p:nvPr/>
        </p:nvSpPr>
        <p:spPr>
          <a:xfrm xmlns:a="http://schemas.openxmlformats.org/drawingml/2006/main">
            <a:off x="6953250" y="53149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D7E7F2"/>
                </a:solidFill>
                <a:latin typeface="Arial Unicode MS"/>
                <a:ea typeface="Arial Unicode MS"/>
                <a:cs typeface="Arial Unicode MS"/>
              </a:defRPr>
            </a:defPPr>
          </a:lstStyle>
          <a:p xmlns:a="http://schemas.openxmlformats.org/drawingml/2006/main">
            <a:pPr algn="l">
              <a:defRPr sz="1200" b="0">
                <a:solidFill>
                  <a:srgbClr val="D7E7F2"/>
                </a:solidFill>
                <a:latin typeface="Arial Unicode MS"/>
                <a:ea typeface="Arial Unicode MS"/>
                <a:cs typeface="Arial Unicode MS"/>
              </a:defRPr>
            </a:pPr>
            <a:r>
              <a:rPr sz="1200" b="0">
                <a:solidFill>
                  <a:srgbClr val="D7E7F2"/>
                </a:solidFill>
                <a:latin typeface="Arial Unicode MS"/>
                <a:ea typeface="Arial Unicode MS"/>
                <a:cs typeface="Arial Unicode MS"/>
              </a:rPr>
              <a:t>&gt;180</a:t>
            </a:r>
          </a:p>
        </p:txBody>
      </p:sp>
      <p:sp>
        <p:nvSpPr>
          <p:cNvPr id="33" name="">
            <a:extLst xmlns:a="http://schemas.openxmlformats.org/drawingml/2006/main">
              <a:ext uri="{FF2B5EF4-FFF2-40B4-BE49-F238E27FC236}">
                <a16:creationId xmlns:a16="http://schemas.microsoft.com/office/drawing/2014/main" id="{8C29F055-92EA-42C0-989C-FA023932BE7E}"/>
              </a:ext>
            </a:extLst>
          </p:cNvPr>
          <p:cNvSpPr>
            <a:spLocks xmlns:a="http://schemas.openxmlformats.org/drawingml/2006/main" noGrp="1"/>
          </p:cNvSpPr>
          <p:nvPr/>
        </p:nvSpPr>
        <p:spPr>
          <a:xfrm xmlns:a="http://schemas.openxmlformats.org/drawingml/2006/main">
            <a:off x="8667750" y="5391150"/>
            <a:ext cx="0" cy="133350"/>
          </a:xfrm>
          <a:prstGeom xmlns:a="http://schemas.openxmlformats.org/drawingml/2006/main" prst="roundRect">
            <a:avLst/>
          </a:prstGeom>
          <a:solidFill xmlns:a="http://schemas.openxmlformats.org/drawingml/2006/main">
            <a:srgbClr val="FF7A6E"/>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E7E9DBD-C116-4557-B951-ED9703D1B581}"/>
              </a:ext>
            </a:extLst>
          </p:cNvPr>
          <p:cNvSpPr>
            <a:spLocks xmlns:a="http://schemas.openxmlformats.org/drawingml/2006/main" noGrp="1"/>
          </p:cNvSpPr>
          <p:nvPr/>
        </p:nvSpPr>
        <p:spPr>
          <a:xfrm xmlns:a="http://schemas.openxmlformats.org/drawingml/2006/main">
            <a:off x="10763250" y="5314950"/>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r">
              <a:defRPr sz="1125" b="1">
                <a:solidFill>
                  <a:srgbClr val="FF7A6E"/>
                </a:solidFill>
                <a:latin typeface="Arial Unicode MS"/>
                <a:ea typeface="Arial Unicode MS"/>
                <a:cs typeface="Arial Unicode MS"/>
              </a:defRPr>
            </a:defPPr>
          </a:lstStyle>
          <a:p xmlns:a="http://schemas.openxmlformats.org/drawingml/2006/main">
            <a:pPr algn="r">
              <a:defRPr sz="1125" b="1">
                <a:solidFill>
                  <a:srgbClr val="FF7A6E"/>
                </a:solidFill>
                <a:latin typeface="Arial Unicode MS"/>
                <a:ea typeface="Arial Unicode MS"/>
                <a:cs typeface="Arial Unicode MS"/>
              </a:defRPr>
            </a:pPr>
            <a:r>
              <a:rPr sz="1125" b="1">
                <a:solidFill>
                  <a:srgbClr val="FF7A6E"/>
                </a:solidFill>
                <a:latin typeface="Arial Unicode MS"/>
                <a:ea typeface="Arial Unicode MS"/>
                <a:cs typeface="Arial Unicode MS"/>
              </a:rPr>
              <a:t>0%</a:t>
            </a:r>
          </a:p>
        </p:txBody>
      </p:sp>
    </p:spTree>
    <p:extLst>
      <p:ext uri="{BB962C8B-B14F-4D97-AF65-F5344CB8AC3E}">
        <p14:creationId xmlns:p14="http://schemas.microsoft.com/office/powerpoint/2010/main" val="874594694"/>
      </p:ext>
    </p:extLst>
  </p:cSld>
</p:sld>
</file>

<file path=ppt/slides/slide5.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70EF5E1-0676-48A4-ADD4-E78078B1878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C05FED-1098-4CBF-BC56-875450CFCDFB}"/>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04 排班规模</a:t>
            </a:r>
          </a:p>
        </p:txBody>
      </p:sp>
      <p:sp>
        <p:nvSpPr>
          <p:cNvPr id="3" name="">
            <a:extLst xmlns:a="http://schemas.openxmlformats.org/drawingml/2006/main">
              <a:ext uri="{FF2B5EF4-FFF2-40B4-BE49-F238E27FC236}">
                <a16:creationId xmlns:a16="http://schemas.microsoft.com/office/drawing/2014/main" id="{5CFFDC46-E10A-48A9-B0F9-EED79D197000}"/>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Active BP 渐进扩容，Standby 固定 30</a:t>
            </a:r>
          </a:p>
        </p:txBody>
      </p:sp>
      <p:sp>
        <p:nvSpPr>
          <p:cNvPr id="4" name="">
            <a:extLst xmlns:a="http://schemas.openxmlformats.org/drawingml/2006/main">
              <a:ext uri="{FF2B5EF4-FFF2-40B4-BE49-F238E27FC236}">
                <a16:creationId xmlns:a16="http://schemas.microsoft.com/office/drawing/2014/main" id="{9E0A05F7-E9F0-494F-82F9-1BFE163A5936}"/>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25AC83F-32EE-484F-A3CD-2EF8CE83B2A0}"/>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05</a:t>
            </a:r>
          </a:p>
        </p:txBody>
      </p:sp>
      <p:sp>
        <p:nvSpPr>
          <p:cNvPr id="6" name="">
            <a:extLst xmlns:a="http://schemas.openxmlformats.org/drawingml/2006/main">
              <a:ext uri="{FF2B5EF4-FFF2-40B4-BE49-F238E27FC236}">
                <a16:creationId xmlns:a16="http://schemas.microsoft.com/office/drawing/2014/main" id="{3F632BD2-E21C-4FA1-B2EF-3935D3B11C26}"/>
              </a:ext>
            </a:extLst>
          </p:cNvPr>
          <p:cNvSpPr>
            <a:spLocks xmlns:a="http://schemas.openxmlformats.org/drawingml/2006/main" noGrp="1"/>
          </p:cNvSpPr>
          <p:nvPr/>
        </p:nvSpPr>
        <p:spPr>
          <a:xfrm xmlns:a="http://schemas.openxmlformats.org/drawingml/2006/main">
            <a:off x="666750" y="1809750"/>
            <a:ext cx="2857500" cy="1695450"/>
          </a:xfrm>
          <a:prstGeom xmlns:a="http://schemas.openxmlformats.org/drawingml/2006/main" prst="roundRect">
            <a:avLst>
              <a:gd name="adj" fmla="val 4494"/>
            </a:avLst>
          </a:prstGeom>
          <a:solidFill xmlns:a="http://schemas.openxmlformats.org/drawingml/2006/main">
            <a:srgbClr val="0B2035"/>
          </a:solidFill>
          <a:ln xmlns:a="http://schemas.openxmlformats.org/drawingml/2006/main" w="9525">
            <a:solidFill>
              <a:srgbClr val="4DE3D1"/>
            </a:solidFill>
            <a:prstDash val="solid"/>
          </a:ln>
        </p:spPr>
      </p:sp>
      <p:sp>
        <p:nvSpPr>
          <p:cNvPr id="7" name="">
            <a:extLst xmlns:a="http://schemas.openxmlformats.org/drawingml/2006/main">
              <a:ext uri="{FF2B5EF4-FFF2-40B4-BE49-F238E27FC236}">
                <a16:creationId xmlns:a16="http://schemas.microsoft.com/office/drawing/2014/main" id="{3DDA7C55-A558-4EC4-974C-B0B587A77C16}"/>
              </a:ext>
            </a:extLst>
          </p:cNvPr>
          <p:cNvSpPr>
            <a:spLocks xmlns:a="http://schemas.openxmlformats.org/drawingml/2006/main" noGrp="1"/>
          </p:cNvSpPr>
          <p:nvPr/>
        </p:nvSpPr>
        <p:spPr>
          <a:xfrm xmlns:a="http://schemas.openxmlformats.org/drawingml/2006/main">
            <a:off x="857250" y="1924050"/>
            <a:ext cx="95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4350" b="1">
                <a:solidFill>
                  <a:srgbClr val="4DE3D1"/>
                </a:solidFill>
                <a:latin typeface="Arial Unicode MS"/>
                <a:ea typeface="Arial Unicode MS"/>
                <a:cs typeface="Arial Unicode MS"/>
              </a:defRPr>
            </a:defPPr>
          </a:lstStyle>
          <a:p xmlns:a="http://schemas.openxmlformats.org/drawingml/2006/main">
            <a:pPr algn="l">
              <a:defRPr sz="4350" b="1">
                <a:solidFill>
                  <a:srgbClr val="4DE3D1"/>
                </a:solidFill>
                <a:latin typeface="Arial Unicode MS"/>
                <a:ea typeface="Arial Unicode MS"/>
                <a:cs typeface="Arial Unicode MS"/>
              </a:defRPr>
            </a:pPr>
            <a:r>
              <a:rPr sz="4350" b="1">
                <a:solidFill>
                  <a:srgbClr val="4DE3D1"/>
                </a:solidFill>
                <a:latin typeface="Arial Unicode MS"/>
                <a:ea typeface="Arial Unicode MS"/>
                <a:cs typeface="Arial Unicode MS"/>
              </a:rPr>
              <a:t>3</a:t>
            </a:r>
          </a:p>
        </p:txBody>
      </p:sp>
      <p:sp>
        <p:nvSpPr>
          <p:cNvPr id="8" name="">
            <a:extLst xmlns:a="http://schemas.openxmlformats.org/drawingml/2006/main">
              <a:ext uri="{FF2B5EF4-FFF2-40B4-BE49-F238E27FC236}">
                <a16:creationId xmlns:a16="http://schemas.microsoft.com/office/drawing/2014/main" id="{5C7D80E8-7480-487D-BCF4-3FE6295210AB}"/>
              </a:ext>
            </a:extLst>
          </p:cNvPr>
          <p:cNvSpPr>
            <a:spLocks xmlns:a="http://schemas.openxmlformats.org/drawingml/2006/main" noGrp="1"/>
          </p:cNvSpPr>
          <p:nvPr/>
        </p:nvSpPr>
        <p:spPr>
          <a:xfrm xmlns:a="http://schemas.openxmlformats.org/drawingml/2006/main">
            <a:off x="1790700" y="20383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00" b="1">
                <a:solidFill>
                  <a:srgbClr val="F7FBFF"/>
                </a:solidFill>
                <a:latin typeface="Arial Unicode MS"/>
                <a:ea typeface="Arial Unicode MS"/>
                <a:cs typeface="Arial Unicode MS"/>
              </a:defRPr>
            </a:defPPr>
          </a:lstStyle>
          <a:p xmlns:a="http://schemas.openxmlformats.org/drawingml/2006/main">
            <a:pPr algn="l">
              <a:defRPr sz="1800" b="1">
                <a:solidFill>
                  <a:srgbClr val="F7FBFF"/>
                </a:solidFill>
                <a:latin typeface="Arial Unicode MS"/>
                <a:ea typeface="Arial Unicode MS"/>
                <a:cs typeface="Arial Unicode MS"/>
              </a:defRPr>
            </a:pPr>
            <a:r>
              <a:rPr sz="1800" b="1">
                <a:solidFill>
                  <a:srgbClr val="F7FBFF"/>
                </a:solidFill>
                <a:latin typeface="Arial Unicode MS"/>
                <a:ea typeface="Arial Unicode MS"/>
                <a:cs typeface="Arial Unicode MS"/>
              </a:rPr>
              <a:t>早期启动</a:t>
            </a:r>
          </a:p>
        </p:txBody>
      </p:sp>
      <p:sp>
        <p:nvSpPr>
          <p:cNvPr id="9" name="">
            <a:extLst xmlns:a="http://schemas.openxmlformats.org/drawingml/2006/main">
              <a:ext uri="{FF2B5EF4-FFF2-40B4-BE49-F238E27FC236}">
                <a16:creationId xmlns:a16="http://schemas.microsoft.com/office/drawing/2014/main" id="{8D49C6FE-441B-4A07-852E-FB78073D0DA9}"/>
              </a:ext>
            </a:extLst>
          </p:cNvPr>
          <p:cNvSpPr>
            <a:spLocks xmlns:a="http://schemas.openxmlformats.org/drawingml/2006/main" noGrp="1"/>
          </p:cNvSpPr>
          <p:nvPr/>
        </p:nvSpPr>
        <p:spPr>
          <a:xfrm xmlns:a="http://schemas.openxmlformats.org/drawingml/2006/main">
            <a:off x="1790700" y="2505075"/>
            <a:ext cx="1476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由 flon 权限设置</a:t>
            </a:r>
          </a:p>
        </p:txBody>
      </p:sp>
      <p:sp>
        <p:nvSpPr>
          <p:cNvPr id="10" name="">
            <a:extLst xmlns:a="http://schemas.openxmlformats.org/drawingml/2006/main">
              <a:ext uri="{FF2B5EF4-FFF2-40B4-BE49-F238E27FC236}">
                <a16:creationId xmlns:a16="http://schemas.microsoft.com/office/drawing/2014/main" id="{B2CBA153-46FC-465C-9807-1588488B4FC9}"/>
              </a:ext>
            </a:extLst>
          </p:cNvPr>
          <p:cNvSpPr>
            <a:spLocks xmlns:a="http://schemas.openxmlformats.org/drawingml/2006/main" noGrp="1"/>
          </p:cNvSpPr>
          <p:nvPr/>
        </p:nvSpPr>
        <p:spPr>
          <a:xfrm xmlns:a="http://schemas.openxmlformats.org/drawingml/2006/main">
            <a:off x="3695700" y="1809750"/>
            <a:ext cx="4191000" cy="1695450"/>
          </a:xfrm>
          <a:prstGeom xmlns:a="http://schemas.openxmlformats.org/drawingml/2006/main" prst="roundRect">
            <a:avLst>
              <a:gd name="adj" fmla="val 4494"/>
            </a:avLst>
          </a:prstGeom>
          <a:solidFill xmlns:a="http://schemas.openxmlformats.org/drawingml/2006/main">
            <a:srgbClr val="0B2035"/>
          </a:solidFill>
          <a:ln xmlns:a="http://schemas.openxmlformats.org/drawingml/2006/main" w="9525">
            <a:solidFill>
              <a:srgbClr val="F1B84B"/>
            </a:solidFill>
            <a:prstDash val="solid"/>
          </a:ln>
        </p:spPr>
      </p:sp>
      <p:sp>
        <p:nvSpPr>
          <p:cNvPr id="11" name="">
            <a:extLst xmlns:a="http://schemas.openxmlformats.org/drawingml/2006/main">
              <a:ext uri="{FF2B5EF4-FFF2-40B4-BE49-F238E27FC236}">
                <a16:creationId xmlns:a16="http://schemas.microsoft.com/office/drawing/2014/main" id="{47E0E2B5-0129-4299-B7BA-B66BAD19957F}"/>
              </a:ext>
            </a:extLst>
          </p:cNvPr>
          <p:cNvSpPr>
            <a:spLocks xmlns:a="http://schemas.openxmlformats.org/drawingml/2006/main" noGrp="1"/>
          </p:cNvSpPr>
          <p:nvPr/>
        </p:nvSpPr>
        <p:spPr>
          <a:xfrm xmlns:a="http://schemas.openxmlformats.org/drawingml/2006/main">
            <a:off x="3886200" y="1924050"/>
            <a:ext cx="95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4350" b="1">
                <a:solidFill>
                  <a:srgbClr val="F1B84B"/>
                </a:solidFill>
                <a:latin typeface="Arial Unicode MS"/>
                <a:ea typeface="Arial Unicode MS"/>
                <a:cs typeface="Arial Unicode MS"/>
              </a:defRPr>
            </a:defPPr>
          </a:lstStyle>
          <a:p xmlns:a="http://schemas.openxmlformats.org/drawingml/2006/main">
            <a:pPr algn="l">
              <a:defRPr sz="4350" b="1">
                <a:solidFill>
                  <a:srgbClr val="F1B84B"/>
                </a:solidFill>
                <a:latin typeface="Arial Unicode MS"/>
                <a:ea typeface="Arial Unicode MS"/>
                <a:cs typeface="Arial Unicode MS"/>
              </a:defRPr>
            </a:pPr>
            <a:r>
              <a:rPr sz="4350" b="1">
                <a:solidFill>
                  <a:srgbClr val="F1B84B"/>
                </a:solidFill>
                <a:latin typeface="Arial Unicode MS"/>
                <a:ea typeface="Arial Unicode MS"/>
                <a:cs typeface="Arial Unicode MS"/>
              </a:rPr>
              <a:t>→</a:t>
            </a:r>
          </a:p>
        </p:txBody>
      </p:sp>
      <p:sp>
        <p:nvSpPr>
          <p:cNvPr id="12" name="">
            <a:extLst xmlns:a="http://schemas.openxmlformats.org/drawingml/2006/main">
              <a:ext uri="{FF2B5EF4-FFF2-40B4-BE49-F238E27FC236}">
                <a16:creationId xmlns:a16="http://schemas.microsoft.com/office/drawing/2014/main" id="{13B7F702-0E18-4487-809D-E0DA85D06614}"/>
              </a:ext>
            </a:extLst>
          </p:cNvPr>
          <p:cNvSpPr>
            <a:spLocks xmlns:a="http://schemas.openxmlformats.org/drawingml/2006/main" noGrp="1"/>
          </p:cNvSpPr>
          <p:nvPr/>
        </p:nvSpPr>
        <p:spPr>
          <a:xfrm xmlns:a="http://schemas.openxmlformats.org/drawingml/2006/main">
            <a:off x="4819650" y="20383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00" b="1">
                <a:solidFill>
                  <a:srgbClr val="F7FBFF"/>
                </a:solidFill>
                <a:latin typeface="Arial Unicode MS"/>
                <a:ea typeface="Arial Unicode MS"/>
                <a:cs typeface="Arial Unicode MS"/>
              </a:defRPr>
            </a:defPPr>
          </a:lstStyle>
          <a:p xmlns:a="http://schemas.openxmlformats.org/drawingml/2006/main">
            <a:pPr algn="l">
              <a:defRPr sz="1800" b="1">
                <a:solidFill>
                  <a:srgbClr val="F7FBFF"/>
                </a:solidFill>
                <a:latin typeface="Arial Unicode MS"/>
                <a:ea typeface="Arial Unicode MS"/>
                <a:cs typeface="Arial Unicode MS"/>
              </a:defRPr>
            </a:pPr>
            <a:r>
              <a:rPr sz="1800" b="1">
                <a:solidFill>
                  <a:srgbClr val="F7FBFF"/>
                </a:solidFill>
                <a:latin typeface="Arial Unicode MS"/>
                <a:ea typeface="Arial Unicode MS"/>
                <a:cs typeface="Arial Unicode MS"/>
              </a:rPr>
              <a:t>epoch 边界扩容</a:t>
            </a:r>
          </a:p>
        </p:txBody>
      </p:sp>
      <p:sp>
        <p:nvSpPr>
          <p:cNvPr id="13" name="">
            <a:extLst xmlns:a="http://schemas.openxmlformats.org/drawingml/2006/main">
              <a:ext uri="{FF2B5EF4-FFF2-40B4-BE49-F238E27FC236}">
                <a16:creationId xmlns:a16="http://schemas.microsoft.com/office/drawing/2014/main" id="{70664086-CB3A-458D-B789-F1E4BAD51897}"/>
              </a:ext>
            </a:extLst>
          </p:cNvPr>
          <p:cNvSpPr>
            <a:spLocks xmlns:a="http://schemas.openxmlformats.org/drawingml/2006/main" noGrp="1"/>
          </p:cNvSpPr>
          <p:nvPr/>
        </p:nvSpPr>
        <p:spPr>
          <a:xfrm xmlns:a="http://schemas.openxmlformats.org/drawingml/2006/main">
            <a:off x="4819650" y="2505075"/>
            <a:ext cx="2809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公告 + timelock + 审计记录</a:t>
            </a:r>
          </a:p>
        </p:txBody>
      </p:sp>
      <p:sp>
        <p:nvSpPr>
          <p:cNvPr id="14" name="">
            <a:extLst xmlns:a="http://schemas.openxmlformats.org/drawingml/2006/main">
              <a:ext uri="{FF2B5EF4-FFF2-40B4-BE49-F238E27FC236}">
                <a16:creationId xmlns:a16="http://schemas.microsoft.com/office/drawing/2014/main" id="{2D858955-ADAE-4A81-8180-12B8C8362003}"/>
              </a:ext>
            </a:extLst>
          </p:cNvPr>
          <p:cNvSpPr>
            <a:spLocks xmlns:a="http://schemas.openxmlformats.org/drawingml/2006/main" noGrp="1"/>
          </p:cNvSpPr>
          <p:nvPr/>
        </p:nvSpPr>
        <p:spPr>
          <a:xfrm xmlns:a="http://schemas.openxmlformats.org/drawingml/2006/main">
            <a:off x="8058150" y="1809750"/>
            <a:ext cx="3048000" cy="1695450"/>
          </a:xfrm>
          <a:prstGeom xmlns:a="http://schemas.openxmlformats.org/drawingml/2006/main" prst="roundRect">
            <a:avLst>
              <a:gd name="adj" fmla="val 4494"/>
            </a:avLst>
          </a:prstGeom>
          <a:solidFill xmlns:a="http://schemas.openxmlformats.org/drawingml/2006/main">
            <a:srgbClr val="0B2035"/>
          </a:solidFill>
          <a:ln xmlns:a="http://schemas.openxmlformats.org/drawingml/2006/main" w="9525">
            <a:solidFill>
              <a:srgbClr val="FF7A6E"/>
            </a:solidFill>
            <a:prstDash val="solid"/>
          </a:ln>
        </p:spPr>
      </p:sp>
      <p:sp>
        <p:nvSpPr>
          <p:cNvPr id="15" name="">
            <a:extLst xmlns:a="http://schemas.openxmlformats.org/drawingml/2006/main">
              <a:ext uri="{FF2B5EF4-FFF2-40B4-BE49-F238E27FC236}">
                <a16:creationId xmlns:a16="http://schemas.microsoft.com/office/drawing/2014/main" id="{D1B261B4-A434-4C26-B7AB-BA2A65726BE8}"/>
              </a:ext>
            </a:extLst>
          </p:cNvPr>
          <p:cNvSpPr>
            <a:spLocks xmlns:a="http://schemas.openxmlformats.org/drawingml/2006/main" noGrp="1"/>
          </p:cNvSpPr>
          <p:nvPr/>
        </p:nvSpPr>
        <p:spPr>
          <a:xfrm xmlns:a="http://schemas.openxmlformats.org/drawingml/2006/main">
            <a:off x="8248650" y="1924050"/>
            <a:ext cx="95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4350" b="1">
                <a:solidFill>
                  <a:srgbClr val="FF7A6E"/>
                </a:solidFill>
                <a:latin typeface="Arial Unicode MS"/>
                <a:ea typeface="Arial Unicode MS"/>
                <a:cs typeface="Arial Unicode MS"/>
              </a:defRPr>
            </a:defPPr>
          </a:lstStyle>
          <a:p xmlns:a="http://schemas.openxmlformats.org/drawingml/2006/main">
            <a:pPr algn="l">
              <a:defRPr sz="4350" b="1">
                <a:solidFill>
                  <a:srgbClr val="FF7A6E"/>
                </a:solidFill>
                <a:latin typeface="Arial Unicode MS"/>
                <a:ea typeface="Arial Unicode MS"/>
                <a:cs typeface="Arial Unicode MS"/>
              </a:defRPr>
            </a:pPr>
            <a:r>
              <a:rPr sz="4350" b="1">
                <a:solidFill>
                  <a:srgbClr val="FF7A6E"/>
                </a:solidFill>
                <a:latin typeface="Arial Unicode MS"/>
                <a:ea typeface="Arial Unicode MS"/>
                <a:cs typeface="Arial Unicode MS"/>
              </a:rPr>
              <a:t>21</a:t>
            </a:r>
          </a:p>
        </p:txBody>
      </p:sp>
      <p:sp>
        <p:nvSpPr>
          <p:cNvPr id="16" name="">
            <a:extLst xmlns:a="http://schemas.openxmlformats.org/drawingml/2006/main">
              <a:ext uri="{FF2B5EF4-FFF2-40B4-BE49-F238E27FC236}">
                <a16:creationId xmlns:a16="http://schemas.microsoft.com/office/drawing/2014/main" id="{52346BE6-151D-48ED-912D-72AE8C7B9D14}"/>
              </a:ext>
            </a:extLst>
          </p:cNvPr>
          <p:cNvSpPr>
            <a:spLocks xmlns:a="http://schemas.openxmlformats.org/drawingml/2006/main" noGrp="1"/>
          </p:cNvSpPr>
          <p:nvPr/>
        </p:nvSpPr>
        <p:spPr>
          <a:xfrm xmlns:a="http://schemas.openxmlformats.org/drawingml/2006/main">
            <a:off x="9182100" y="20383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00" b="1">
                <a:solidFill>
                  <a:srgbClr val="F7FBFF"/>
                </a:solidFill>
                <a:latin typeface="Arial Unicode MS"/>
                <a:ea typeface="Arial Unicode MS"/>
                <a:cs typeface="Arial Unicode MS"/>
              </a:defRPr>
            </a:defPPr>
          </a:lstStyle>
          <a:p xmlns:a="http://schemas.openxmlformats.org/drawingml/2006/main">
            <a:pPr algn="l">
              <a:defRPr sz="1800" b="1">
                <a:solidFill>
                  <a:srgbClr val="F7FBFF"/>
                </a:solidFill>
                <a:latin typeface="Arial Unicode MS"/>
                <a:ea typeface="Arial Unicode MS"/>
                <a:cs typeface="Arial Unicode MS"/>
              </a:defRPr>
            </a:pPr>
            <a:r>
              <a:rPr sz="1800" b="1">
                <a:solidFill>
                  <a:srgbClr val="F7FBFF"/>
                </a:solidFill>
                <a:latin typeface="Arial Unicode MS"/>
                <a:ea typeface="Arial Unicode MS"/>
                <a:cs typeface="Arial Unicode MS"/>
              </a:rPr>
              <a:t>最终目标</a:t>
            </a:r>
          </a:p>
        </p:txBody>
      </p:sp>
      <p:sp>
        <p:nvSpPr>
          <p:cNvPr id="17" name="">
            <a:extLst xmlns:a="http://schemas.openxmlformats.org/drawingml/2006/main">
              <a:ext uri="{FF2B5EF4-FFF2-40B4-BE49-F238E27FC236}">
                <a16:creationId xmlns:a16="http://schemas.microsoft.com/office/drawing/2014/main" id="{93FA3934-EF6A-49B6-9564-A90053556203}"/>
              </a:ext>
            </a:extLst>
          </p:cNvPr>
          <p:cNvSpPr>
            <a:spLocks xmlns:a="http://schemas.openxmlformats.org/drawingml/2006/main" noGrp="1"/>
          </p:cNvSpPr>
          <p:nvPr/>
        </p:nvSpPr>
        <p:spPr>
          <a:xfrm xmlns:a="http://schemas.openxmlformats.org/drawingml/2006/main">
            <a:off x="9182100" y="2505075"/>
            <a:ext cx="1666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最终席位结构 15 + 4 + 2</a:t>
            </a:r>
          </a:p>
        </p:txBody>
      </p:sp>
      <p:sp>
        <p:nvSpPr>
          <p:cNvPr id="18" name="">
            <a:extLst xmlns:a="http://schemas.openxmlformats.org/drawingml/2006/main">
              <a:ext uri="{FF2B5EF4-FFF2-40B4-BE49-F238E27FC236}">
                <a16:creationId xmlns:a16="http://schemas.microsoft.com/office/drawing/2014/main" id="{8CDBB4D9-B0D0-41BC-BC6E-6A117224E05C}"/>
              </a:ext>
            </a:extLst>
          </p:cNvPr>
          <p:cNvSpPr>
            <a:spLocks xmlns:a="http://schemas.openxmlformats.org/drawingml/2006/main" noGrp="1"/>
          </p:cNvSpPr>
          <p:nvPr/>
        </p:nvSpPr>
        <p:spPr>
          <a:xfrm xmlns:a="http://schemas.openxmlformats.org/drawingml/2006/main">
            <a:off x="666750" y="4000500"/>
            <a:ext cx="10668000" cy="1143000"/>
          </a:xfrm>
          <a:prstGeom xmlns:a="http://schemas.openxmlformats.org/drawingml/2006/main" prst="roundRect">
            <a:avLst>
              <a:gd name="adj" fmla="val 6667"/>
            </a:avLst>
          </a:prstGeom>
          <a:solidFill xmlns:a="http://schemas.openxmlformats.org/drawingml/2006/main">
            <a:srgbClr val="176B8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941BA46-C3B1-4671-B61C-236DABF960D6}"/>
              </a:ext>
            </a:extLst>
          </p:cNvPr>
          <p:cNvSpPr>
            <a:spLocks xmlns:a="http://schemas.openxmlformats.org/drawingml/2006/main" noGrp="1"/>
          </p:cNvSpPr>
          <p:nvPr/>
        </p:nvSpPr>
        <p:spPr>
          <a:xfrm xmlns:a="http://schemas.openxmlformats.org/drawingml/2006/main">
            <a:off x="904875" y="4162425"/>
            <a:ext cx="2714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175" b="1">
                <a:solidFill>
                  <a:srgbClr val="F7FBFF"/>
                </a:solidFill>
                <a:latin typeface="Arial Unicode MS"/>
                <a:ea typeface="Arial Unicode MS"/>
                <a:cs typeface="Arial Unicode MS"/>
              </a:defRPr>
            </a:defPPr>
          </a:lstStyle>
          <a:p xmlns:a="http://schemas.openxmlformats.org/drawingml/2006/main">
            <a:pPr algn="l">
              <a:defRPr sz="2175" b="1">
                <a:solidFill>
                  <a:srgbClr val="F7FBFF"/>
                </a:solidFill>
                <a:latin typeface="Arial Unicode MS"/>
                <a:ea typeface="Arial Unicode MS"/>
                <a:cs typeface="Arial Unicode MS"/>
              </a:defRPr>
            </a:pPr>
            <a:r>
              <a:rPr sz="2175" b="1">
                <a:solidFill>
                  <a:srgbClr val="F7FBFF"/>
                </a:solidFill>
                <a:latin typeface="Arial Unicode MS"/>
                <a:ea typeface="Arial Unicode MS"/>
                <a:cs typeface="Arial Unicode MS"/>
              </a:rPr>
              <a:t>30 Standby BP</a:t>
            </a:r>
          </a:p>
        </p:txBody>
      </p:sp>
      <p:sp>
        <p:nvSpPr>
          <p:cNvPr id="20" name="">
            <a:extLst xmlns:a="http://schemas.openxmlformats.org/drawingml/2006/main">
              <a:ext uri="{FF2B5EF4-FFF2-40B4-BE49-F238E27FC236}">
                <a16:creationId xmlns:a16="http://schemas.microsoft.com/office/drawing/2014/main" id="{76572A1D-27A1-4798-9921-B3E98D6196E7}"/>
              </a:ext>
            </a:extLst>
          </p:cNvPr>
          <p:cNvSpPr>
            <a:spLocks xmlns:a="http://schemas.openxmlformats.org/drawingml/2006/main" noGrp="1"/>
          </p:cNvSpPr>
          <p:nvPr/>
        </p:nvSpPr>
        <p:spPr>
          <a:xfrm xmlns:a="http://schemas.openxmlformats.org/drawingml/2006/main">
            <a:off x="3714750" y="4124325"/>
            <a:ext cx="714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1">
                <a:solidFill>
                  <a:srgbClr val="F7FBFF"/>
                </a:solidFill>
                <a:latin typeface="Arial Unicode MS"/>
                <a:ea typeface="Arial Unicode MS"/>
                <a:cs typeface="Arial Unicode MS"/>
              </a:defRPr>
            </a:defPPr>
          </a:lstStyle>
          <a:p xmlns:a="http://schemas.openxmlformats.org/drawingml/2006/main">
            <a:pPr algn="l">
              <a:defRPr sz="1500" b="1">
                <a:solidFill>
                  <a:srgbClr val="F7FBFF"/>
                </a:solidFill>
                <a:latin typeface="Arial Unicode MS"/>
                <a:ea typeface="Arial Unicode MS"/>
                <a:cs typeface="Arial Unicode MS"/>
              </a:defRPr>
            </a:pPr>
            <a:r>
              <a:rPr sz="1500" b="1">
                <a:solidFill>
                  <a:srgbClr val="F7FBFF"/>
                </a:solidFill>
                <a:latin typeface="Arial Unicode MS"/>
                <a:ea typeface="Arial Unicode MS"/>
                <a:cs typeface="Arial Unicode MS"/>
              </a:rPr>
              <a:t>只保留 qualified_standby：自质押达标、资料有效、近期完成真实观察排班</a:t>
            </a:r>
          </a:p>
        </p:txBody>
      </p:sp>
      <p:sp>
        <p:nvSpPr>
          <p:cNvPr id="21" name="">
            <a:extLst xmlns:a="http://schemas.openxmlformats.org/drawingml/2006/main">
              <a:ext uri="{FF2B5EF4-FFF2-40B4-BE49-F238E27FC236}">
                <a16:creationId xmlns:a16="http://schemas.microsoft.com/office/drawing/2014/main" id="{B3EBEA35-5349-4C1D-9FEC-FB431481E31E}"/>
              </a:ext>
            </a:extLst>
          </p:cNvPr>
          <p:cNvSpPr>
            <a:spLocks xmlns:a="http://schemas.openxmlformats.org/drawingml/2006/main" noGrp="1"/>
          </p:cNvSpPr>
          <p:nvPr/>
        </p:nvSpPr>
        <p:spPr>
          <a:xfrm xmlns:a="http://schemas.openxmlformats.org/drawingml/2006/main">
            <a:off x="3714750" y="4619625"/>
            <a:ext cx="714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FF3E8"/>
                </a:solidFill>
                <a:latin typeface="Arial Unicode MS"/>
                <a:ea typeface="Arial Unicode MS"/>
                <a:cs typeface="Arial Unicode MS"/>
              </a:defRPr>
            </a:defPPr>
          </a:lstStyle>
          <a:p xmlns:a="http://schemas.openxmlformats.org/drawingml/2006/main">
            <a:pPr algn="l">
              <a:defRPr sz="1275" b="0">
                <a:solidFill>
                  <a:srgbClr val="9FF3E8"/>
                </a:solidFill>
                <a:latin typeface="Arial Unicode MS"/>
                <a:ea typeface="Arial Unicode MS"/>
                <a:cs typeface="Arial Unicode MS"/>
              </a:defRPr>
            </a:pPr>
            <a:r>
              <a:rPr sz="1275" b="0">
                <a:solidFill>
                  <a:srgbClr val="9FF3E8"/>
                </a:solidFill>
                <a:latin typeface="Arial Unicode MS"/>
                <a:ea typeface="Arial Unicode MS"/>
                <a:cs typeface="Arial Unicode MS"/>
              </a:rPr>
              <a:t>活跃 BP 停权后，下一次排班更新按确定性顺序递补</a:t>
            </a:r>
          </a:p>
        </p:txBody>
      </p:sp>
      <p:sp>
        <p:nvSpPr>
          <p:cNvPr id="22" name="">
            <a:extLst xmlns:a="http://schemas.openxmlformats.org/drawingml/2006/main">
              <a:ext uri="{FF2B5EF4-FFF2-40B4-BE49-F238E27FC236}">
                <a16:creationId xmlns:a16="http://schemas.microsoft.com/office/drawing/2014/main" id="{22D0908E-8DBB-4090-8A36-1B03858D016F}"/>
              </a:ext>
            </a:extLst>
          </p:cNvPr>
          <p:cNvSpPr>
            <a:spLocks xmlns:a="http://schemas.openxmlformats.org/drawingml/2006/main" noGrp="1"/>
          </p:cNvSpPr>
          <p:nvPr/>
        </p:nvSpPr>
        <p:spPr>
          <a:xfrm xmlns:a="http://schemas.openxmlformats.org/drawingml/2006/main">
            <a:off x="666750" y="55626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F1B84B"/>
                </a:solidFill>
                <a:latin typeface="Arial Unicode MS"/>
                <a:ea typeface="Arial Unicode MS"/>
                <a:cs typeface="Arial Unicode MS"/>
              </a:defRPr>
            </a:defPPr>
          </a:lstStyle>
          <a:p xmlns:a="http://schemas.openxmlformats.org/drawingml/2006/main">
            <a:pPr algn="l">
              <a:defRPr sz="1050" b="0">
                <a:solidFill>
                  <a:srgbClr val="F1B84B"/>
                </a:solidFill>
                <a:latin typeface="Arial Unicode MS"/>
                <a:ea typeface="Arial Unicode MS"/>
                <a:cs typeface="Arial Unicode MS"/>
              </a:defRPr>
            </a:pPr>
            <a:r>
              <a:rPr sz="1050" b="0">
                <a:solidFill>
                  <a:srgbClr val="F1B84B"/>
                </a:solidFill>
                <a:latin typeface="Arial Unicode MS"/>
                <a:ea typeface="Arial Unicode MS"/>
                <a:cs typeface="Arial Unicode MS"/>
              </a:rPr>
              <a:t>active_bp_quorum 仅表示活跃排班数量，不是共识确认阈值；30 个 Standby 的规则与奖励不变。</a:t>
            </a:r>
          </a:p>
        </p:txBody>
      </p:sp>
    </p:spTree>
    <p:extLst>
      <p:ext uri="{BB962C8B-B14F-4D97-AF65-F5344CB8AC3E}">
        <p14:creationId xmlns:p14="http://schemas.microsoft.com/office/powerpoint/2010/main" val="613623125"/>
      </p:ext>
    </p:extLst>
  </p:cSld>
</p:sld>
</file>

<file path=ppt/slides/slide6.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18FAA83-7B5E-4E83-AEDD-7E159DD9137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0B486B-27BF-473F-8AA9-1DD723703BC0}"/>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05 STANDBY BP</a:t>
            </a:r>
          </a:p>
        </p:txBody>
      </p:sp>
      <p:sp>
        <p:nvSpPr>
          <p:cNvPr id="3" name="">
            <a:extLst xmlns:a="http://schemas.openxmlformats.org/drawingml/2006/main">
              <a:ext uri="{FF2B5EF4-FFF2-40B4-BE49-F238E27FC236}">
                <a16:creationId xmlns:a16="http://schemas.microsoft.com/office/drawing/2014/main" id="{78D48549-9E04-42A5-B4A6-E7DDF7E95A7F}"/>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Standby BP 的在线判断</a:t>
            </a:r>
          </a:p>
        </p:txBody>
      </p:sp>
      <p:sp>
        <p:nvSpPr>
          <p:cNvPr id="4" name="">
            <a:extLst xmlns:a="http://schemas.openxmlformats.org/drawingml/2006/main">
              <a:ext uri="{FF2B5EF4-FFF2-40B4-BE49-F238E27FC236}">
                <a16:creationId xmlns:a16="http://schemas.microsoft.com/office/drawing/2014/main" id="{7CB94EA8-C6DC-4E40-A0B3-13707DB18E9B}"/>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FD65CFE-A08D-402D-AEF9-8870BAC7040E}"/>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06</a:t>
            </a:r>
          </a:p>
        </p:txBody>
      </p:sp>
      <p:sp>
        <p:nvSpPr>
          <p:cNvPr id="6" name="">
            <a:extLst xmlns:a="http://schemas.openxmlformats.org/drawingml/2006/main">
              <a:ext uri="{FF2B5EF4-FFF2-40B4-BE49-F238E27FC236}">
                <a16:creationId xmlns:a16="http://schemas.microsoft.com/office/drawing/2014/main" id="{3C055ADC-03D9-4894-89E7-0ADD326AF839}"/>
              </a:ext>
            </a:extLst>
          </p:cNvPr>
          <p:cNvSpPr>
            <a:spLocks xmlns:a="http://schemas.openxmlformats.org/drawingml/2006/main" noGrp="1"/>
          </p:cNvSpPr>
          <p:nvPr/>
        </p:nvSpPr>
        <p:spPr>
          <a:xfrm xmlns:a="http://schemas.openxmlformats.org/drawingml/2006/main">
            <a:off x="762000" y="169545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100" b="1">
                <a:solidFill>
                  <a:srgbClr val="F1B84B"/>
                </a:solidFill>
                <a:latin typeface="Arial Unicode MS"/>
                <a:ea typeface="Arial Unicode MS"/>
                <a:cs typeface="Arial Unicode MS"/>
              </a:defRPr>
            </a:defPPr>
          </a:lstStyle>
          <a:p xmlns:a="http://schemas.openxmlformats.org/drawingml/2006/main">
            <a:pPr algn="l">
              <a:defRPr sz="2100" b="1">
                <a:solidFill>
                  <a:srgbClr val="F1B84B"/>
                </a:solidFill>
                <a:latin typeface="Arial Unicode MS"/>
                <a:ea typeface="Arial Unicode MS"/>
                <a:cs typeface="Arial Unicode MS"/>
              </a:defRPr>
            </a:pPr>
            <a:r>
              <a:rPr sz="2100" b="1">
                <a:solidFill>
                  <a:srgbClr val="F1B84B"/>
                </a:solidFill>
                <a:latin typeface="Arial Unicode MS"/>
                <a:ea typeface="Arial Unicode MS"/>
                <a:cs typeface="Arial Unicode MS"/>
              </a:rPr>
              <a:t>链外：就绪率</a:t>
            </a:r>
          </a:p>
        </p:txBody>
      </p:sp>
      <p:sp>
        <p:nvSpPr>
          <p:cNvPr id="7" name="">
            <a:extLst xmlns:a="http://schemas.openxmlformats.org/drawingml/2006/main">
              <a:ext uri="{FF2B5EF4-FFF2-40B4-BE49-F238E27FC236}">
                <a16:creationId xmlns:a16="http://schemas.microsoft.com/office/drawing/2014/main" id="{DDA7DC6C-7B3B-42AC-8407-F59C1ED1928D}"/>
              </a:ext>
            </a:extLst>
          </p:cNvPr>
          <p:cNvSpPr>
            <a:spLocks xmlns:a="http://schemas.openxmlformats.org/drawingml/2006/main" noGrp="1"/>
          </p:cNvSpPr>
          <p:nvPr/>
        </p:nvSpPr>
        <p:spPr>
          <a:xfrm xmlns:a="http://schemas.openxmlformats.org/drawingml/2006/main">
            <a:off x="762000" y="21717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用于发现问题和决定是否进入观察排班</a:t>
            </a:r>
          </a:p>
        </p:txBody>
      </p:sp>
      <p:sp>
        <p:nvSpPr>
          <p:cNvPr id="8" name="">
            <a:extLst xmlns:a="http://schemas.openxmlformats.org/drawingml/2006/main">
              <a:ext uri="{FF2B5EF4-FFF2-40B4-BE49-F238E27FC236}">
                <a16:creationId xmlns:a16="http://schemas.microsoft.com/office/drawing/2014/main" id="{9373C134-1B8F-4CEB-9774-731A0E2A9C15}"/>
              </a:ext>
            </a:extLst>
          </p:cNvPr>
          <p:cNvSpPr>
            <a:spLocks xmlns:a="http://schemas.openxmlformats.org/drawingml/2006/main" noGrp="1"/>
          </p:cNvSpPr>
          <p:nvPr/>
        </p:nvSpPr>
        <p:spPr>
          <a:xfrm xmlns:a="http://schemas.openxmlformats.org/drawingml/2006/main">
            <a:off x="762000" y="2714625"/>
            <a:ext cx="4191000" cy="361950"/>
          </a:xfrm>
          <a:prstGeom xmlns:a="http://schemas.openxmlformats.org/drawingml/2006/main" prst="roundRect">
            <a:avLst>
              <a:gd name="adj" fmla="val 21053"/>
            </a:avLst>
          </a:prstGeom>
          <a:solidFill xmlns:a="http://schemas.openxmlformats.org/drawingml/2006/main">
            <a:srgbClr val="0B203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3F3A4B4-CFF4-418A-B5CE-65A2FBB793F9}"/>
              </a:ext>
            </a:extLst>
          </p:cNvPr>
          <p:cNvSpPr>
            <a:spLocks xmlns:a="http://schemas.openxmlformats.org/drawingml/2006/main" noGrp="1"/>
          </p:cNvSpPr>
          <p:nvPr/>
        </p:nvSpPr>
        <p:spPr>
          <a:xfrm xmlns:a="http://schemas.openxmlformats.org/drawingml/2006/main">
            <a:off x="933450" y="2733675"/>
            <a:ext cx="3857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P2P / API 可连接</a:t>
            </a:r>
          </a:p>
        </p:txBody>
      </p:sp>
      <p:sp>
        <p:nvSpPr>
          <p:cNvPr id="10" name="">
            <a:extLst xmlns:a="http://schemas.openxmlformats.org/drawingml/2006/main">
              <a:ext uri="{FF2B5EF4-FFF2-40B4-BE49-F238E27FC236}">
                <a16:creationId xmlns:a16="http://schemas.microsoft.com/office/drawing/2014/main" id="{FD5C286B-6060-45D8-A577-E3BB13B3E375}"/>
              </a:ext>
            </a:extLst>
          </p:cNvPr>
          <p:cNvSpPr>
            <a:spLocks xmlns:a="http://schemas.openxmlformats.org/drawingml/2006/main" noGrp="1"/>
          </p:cNvSpPr>
          <p:nvPr/>
        </p:nvSpPr>
        <p:spPr>
          <a:xfrm xmlns:a="http://schemas.openxmlformats.org/drawingml/2006/main">
            <a:off x="762000" y="3209925"/>
            <a:ext cx="4191000" cy="361950"/>
          </a:xfrm>
          <a:prstGeom xmlns:a="http://schemas.openxmlformats.org/drawingml/2006/main" prst="roundRect">
            <a:avLst>
              <a:gd name="adj" fmla="val 21053"/>
            </a:avLst>
          </a:prstGeom>
          <a:solidFill xmlns:a="http://schemas.openxmlformats.org/drawingml/2006/main">
            <a:srgbClr val="0B203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88626FD-97BE-4172-AF73-6B787E3186BA}"/>
              </a:ext>
            </a:extLst>
          </p:cNvPr>
          <p:cNvSpPr>
            <a:spLocks xmlns:a="http://schemas.openxmlformats.org/drawingml/2006/main" noGrp="1"/>
          </p:cNvSpPr>
          <p:nvPr/>
        </p:nvSpPr>
        <p:spPr>
          <a:xfrm xmlns:a="http://schemas.openxmlformats.org/drawingml/2006/main">
            <a:off x="933450" y="3228975"/>
            <a:ext cx="3857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Head 与 LIB 延迟</a:t>
            </a:r>
          </a:p>
        </p:txBody>
      </p:sp>
      <p:sp>
        <p:nvSpPr>
          <p:cNvPr id="12" name="">
            <a:extLst xmlns:a="http://schemas.openxmlformats.org/drawingml/2006/main">
              <a:ext uri="{FF2B5EF4-FFF2-40B4-BE49-F238E27FC236}">
                <a16:creationId xmlns:a16="http://schemas.microsoft.com/office/drawing/2014/main" id="{1C5D07DA-1171-48D8-A4BD-B7CA4A20EC6D}"/>
              </a:ext>
            </a:extLst>
          </p:cNvPr>
          <p:cNvSpPr>
            <a:spLocks xmlns:a="http://schemas.openxmlformats.org/drawingml/2006/main" noGrp="1"/>
          </p:cNvSpPr>
          <p:nvPr/>
        </p:nvSpPr>
        <p:spPr>
          <a:xfrm xmlns:a="http://schemas.openxmlformats.org/drawingml/2006/main">
            <a:off x="762000" y="3705225"/>
            <a:ext cx="4191000" cy="361950"/>
          </a:xfrm>
          <a:prstGeom xmlns:a="http://schemas.openxmlformats.org/drawingml/2006/main" prst="roundRect">
            <a:avLst>
              <a:gd name="adj" fmla="val 21053"/>
            </a:avLst>
          </a:prstGeom>
          <a:solidFill xmlns:a="http://schemas.openxmlformats.org/drawingml/2006/main">
            <a:srgbClr val="0B203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772CC7A-13CD-4D18-A3AF-C0AA7D90A695}"/>
              </a:ext>
            </a:extLst>
          </p:cNvPr>
          <p:cNvSpPr>
            <a:spLocks xmlns:a="http://schemas.openxmlformats.org/drawingml/2006/main" noGrp="1"/>
          </p:cNvSpPr>
          <p:nvPr/>
        </p:nvSpPr>
        <p:spPr>
          <a:xfrm xmlns:a="http://schemas.openxmlformats.org/drawingml/2006/main">
            <a:off x="933450" y="3724275"/>
            <a:ext cx="3857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节点版本与 chain ID</a:t>
            </a:r>
          </a:p>
        </p:txBody>
      </p:sp>
      <p:sp>
        <p:nvSpPr>
          <p:cNvPr id="14" name="">
            <a:extLst xmlns:a="http://schemas.openxmlformats.org/drawingml/2006/main">
              <a:ext uri="{FF2B5EF4-FFF2-40B4-BE49-F238E27FC236}">
                <a16:creationId xmlns:a16="http://schemas.microsoft.com/office/drawing/2014/main" id="{C8194973-4D5C-4812-9864-5D4C297B887C}"/>
              </a:ext>
            </a:extLst>
          </p:cNvPr>
          <p:cNvSpPr>
            <a:spLocks xmlns:a="http://schemas.openxmlformats.org/drawingml/2006/main" noGrp="1"/>
          </p:cNvSpPr>
          <p:nvPr/>
        </p:nvSpPr>
        <p:spPr>
          <a:xfrm xmlns:a="http://schemas.openxmlformats.org/drawingml/2006/main">
            <a:off x="762000" y="4200525"/>
            <a:ext cx="4191000" cy="361950"/>
          </a:xfrm>
          <a:prstGeom xmlns:a="http://schemas.openxmlformats.org/drawingml/2006/main" prst="roundRect">
            <a:avLst>
              <a:gd name="adj" fmla="val 21053"/>
            </a:avLst>
          </a:prstGeom>
          <a:solidFill xmlns:a="http://schemas.openxmlformats.org/drawingml/2006/main">
            <a:srgbClr val="0B20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89E567A-C9FD-4789-98CD-59651BE16E0B}"/>
              </a:ext>
            </a:extLst>
          </p:cNvPr>
          <p:cNvSpPr>
            <a:spLocks xmlns:a="http://schemas.openxmlformats.org/drawingml/2006/main" noGrp="1"/>
          </p:cNvSpPr>
          <p:nvPr/>
        </p:nvSpPr>
        <p:spPr>
          <a:xfrm xmlns:a="http://schemas.openxmlformats.org/drawingml/2006/main">
            <a:off x="933450" y="4219575"/>
            <a:ext cx="3857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随机签名挑战</a:t>
            </a:r>
          </a:p>
        </p:txBody>
      </p:sp>
      <p:sp>
        <p:nvSpPr>
          <p:cNvPr id="16" name="">
            <a:extLst xmlns:a="http://schemas.openxmlformats.org/drawingml/2006/main">
              <a:ext uri="{FF2B5EF4-FFF2-40B4-BE49-F238E27FC236}">
                <a16:creationId xmlns:a16="http://schemas.microsoft.com/office/drawing/2014/main" id="{EC122B6D-BD3F-43E1-B718-8D481AE92AAE}"/>
              </a:ext>
            </a:extLst>
          </p:cNvPr>
          <p:cNvSpPr>
            <a:spLocks xmlns:a="http://schemas.openxmlformats.org/drawingml/2006/main" noGrp="1"/>
          </p:cNvSpPr>
          <p:nvPr/>
        </p:nvSpPr>
        <p:spPr>
          <a:xfrm xmlns:a="http://schemas.openxmlformats.org/drawingml/2006/main">
            <a:off x="762000" y="4695825"/>
            <a:ext cx="4191000" cy="361950"/>
          </a:xfrm>
          <a:prstGeom xmlns:a="http://schemas.openxmlformats.org/drawingml/2006/main" prst="roundRect">
            <a:avLst>
              <a:gd name="adj" fmla="val 21053"/>
            </a:avLst>
          </a:prstGeom>
          <a:solidFill xmlns:a="http://schemas.openxmlformats.org/drawingml/2006/main">
            <a:srgbClr val="0B20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0E232EF-8646-4BCF-8EB4-24D6E1A4856E}"/>
              </a:ext>
            </a:extLst>
          </p:cNvPr>
          <p:cNvSpPr>
            <a:spLocks xmlns:a="http://schemas.openxmlformats.org/drawingml/2006/main" noGrp="1"/>
          </p:cNvSpPr>
          <p:nvPr/>
        </p:nvSpPr>
        <p:spPr>
          <a:xfrm xmlns:a="http://schemas.openxmlformats.org/drawingml/2006/main">
            <a:off x="933450" y="4714875"/>
            <a:ext cx="3857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多个独立监控源</a:t>
            </a:r>
          </a:p>
        </p:txBody>
      </p:sp>
      <p:sp>
        <p:nvSpPr>
          <p:cNvPr id="18" name="">
            <a:extLst xmlns:a="http://schemas.openxmlformats.org/drawingml/2006/main">
              <a:ext uri="{FF2B5EF4-FFF2-40B4-BE49-F238E27FC236}">
                <a16:creationId xmlns:a16="http://schemas.microsoft.com/office/drawing/2014/main" id="{3A562BD6-2372-47FC-93D6-32F8A8795239}"/>
              </a:ext>
            </a:extLst>
          </p:cNvPr>
          <p:cNvSpPr>
            <a:spLocks xmlns:a="http://schemas.openxmlformats.org/drawingml/2006/main" noGrp="1"/>
          </p:cNvSpPr>
          <p:nvPr/>
        </p:nvSpPr>
        <p:spPr>
          <a:xfrm xmlns:a="http://schemas.openxmlformats.org/drawingml/2006/main">
            <a:off x="5905500" y="1619250"/>
            <a:ext cx="38100" cy="39052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04551B1-5592-4779-8CDE-E4DCFFF715C0}"/>
              </a:ext>
            </a:extLst>
          </p:cNvPr>
          <p:cNvSpPr>
            <a:spLocks xmlns:a="http://schemas.openxmlformats.org/drawingml/2006/main" noGrp="1"/>
          </p:cNvSpPr>
          <p:nvPr/>
        </p:nvSpPr>
        <p:spPr>
          <a:xfrm xmlns:a="http://schemas.openxmlformats.org/drawingml/2006/main">
            <a:off x="6572250" y="16954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100" b="1">
                <a:solidFill>
                  <a:srgbClr val="4DE3D1"/>
                </a:solidFill>
                <a:latin typeface="Arial Unicode MS"/>
                <a:ea typeface="Arial Unicode MS"/>
                <a:cs typeface="Arial Unicode MS"/>
              </a:defRPr>
            </a:defPPr>
          </a:lstStyle>
          <a:p xmlns:a="http://schemas.openxmlformats.org/drawingml/2006/main">
            <a:pPr algn="l">
              <a:defRPr sz="2100" b="1">
                <a:solidFill>
                  <a:srgbClr val="4DE3D1"/>
                </a:solidFill>
                <a:latin typeface="Arial Unicode MS"/>
                <a:ea typeface="Arial Unicode MS"/>
                <a:cs typeface="Arial Unicode MS"/>
              </a:defRPr>
            </a:pPr>
            <a:r>
              <a:rPr sz="2100" b="1">
                <a:solidFill>
                  <a:srgbClr val="4DE3D1"/>
                </a:solidFill>
                <a:latin typeface="Arial Unicode MS"/>
                <a:ea typeface="Arial Unicode MS"/>
                <a:cs typeface="Arial Unicode MS"/>
              </a:rPr>
              <a:t>链上：生产在线率</a:t>
            </a:r>
          </a:p>
        </p:txBody>
      </p:sp>
      <p:sp>
        <p:nvSpPr>
          <p:cNvPr id="20" name="">
            <a:extLst xmlns:a="http://schemas.openxmlformats.org/drawingml/2006/main">
              <a:ext uri="{FF2B5EF4-FFF2-40B4-BE49-F238E27FC236}">
                <a16:creationId xmlns:a16="http://schemas.microsoft.com/office/drawing/2014/main" id="{266B1805-6AA7-42E5-B9A8-1FDAD92B5EF9}"/>
              </a:ext>
            </a:extLst>
          </p:cNvPr>
          <p:cNvSpPr>
            <a:spLocks xmlns:a="http://schemas.openxmlformats.org/drawingml/2006/main" noGrp="1"/>
          </p:cNvSpPr>
          <p:nvPr/>
        </p:nvSpPr>
        <p:spPr>
          <a:xfrm xmlns:a="http://schemas.openxmlformats.org/drawingml/2006/main">
            <a:off x="6572250" y="21717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只有进入真实排班，才能形成可处罚的确定性数据</a:t>
            </a:r>
          </a:p>
        </p:txBody>
      </p:sp>
      <p:sp>
        <p:nvSpPr>
          <p:cNvPr id="21" name="">
            <a:extLst xmlns:a="http://schemas.openxmlformats.org/drawingml/2006/main">
              <a:ext uri="{FF2B5EF4-FFF2-40B4-BE49-F238E27FC236}">
                <a16:creationId xmlns:a16="http://schemas.microsoft.com/office/drawing/2014/main" id="{DE1A208E-05B2-4260-91F7-A47E543E0E1B}"/>
              </a:ext>
            </a:extLst>
          </p:cNvPr>
          <p:cNvSpPr>
            <a:spLocks xmlns:a="http://schemas.openxmlformats.org/drawingml/2006/main" noGrp="1"/>
          </p:cNvSpPr>
          <p:nvPr/>
        </p:nvSpPr>
        <p:spPr>
          <a:xfrm xmlns:a="http://schemas.openxmlformats.org/drawingml/2006/main">
            <a:off x="6572250" y="2800350"/>
            <a:ext cx="4095750" cy="781050"/>
          </a:xfrm>
          <a:prstGeom xmlns:a="http://schemas.openxmlformats.org/drawingml/2006/main" prst="roundRect">
            <a:avLst>
              <a:gd name="adj" fmla="val 9756"/>
            </a:avLst>
          </a:prstGeom>
          <a:solidFill xmlns:a="http://schemas.openxmlformats.org/drawingml/2006/main">
            <a:srgbClr val="0B2035"/>
          </a:solidFill>
          <a:ln xmlns:a="http://schemas.openxmlformats.org/drawingml/2006/main" w="9525">
            <a:solidFill>
              <a:srgbClr val="4DE3D1"/>
            </a:solidFill>
            <a:prstDash val="solid"/>
          </a:ln>
        </p:spPr>
      </p:sp>
      <p:sp>
        <p:nvSpPr>
          <p:cNvPr id="22" name="">
            <a:extLst xmlns:a="http://schemas.openxmlformats.org/drawingml/2006/main">
              <a:ext uri="{FF2B5EF4-FFF2-40B4-BE49-F238E27FC236}">
                <a16:creationId xmlns:a16="http://schemas.microsoft.com/office/drawing/2014/main" id="{63BA89EC-7061-49E8-8391-73079B53B9B4}"/>
              </a:ext>
            </a:extLst>
          </p:cNvPr>
          <p:cNvSpPr>
            <a:spLocks xmlns:a="http://schemas.openxmlformats.org/drawingml/2006/main" noGrp="1"/>
          </p:cNvSpPr>
          <p:nvPr/>
        </p:nvSpPr>
        <p:spPr>
          <a:xfrm xmlns:a="http://schemas.openxmlformats.org/drawingml/2006/main">
            <a:off x="6762750" y="29527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650" b="1">
                <a:solidFill>
                  <a:srgbClr val="F7FBFF"/>
                </a:solidFill>
                <a:latin typeface="Arial Unicode MS"/>
                <a:ea typeface="Arial Unicode MS"/>
                <a:cs typeface="Arial Unicode MS"/>
              </a:defRPr>
            </a:defPPr>
          </a:lstStyle>
          <a:p xmlns:a="http://schemas.openxmlformats.org/drawingml/2006/main">
            <a:pPr algn="ctr">
              <a:defRPr sz="1650" b="1">
                <a:solidFill>
                  <a:srgbClr val="F7FBFF"/>
                </a:solidFill>
                <a:latin typeface="Arial Unicode MS"/>
                <a:ea typeface="Arial Unicode MS"/>
                <a:cs typeface="Arial Unicode MS"/>
              </a:defRPr>
            </a:pPr>
            <a:r>
              <a:rPr sz="1650" b="1">
                <a:solidFill>
                  <a:srgbClr val="F7FBFF"/>
                </a:solidFill>
                <a:latin typeface="Arial Unicode MS"/>
                <a:ea typeface="Arial Unicode MS"/>
                <a:cs typeface="Arial Unicode MS"/>
              </a:rPr>
              <a:t>availability = produced / expected</a:t>
            </a:r>
          </a:p>
        </p:txBody>
      </p:sp>
      <p:sp>
        <p:nvSpPr>
          <p:cNvPr id="23" name="">
            <a:extLst xmlns:a="http://schemas.openxmlformats.org/drawingml/2006/main">
              <a:ext uri="{FF2B5EF4-FFF2-40B4-BE49-F238E27FC236}">
                <a16:creationId xmlns:a16="http://schemas.microsoft.com/office/drawing/2014/main" id="{02BAA427-A0FC-4EE1-81E3-F341460FFD1A}"/>
              </a:ext>
            </a:extLst>
          </p:cNvPr>
          <p:cNvSpPr>
            <a:spLocks xmlns:a="http://schemas.openxmlformats.org/drawingml/2006/main" noGrp="1"/>
          </p:cNvSpPr>
          <p:nvPr/>
        </p:nvSpPr>
        <p:spPr>
          <a:xfrm xmlns:a="http://schemas.openxmlformats.org/drawingml/2006/main">
            <a:off x="6572250" y="3952875"/>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250" b="1">
                <a:solidFill>
                  <a:srgbClr val="F1B84B"/>
                </a:solidFill>
                <a:latin typeface="Arial Unicode MS"/>
                <a:ea typeface="Arial Unicode MS"/>
                <a:cs typeface="Arial Unicode MS"/>
              </a:defRPr>
            </a:defPPr>
          </a:lstStyle>
          <a:p xmlns:a="http://schemas.openxmlformats.org/drawingml/2006/main">
            <a:pPr algn="ctr">
              <a:defRPr sz="2250" b="1">
                <a:solidFill>
                  <a:srgbClr val="F1B84B"/>
                </a:solidFill>
                <a:latin typeface="Arial Unicode MS"/>
                <a:ea typeface="Arial Unicode MS"/>
                <a:cs typeface="Arial Unicode MS"/>
              </a:defRPr>
            </a:pPr>
            <a:r>
              <a:rPr sz="2250" b="1">
                <a:solidFill>
                  <a:srgbClr val="F1B84B"/>
                </a:solidFill>
                <a:latin typeface="Arial Unicode MS"/>
                <a:ea typeface="Arial Unicode MS"/>
                <a:cs typeface="Arial Unicode MS"/>
              </a:rPr>
              <a:t>观察 epoch ≥ 99%</a:t>
            </a:r>
          </a:p>
        </p:txBody>
      </p:sp>
      <p:sp>
        <p:nvSpPr>
          <p:cNvPr id="24" name="">
            <a:extLst xmlns:a="http://schemas.openxmlformats.org/drawingml/2006/main">
              <a:ext uri="{FF2B5EF4-FFF2-40B4-BE49-F238E27FC236}">
                <a16:creationId xmlns:a16="http://schemas.microsoft.com/office/drawing/2014/main" id="{409EDC26-1F8E-422B-90CF-4989E6F17FC1}"/>
              </a:ext>
            </a:extLst>
          </p:cNvPr>
          <p:cNvSpPr>
            <a:spLocks xmlns:a="http://schemas.openxmlformats.org/drawingml/2006/main" noGrp="1"/>
          </p:cNvSpPr>
          <p:nvPr/>
        </p:nvSpPr>
        <p:spPr>
          <a:xfrm xmlns:a="http://schemas.openxmlformats.org/drawingml/2006/main">
            <a:off x="6572250" y="44767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350" b="0">
                <a:solidFill>
                  <a:srgbClr val="D7E7F2"/>
                </a:solidFill>
                <a:latin typeface="Arial Unicode MS"/>
                <a:ea typeface="Arial Unicode MS"/>
                <a:cs typeface="Arial Unicode MS"/>
              </a:defRPr>
            </a:defPPr>
          </a:lstStyle>
          <a:p xmlns:a="http://schemas.openxmlformats.org/drawingml/2006/main">
            <a:pPr algn="ctr">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成为 qualified_standby</a:t>
            </a:r>
          </a:p>
        </p:txBody>
      </p:sp>
      <p:sp>
        <p:nvSpPr>
          <p:cNvPr id="25" name="">
            <a:extLst xmlns:a="http://schemas.openxmlformats.org/drawingml/2006/main">
              <a:ext uri="{FF2B5EF4-FFF2-40B4-BE49-F238E27FC236}">
                <a16:creationId xmlns:a16="http://schemas.microsoft.com/office/drawing/2014/main" id="{F0EA0E64-C7BC-4E95-8AD6-4FAE04BCEBA5}"/>
              </a:ext>
            </a:extLst>
          </p:cNvPr>
          <p:cNvSpPr>
            <a:spLocks xmlns:a="http://schemas.openxmlformats.org/drawingml/2006/main" noGrp="1"/>
          </p:cNvSpPr>
          <p:nvPr/>
        </p:nvSpPr>
        <p:spPr>
          <a:xfrm xmlns:a="http://schemas.openxmlformats.org/drawingml/2006/main">
            <a:off x="6572250" y="509587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FF7A6E"/>
                </a:solidFill>
                <a:latin typeface="Arial Unicode MS"/>
                <a:ea typeface="Arial Unicode MS"/>
                <a:cs typeface="Arial Unicode MS"/>
              </a:defRPr>
            </a:defPPr>
          </a:lstStyle>
          <a:p xmlns:a="http://schemas.openxmlformats.org/drawingml/2006/main">
            <a:pPr algn="l">
              <a:defRPr sz="1050" b="0">
                <a:solidFill>
                  <a:srgbClr val="FF7A6E"/>
                </a:solidFill>
                <a:latin typeface="Arial Unicode MS"/>
                <a:ea typeface="Arial Unicode MS"/>
                <a:cs typeface="Arial Unicode MS"/>
              </a:defRPr>
            </a:pPr>
            <a:r>
              <a:rPr sz="1050" b="0">
                <a:solidFill>
                  <a:srgbClr val="FF7A6E"/>
                </a:solidFill>
                <a:latin typeface="Arial Unicode MS"/>
                <a:ea typeface="Arial Unicode MS"/>
                <a:cs typeface="Arial Unicode MS"/>
              </a:rPr>
              <a:t>心跳只能证明脚本或私钥响应，不能代替同步、广播和实际出块能力。</a:t>
            </a:r>
          </a:p>
        </p:txBody>
      </p:sp>
    </p:spTree>
    <p:extLst>
      <p:ext uri="{BB962C8B-B14F-4D97-AF65-F5344CB8AC3E}">
        <p14:creationId xmlns:p14="http://schemas.microsoft.com/office/powerpoint/2010/main" val="1102363553"/>
      </p:ext>
    </p:extLst>
  </p:cSld>
</p:sld>
</file>

<file path=ppt/slides/slide7.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93A32BD-C070-44AE-99C8-33BEF296067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D9F5C9-FF01-4646-8854-6668D6BC5A6E}"/>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06 链上绩效</a:t>
            </a:r>
          </a:p>
        </p:txBody>
      </p:sp>
      <p:sp>
        <p:nvSpPr>
          <p:cNvPr id="3" name="">
            <a:extLst xmlns:a="http://schemas.openxmlformats.org/drawingml/2006/main">
              <a:ext uri="{FF2B5EF4-FFF2-40B4-BE49-F238E27FC236}">
                <a16:creationId xmlns:a16="http://schemas.microsoft.com/office/drawing/2014/main" id="{C6708DDB-7BEF-4FE4-9C4F-52A44AFBD269}"/>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确定性出块统计 intrinsic</a:t>
            </a:r>
          </a:p>
        </p:txBody>
      </p:sp>
      <p:sp>
        <p:nvSpPr>
          <p:cNvPr id="4" name="">
            <a:extLst xmlns:a="http://schemas.openxmlformats.org/drawingml/2006/main">
              <a:ext uri="{FF2B5EF4-FFF2-40B4-BE49-F238E27FC236}">
                <a16:creationId xmlns:a16="http://schemas.microsoft.com/office/drawing/2014/main" id="{6AD60CED-36E9-46D5-9EF3-FE3FDF7D1A29}"/>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C5A5251-0CA0-4431-9599-1C49FC84ABF3}"/>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07</a:t>
            </a:r>
          </a:p>
        </p:txBody>
      </p:sp>
      <p:sp>
        <p:nvSpPr>
          <p:cNvPr id="6" name="">
            <a:extLst xmlns:a="http://schemas.openxmlformats.org/drawingml/2006/main">
              <a:ext uri="{FF2B5EF4-FFF2-40B4-BE49-F238E27FC236}">
                <a16:creationId xmlns:a16="http://schemas.microsoft.com/office/drawing/2014/main" id="{98A73101-6DFD-4D2C-AD0F-F062C16D3774}"/>
              </a:ext>
            </a:extLst>
          </p:cNvPr>
          <p:cNvSpPr>
            <a:spLocks xmlns:a="http://schemas.openxmlformats.org/drawingml/2006/main" noGrp="1"/>
          </p:cNvSpPr>
          <p:nvPr/>
        </p:nvSpPr>
        <p:spPr>
          <a:xfrm xmlns:a="http://schemas.openxmlformats.org/drawingml/2006/main">
            <a:off x="666750" y="1657350"/>
            <a:ext cx="10858500" cy="742950"/>
          </a:xfrm>
          <a:prstGeom xmlns:a="http://schemas.openxmlformats.org/drawingml/2006/main" prst="roundRect">
            <a:avLst>
              <a:gd name="adj" fmla="val 10256"/>
            </a:avLst>
          </a:prstGeom>
          <a:solidFill xmlns:a="http://schemas.openxmlformats.org/drawingml/2006/main">
            <a:srgbClr val="0B2035"/>
          </a:solidFill>
          <a:ln xmlns:a="http://schemas.openxmlformats.org/drawingml/2006/main" w="9525">
            <a:solidFill>
              <a:srgbClr val="4DE3D1"/>
            </a:solidFill>
            <a:prstDash val="solid"/>
          </a:ln>
        </p:spPr>
      </p:sp>
      <p:sp>
        <p:nvSpPr>
          <p:cNvPr id="7" name="">
            <a:extLst xmlns:a="http://schemas.openxmlformats.org/drawingml/2006/main">
              <a:ext uri="{FF2B5EF4-FFF2-40B4-BE49-F238E27FC236}">
                <a16:creationId xmlns:a16="http://schemas.microsoft.com/office/drawing/2014/main" id="{E09FCB4E-F075-4292-9C8D-619129B968D3}"/>
              </a:ext>
            </a:extLst>
          </p:cNvPr>
          <p:cNvSpPr>
            <a:spLocks xmlns:a="http://schemas.openxmlformats.org/drawingml/2006/main" noGrp="1"/>
          </p:cNvSpPr>
          <p:nvPr/>
        </p:nvSpPr>
        <p:spPr>
          <a:xfrm xmlns:a="http://schemas.openxmlformats.org/drawingml/2006/main">
            <a:off x="876300" y="1781175"/>
            <a:ext cx="10429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025" b="1">
                <a:solidFill>
                  <a:srgbClr val="4DE3D1"/>
                </a:solidFill>
                <a:latin typeface="Arial Unicode MS"/>
                <a:ea typeface="Arial Unicode MS"/>
                <a:cs typeface="Arial Unicode MS"/>
              </a:defRPr>
            </a:defPPr>
          </a:lstStyle>
          <a:p xmlns:a="http://schemas.openxmlformats.org/drawingml/2006/main">
            <a:pPr algn="ctr">
              <a:defRPr sz="2025" b="1">
                <a:solidFill>
                  <a:srgbClr val="4DE3D1"/>
                </a:solidFill>
                <a:latin typeface="Arial Unicode MS"/>
                <a:ea typeface="Arial Unicode MS"/>
                <a:cs typeface="Arial Unicode MS"/>
              </a:defRPr>
            </a:pPr>
            <a:r>
              <a:rPr sz="2025" b="1">
                <a:solidFill>
                  <a:srgbClr val="4DE3D1"/>
                </a:solidFill>
                <a:latin typeface="Arial Unicode MS"/>
                <a:ea typeface="Arial Unicode MS"/>
                <a:cs typeface="Arial Unicode MS"/>
              </a:rPr>
              <a:t>get_producer_slot_stats(from_slot, to_slot)</a:t>
            </a:r>
          </a:p>
        </p:txBody>
      </p:sp>
      <p:sp>
        <p:nvSpPr>
          <p:cNvPr id="8" name="">
            <a:extLst xmlns:a="http://schemas.openxmlformats.org/drawingml/2006/main">
              <a:ext uri="{FF2B5EF4-FFF2-40B4-BE49-F238E27FC236}">
                <a16:creationId xmlns:a16="http://schemas.microsoft.com/office/drawing/2014/main" id="{3B7E8C89-3594-49E8-9C1A-E3B9D7304466}"/>
              </a:ext>
            </a:extLst>
          </p:cNvPr>
          <p:cNvSpPr>
            <a:spLocks xmlns:a="http://schemas.openxmlformats.org/drawingml/2006/main" noGrp="1"/>
          </p:cNvSpPr>
          <p:nvPr/>
        </p:nvSpPr>
        <p:spPr>
          <a:xfrm xmlns:a="http://schemas.openxmlformats.org/drawingml/2006/main">
            <a:off x="666750" y="2762250"/>
            <a:ext cx="1352550" cy="342900"/>
          </a:xfrm>
          <a:prstGeom xmlns:a="http://schemas.openxmlformats.org/drawingml/2006/main" prst="roundRect">
            <a:avLst>
              <a:gd name="adj" fmla="val 22222"/>
            </a:avLst>
          </a:prstGeom>
          <a:solidFill xmlns:a="http://schemas.openxmlformats.org/drawingml/2006/main">
            <a:srgbClr val="176B8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A437352-1BD5-4D51-A7CE-43ACBBF21540}"/>
              </a:ext>
            </a:extLst>
          </p:cNvPr>
          <p:cNvSpPr>
            <a:spLocks xmlns:a="http://schemas.openxmlformats.org/drawingml/2006/main" noGrp="1"/>
          </p:cNvSpPr>
          <p:nvPr/>
        </p:nvSpPr>
        <p:spPr>
          <a:xfrm xmlns:a="http://schemas.openxmlformats.org/drawingml/2006/main">
            <a:off x="742950" y="27813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producer</a:t>
            </a:r>
          </a:p>
        </p:txBody>
      </p:sp>
      <p:sp>
        <p:nvSpPr>
          <p:cNvPr id="10" name="">
            <a:extLst xmlns:a="http://schemas.openxmlformats.org/drawingml/2006/main">
              <a:ext uri="{FF2B5EF4-FFF2-40B4-BE49-F238E27FC236}">
                <a16:creationId xmlns:a16="http://schemas.microsoft.com/office/drawing/2014/main" id="{EF7E0EC4-4CF5-44B4-B7C8-5FA50FFFC910}"/>
              </a:ext>
            </a:extLst>
          </p:cNvPr>
          <p:cNvSpPr>
            <a:spLocks xmlns:a="http://schemas.openxmlformats.org/drawingml/2006/main" noGrp="1"/>
          </p:cNvSpPr>
          <p:nvPr/>
        </p:nvSpPr>
        <p:spPr>
          <a:xfrm xmlns:a="http://schemas.openxmlformats.org/drawingml/2006/main">
            <a:off x="2190750" y="2762250"/>
            <a:ext cx="1352550" cy="342900"/>
          </a:xfrm>
          <a:prstGeom xmlns:a="http://schemas.openxmlformats.org/drawingml/2006/main" prst="roundRect">
            <a:avLst>
              <a:gd name="adj" fmla="val 22222"/>
            </a:avLst>
          </a:prstGeom>
          <a:solidFill xmlns:a="http://schemas.openxmlformats.org/drawingml/2006/main">
            <a:srgbClr val="176B8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A0354E9-5F37-4713-8BF0-6D9FFAE3466A}"/>
              </a:ext>
            </a:extLst>
          </p:cNvPr>
          <p:cNvSpPr>
            <a:spLocks xmlns:a="http://schemas.openxmlformats.org/drawingml/2006/main" noGrp="1"/>
          </p:cNvSpPr>
          <p:nvPr/>
        </p:nvSpPr>
        <p:spPr>
          <a:xfrm xmlns:a="http://schemas.openxmlformats.org/drawingml/2006/main">
            <a:off x="2266950" y="27813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expected</a:t>
            </a:r>
          </a:p>
        </p:txBody>
      </p:sp>
      <p:sp>
        <p:nvSpPr>
          <p:cNvPr id="12" name="">
            <a:extLst xmlns:a="http://schemas.openxmlformats.org/drawingml/2006/main">
              <a:ext uri="{FF2B5EF4-FFF2-40B4-BE49-F238E27FC236}">
                <a16:creationId xmlns:a16="http://schemas.microsoft.com/office/drawing/2014/main" id="{F58E21F4-FEA5-437B-A373-4719549E37FB}"/>
              </a:ext>
            </a:extLst>
          </p:cNvPr>
          <p:cNvSpPr>
            <a:spLocks xmlns:a="http://schemas.openxmlformats.org/drawingml/2006/main" noGrp="1"/>
          </p:cNvSpPr>
          <p:nvPr/>
        </p:nvSpPr>
        <p:spPr>
          <a:xfrm xmlns:a="http://schemas.openxmlformats.org/drawingml/2006/main">
            <a:off x="3714750" y="2762250"/>
            <a:ext cx="1352550" cy="342900"/>
          </a:xfrm>
          <a:prstGeom xmlns:a="http://schemas.openxmlformats.org/drawingml/2006/main" prst="roundRect">
            <a:avLst>
              <a:gd name="adj" fmla="val 22222"/>
            </a:avLst>
          </a:prstGeom>
          <a:solidFill xmlns:a="http://schemas.openxmlformats.org/drawingml/2006/main">
            <a:srgbClr val="176B8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B47C366-2CAE-44C0-AB0B-12DBE4A43D46}"/>
              </a:ext>
            </a:extLst>
          </p:cNvPr>
          <p:cNvSpPr>
            <a:spLocks xmlns:a="http://schemas.openxmlformats.org/drawingml/2006/main" noGrp="1"/>
          </p:cNvSpPr>
          <p:nvPr/>
        </p:nvSpPr>
        <p:spPr>
          <a:xfrm xmlns:a="http://schemas.openxmlformats.org/drawingml/2006/main">
            <a:off x="3790950" y="27813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produced</a:t>
            </a:r>
          </a:p>
        </p:txBody>
      </p:sp>
      <p:sp>
        <p:nvSpPr>
          <p:cNvPr id="14" name="">
            <a:extLst xmlns:a="http://schemas.openxmlformats.org/drawingml/2006/main">
              <a:ext uri="{FF2B5EF4-FFF2-40B4-BE49-F238E27FC236}">
                <a16:creationId xmlns:a16="http://schemas.microsoft.com/office/drawing/2014/main" id="{C7CAEBDB-845C-4B5D-9AAC-CCE14EBDAFE3}"/>
              </a:ext>
            </a:extLst>
          </p:cNvPr>
          <p:cNvSpPr>
            <a:spLocks xmlns:a="http://schemas.openxmlformats.org/drawingml/2006/main" noGrp="1"/>
          </p:cNvSpPr>
          <p:nvPr/>
        </p:nvSpPr>
        <p:spPr>
          <a:xfrm xmlns:a="http://schemas.openxmlformats.org/drawingml/2006/main">
            <a:off x="5238750" y="2762250"/>
            <a:ext cx="1352550" cy="342900"/>
          </a:xfrm>
          <a:prstGeom xmlns:a="http://schemas.openxmlformats.org/drawingml/2006/main" prst="roundRect">
            <a:avLst>
              <a:gd name="adj" fmla="val 22222"/>
            </a:avLst>
          </a:prstGeom>
          <a:solidFill xmlns:a="http://schemas.openxmlformats.org/drawingml/2006/main">
            <a:srgbClr val="176B8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4486E7B-24BE-4E60-99AE-F3D1480002D6}"/>
              </a:ext>
            </a:extLst>
          </p:cNvPr>
          <p:cNvSpPr>
            <a:spLocks xmlns:a="http://schemas.openxmlformats.org/drawingml/2006/main" noGrp="1"/>
          </p:cNvSpPr>
          <p:nvPr/>
        </p:nvSpPr>
        <p:spPr>
          <a:xfrm xmlns:a="http://schemas.openxmlformats.org/drawingml/2006/main">
            <a:off x="5314950" y="27813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missed</a:t>
            </a:r>
          </a:p>
        </p:txBody>
      </p:sp>
      <p:sp>
        <p:nvSpPr>
          <p:cNvPr id="16" name="">
            <a:extLst xmlns:a="http://schemas.openxmlformats.org/drawingml/2006/main">
              <a:ext uri="{FF2B5EF4-FFF2-40B4-BE49-F238E27FC236}">
                <a16:creationId xmlns:a16="http://schemas.microsoft.com/office/drawing/2014/main" id="{46914EDB-0E03-44CE-8EDF-12621143E764}"/>
              </a:ext>
            </a:extLst>
          </p:cNvPr>
          <p:cNvSpPr>
            <a:spLocks xmlns:a="http://schemas.openxmlformats.org/drawingml/2006/main" noGrp="1"/>
          </p:cNvSpPr>
          <p:nvPr/>
        </p:nvSpPr>
        <p:spPr>
          <a:xfrm xmlns:a="http://schemas.openxmlformats.org/drawingml/2006/main">
            <a:off x="6762750" y="2762250"/>
            <a:ext cx="1352550" cy="342900"/>
          </a:xfrm>
          <a:prstGeom xmlns:a="http://schemas.openxmlformats.org/drawingml/2006/main" prst="roundRect">
            <a:avLst>
              <a:gd name="adj" fmla="val 22222"/>
            </a:avLst>
          </a:prstGeom>
          <a:solidFill xmlns:a="http://schemas.openxmlformats.org/drawingml/2006/main">
            <a:srgbClr val="27435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4516622-3598-4A97-8A90-1860A2455EFA}"/>
              </a:ext>
            </a:extLst>
          </p:cNvPr>
          <p:cNvSpPr>
            <a:spLocks xmlns:a="http://schemas.openxmlformats.org/drawingml/2006/main" noGrp="1"/>
          </p:cNvSpPr>
          <p:nvPr/>
        </p:nvSpPr>
        <p:spPr>
          <a:xfrm xmlns:a="http://schemas.openxmlformats.org/drawingml/2006/main">
            <a:off x="6838950" y="27813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longest streak</a:t>
            </a:r>
          </a:p>
        </p:txBody>
      </p:sp>
      <p:sp>
        <p:nvSpPr>
          <p:cNvPr id="18" name="">
            <a:extLst xmlns:a="http://schemas.openxmlformats.org/drawingml/2006/main">
              <a:ext uri="{FF2B5EF4-FFF2-40B4-BE49-F238E27FC236}">
                <a16:creationId xmlns:a16="http://schemas.microsoft.com/office/drawing/2014/main" id="{6525F2CF-6488-4AE2-9DE3-95F78802FA46}"/>
              </a:ext>
            </a:extLst>
          </p:cNvPr>
          <p:cNvSpPr>
            <a:spLocks xmlns:a="http://schemas.openxmlformats.org/drawingml/2006/main" noGrp="1"/>
          </p:cNvSpPr>
          <p:nvPr/>
        </p:nvSpPr>
        <p:spPr>
          <a:xfrm xmlns:a="http://schemas.openxmlformats.org/drawingml/2006/main">
            <a:off x="8286750" y="2762250"/>
            <a:ext cx="1352550" cy="342900"/>
          </a:xfrm>
          <a:prstGeom xmlns:a="http://schemas.openxmlformats.org/drawingml/2006/main" prst="roundRect">
            <a:avLst>
              <a:gd name="adj" fmla="val 22222"/>
            </a:avLst>
          </a:prstGeom>
          <a:solidFill xmlns:a="http://schemas.openxmlformats.org/drawingml/2006/main">
            <a:srgbClr val="27435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268203B-65B8-49DA-A548-2984F966B950}"/>
              </a:ext>
            </a:extLst>
          </p:cNvPr>
          <p:cNvSpPr>
            <a:spLocks xmlns:a="http://schemas.openxmlformats.org/drawingml/2006/main" noGrp="1"/>
          </p:cNvSpPr>
          <p:nvPr/>
        </p:nvSpPr>
        <p:spPr>
          <a:xfrm xmlns:a="http://schemas.openxmlformats.org/drawingml/2006/main">
            <a:off x="8362950" y="27813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leading</a:t>
            </a:r>
          </a:p>
        </p:txBody>
      </p:sp>
      <p:sp>
        <p:nvSpPr>
          <p:cNvPr id="20" name="">
            <a:extLst xmlns:a="http://schemas.openxmlformats.org/drawingml/2006/main">
              <a:ext uri="{FF2B5EF4-FFF2-40B4-BE49-F238E27FC236}">
                <a16:creationId xmlns:a16="http://schemas.microsoft.com/office/drawing/2014/main" id="{D0CE30AC-F2DD-4E42-BD16-4A6093E0679E}"/>
              </a:ext>
            </a:extLst>
          </p:cNvPr>
          <p:cNvSpPr>
            <a:spLocks xmlns:a="http://schemas.openxmlformats.org/drawingml/2006/main" noGrp="1"/>
          </p:cNvSpPr>
          <p:nvPr/>
        </p:nvSpPr>
        <p:spPr>
          <a:xfrm xmlns:a="http://schemas.openxmlformats.org/drawingml/2006/main">
            <a:off x="9810750" y="2762250"/>
            <a:ext cx="1352550" cy="342900"/>
          </a:xfrm>
          <a:prstGeom xmlns:a="http://schemas.openxmlformats.org/drawingml/2006/main" prst="roundRect">
            <a:avLst>
              <a:gd name="adj" fmla="val 22222"/>
            </a:avLst>
          </a:prstGeom>
          <a:solidFill xmlns:a="http://schemas.openxmlformats.org/drawingml/2006/main">
            <a:srgbClr val="27435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5D8362B-1EFA-41AF-AFDB-C1A8ABFAF685}"/>
              </a:ext>
            </a:extLst>
          </p:cNvPr>
          <p:cNvSpPr>
            <a:spLocks xmlns:a="http://schemas.openxmlformats.org/drawingml/2006/main" noGrp="1"/>
          </p:cNvSpPr>
          <p:nvPr/>
        </p:nvSpPr>
        <p:spPr>
          <a:xfrm xmlns:a="http://schemas.openxmlformats.org/drawingml/2006/main">
            <a:off x="9886950" y="27813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trailing</a:t>
            </a:r>
          </a:p>
        </p:txBody>
      </p:sp>
      <p:sp>
        <p:nvSpPr>
          <p:cNvPr id="22" name="">
            <a:extLst xmlns:a="http://schemas.openxmlformats.org/drawingml/2006/main">
              <a:ext uri="{FF2B5EF4-FFF2-40B4-BE49-F238E27FC236}">
                <a16:creationId xmlns:a16="http://schemas.microsoft.com/office/drawing/2014/main" id="{5BBBA701-62B1-46AA-9085-820843BA60BA}"/>
              </a:ext>
            </a:extLst>
          </p:cNvPr>
          <p:cNvSpPr>
            <a:spLocks xmlns:a="http://schemas.openxmlformats.org/drawingml/2006/main" noGrp="1"/>
          </p:cNvSpPr>
          <p:nvPr/>
        </p:nvSpPr>
        <p:spPr>
          <a:xfrm xmlns:a="http://schemas.openxmlformats.org/drawingml/2006/main">
            <a:off x="666750" y="36004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a:solidFill>
                  <a:srgbClr val="F7FBFF"/>
                </a:solidFill>
                <a:latin typeface="Arial Unicode MS"/>
                <a:ea typeface="Arial Unicode MS"/>
                <a:cs typeface="Arial Unicode MS"/>
              </a:defRPr>
            </a:defPPr>
          </a:lstStyle>
          <a:p xmlns:a="http://schemas.openxmlformats.org/drawingml/2006/main">
            <a:pPr algn="l">
              <a:defRPr sz="1650" b="1">
                <a:solidFill>
                  <a:srgbClr val="F7FBFF"/>
                </a:solidFill>
                <a:latin typeface="Arial Unicode MS"/>
                <a:ea typeface="Arial Unicode MS"/>
                <a:cs typeface="Arial Unicode MS"/>
              </a:defRPr>
            </a:pPr>
            <a:r>
              <a:rPr sz="1650" b="1">
                <a:solidFill>
                  <a:srgbClr val="F7FBFF"/>
                </a:solidFill>
                <a:latin typeface="Arial Unicode MS"/>
                <a:ea typeface="Arial Unicode MS"/>
                <a:cs typeface="Arial Unicode MS"/>
              </a:rPr>
              <a:t>输入边界</a:t>
            </a:r>
          </a:p>
        </p:txBody>
      </p:sp>
      <p:sp>
        <p:nvSpPr>
          <p:cNvPr id="23" name="">
            <a:extLst xmlns:a="http://schemas.openxmlformats.org/drawingml/2006/main">
              <a:ext uri="{FF2B5EF4-FFF2-40B4-BE49-F238E27FC236}">
                <a16:creationId xmlns:a16="http://schemas.microsoft.com/office/drawing/2014/main" id="{F2A76B55-9485-446F-A279-C5595EFEB396}"/>
              </a:ext>
            </a:extLst>
          </p:cNvPr>
          <p:cNvSpPr>
            <a:spLocks xmlns:a="http://schemas.openxmlformats.org/drawingml/2006/main" noGrp="1"/>
          </p:cNvSpPr>
          <p:nvPr/>
        </p:nvSpPr>
        <p:spPr>
          <a:xfrm xmlns:a="http://schemas.openxmlformats.org/drawingml/2006/main">
            <a:off x="666750" y="4000500"/>
            <a:ext cx="504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仅允许 head slot 之后到 pending block slot；单次最多 100,000 slots</a:t>
            </a:r>
          </a:p>
        </p:txBody>
      </p:sp>
      <p:sp>
        <p:nvSpPr>
          <p:cNvPr id="24" name="">
            <a:extLst xmlns:a="http://schemas.openxmlformats.org/drawingml/2006/main">
              <a:ext uri="{FF2B5EF4-FFF2-40B4-BE49-F238E27FC236}">
                <a16:creationId xmlns:a16="http://schemas.microsoft.com/office/drawing/2014/main" id="{0D6EEB4B-9C8F-40E0-889B-1A03BED2046D}"/>
              </a:ext>
            </a:extLst>
          </p:cNvPr>
          <p:cNvSpPr>
            <a:spLocks xmlns:a="http://schemas.openxmlformats.org/drawingml/2006/main" noGrp="1"/>
          </p:cNvSpPr>
          <p:nvPr/>
        </p:nvSpPr>
        <p:spPr>
          <a:xfrm xmlns:a="http://schemas.openxmlformats.org/drawingml/2006/main">
            <a:off x="6286500" y="36004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a:solidFill>
                  <a:srgbClr val="F7FBFF"/>
                </a:solidFill>
                <a:latin typeface="Arial Unicode MS"/>
                <a:ea typeface="Arial Unicode MS"/>
                <a:cs typeface="Arial Unicode MS"/>
              </a:defRPr>
            </a:defPPr>
          </a:lstStyle>
          <a:p xmlns:a="http://schemas.openxmlformats.org/drawingml/2006/main">
            <a:pPr algn="l">
              <a:defRPr sz="1650" b="1">
                <a:solidFill>
                  <a:srgbClr val="F7FBFF"/>
                </a:solidFill>
                <a:latin typeface="Arial Unicode MS"/>
                <a:ea typeface="Arial Unicode MS"/>
                <a:cs typeface="Arial Unicode MS"/>
              </a:defRPr>
            </a:pPr>
            <a:r>
              <a:rPr sz="1650" b="1">
                <a:solidFill>
                  <a:srgbClr val="F7FBFF"/>
                </a:solidFill>
                <a:latin typeface="Arial Unicode MS"/>
                <a:ea typeface="Arial Unicode MS"/>
                <a:cs typeface="Arial Unicode MS"/>
              </a:rPr>
              <a:t>确定性来源</a:t>
            </a:r>
          </a:p>
        </p:txBody>
      </p:sp>
      <p:sp>
        <p:nvSpPr>
          <p:cNvPr id="25" name="">
            <a:extLst xmlns:a="http://schemas.openxmlformats.org/drawingml/2006/main">
              <a:ext uri="{FF2B5EF4-FFF2-40B4-BE49-F238E27FC236}">
                <a16:creationId xmlns:a16="http://schemas.microsoft.com/office/drawing/2014/main" id="{B6C0DE6F-40F7-43E8-B4E7-6918F73350F1}"/>
              </a:ext>
            </a:extLst>
          </p:cNvPr>
          <p:cNvSpPr>
            <a:spLocks xmlns:a="http://schemas.openxmlformats.org/drawingml/2006/main" noGrp="1"/>
          </p:cNvSpPr>
          <p:nvPr/>
        </p:nvSpPr>
        <p:spPr>
          <a:xfrm xmlns:a="http://schemas.openxmlformats.org/drawingml/2006/main">
            <a:off x="6286500" y="400050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有效排班、排班切换边界、区块时间戳和实际生产者</a:t>
            </a:r>
          </a:p>
        </p:txBody>
      </p:sp>
      <p:sp>
        <p:nvSpPr>
          <p:cNvPr id="26" name="">
            <a:extLst xmlns:a="http://schemas.openxmlformats.org/drawingml/2006/main">
              <a:ext uri="{FF2B5EF4-FFF2-40B4-BE49-F238E27FC236}">
                <a16:creationId xmlns:a16="http://schemas.microsoft.com/office/drawing/2014/main" id="{03929B3B-D39D-4DA3-96B0-68124FEE9E24}"/>
              </a:ext>
            </a:extLst>
          </p:cNvPr>
          <p:cNvSpPr>
            <a:spLocks xmlns:a="http://schemas.openxmlformats.org/drawingml/2006/main" noGrp="1"/>
          </p:cNvSpPr>
          <p:nvPr/>
        </p:nvSpPr>
        <p:spPr>
          <a:xfrm xmlns:a="http://schemas.openxmlformats.org/drawingml/2006/main">
            <a:off x="666750" y="49530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a:solidFill>
                  <a:srgbClr val="F7FBFF"/>
                </a:solidFill>
                <a:latin typeface="Arial Unicode MS"/>
                <a:ea typeface="Arial Unicode MS"/>
                <a:cs typeface="Arial Unicode MS"/>
              </a:defRPr>
            </a:defPPr>
          </a:lstStyle>
          <a:p xmlns:a="http://schemas.openxmlformats.org/drawingml/2006/main">
            <a:pPr algn="l">
              <a:defRPr sz="1650" b="1">
                <a:solidFill>
                  <a:srgbClr val="F7FBFF"/>
                </a:solidFill>
                <a:latin typeface="Arial Unicode MS"/>
                <a:ea typeface="Arial Unicode MS"/>
                <a:cs typeface="Arial Unicode MS"/>
              </a:defRPr>
            </a:pPr>
            <a:r>
              <a:rPr sz="1650" b="1">
                <a:solidFill>
                  <a:srgbClr val="F7FBFF"/>
                </a:solidFill>
                <a:latin typeface="Arial Unicode MS"/>
                <a:ea typeface="Arial Unicode MS"/>
                <a:cs typeface="Arial Unicode MS"/>
              </a:rPr>
              <a:t>禁止来源</a:t>
            </a:r>
          </a:p>
        </p:txBody>
      </p:sp>
      <p:sp>
        <p:nvSpPr>
          <p:cNvPr id="27" name="">
            <a:extLst xmlns:a="http://schemas.openxmlformats.org/drawingml/2006/main">
              <a:ext uri="{FF2B5EF4-FFF2-40B4-BE49-F238E27FC236}">
                <a16:creationId xmlns:a16="http://schemas.microsoft.com/office/drawing/2014/main" id="{18E96D5E-5597-41DD-804D-7935D95764C5}"/>
              </a:ext>
            </a:extLst>
          </p:cNvPr>
          <p:cNvSpPr>
            <a:spLocks xmlns:a="http://schemas.openxmlformats.org/drawingml/2006/main" noGrp="1"/>
          </p:cNvSpPr>
          <p:nvPr/>
        </p:nvSpPr>
        <p:spPr>
          <a:xfrm xmlns:a="http://schemas.openxmlformats.org/drawingml/2006/main">
            <a:off x="666750" y="5353050"/>
            <a:ext cx="504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FF7A6E"/>
                </a:solidFill>
                <a:latin typeface="Arial Unicode MS"/>
                <a:ea typeface="Arial Unicode MS"/>
                <a:cs typeface="Arial Unicode MS"/>
              </a:defRPr>
            </a:defPPr>
          </a:lstStyle>
          <a:p xmlns:a="http://schemas.openxmlformats.org/drawingml/2006/main">
            <a:pPr algn="l">
              <a:defRPr sz="1275" b="0">
                <a:solidFill>
                  <a:srgbClr val="FF7A6E"/>
                </a:solidFill>
                <a:latin typeface="Arial Unicode MS"/>
                <a:ea typeface="Arial Unicode MS"/>
                <a:cs typeface="Arial Unicode MS"/>
              </a:defRPr>
            </a:pPr>
            <a:r>
              <a:rPr sz="1275" b="0">
                <a:solidFill>
                  <a:srgbClr val="FF7A6E"/>
                </a:solidFill>
                <a:latin typeface="Arial Unicode MS"/>
                <a:ea typeface="Arial Unicode MS"/>
                <a:cs typeface="Arial Unicode MS"/>
              </a:rPr>
              <a:t>网络探测、本地时钟、外部服务、非共识历史数据库</a:t>
            </a:r>
          </a:p>
        </p:txBody>
      </p:sp>
      <p:sp>
        <p:nvSpPr>
          <p:cNvPr id="28" name="">
            <a:extLst xmlns:a="http://schemas.openxmlformats.org/drawingml/2006/main">
              <a:ext uri="{FF2B5EF4-FFF2-40B4-BE49-F238E27FC236}">
                <a16:creationId xmlns:a16="http://schemas.microsoft.com/office/drawing/2014/main" id="{8533A502-EE26-4E00-97D2-3B510D4CA5EF}"/>
              </a:ext>
            </a:extLst>
          </p:cNvPr>
          <p:cNvSpPr>
            <a:spLocks xmlns:a="http://schemas.openxmlformats.org/drawingml/2006/main" noGrp="1"/>
          </p:cNvSpPr>
          <p:nvPr/>
        </p:nvSpPr>
        <p:spPr>
          <a:xfrm xmlns:a="http://schemas.openxmlformats.org/drawingml/2006/main">
            <a:off x="6286500" y="49530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a:solidFill>
                  <a:srgbClr val="F7FBFF"/>
                </a:solidFill>
                <a:latin typeface="Arial Unicode MS"/>
                <a:ea typeface="Arial Unicode MS"/>
                <a:cs typeface="Arial Unicode MS"/>
              </a:defRPr>
            </a:defPPr>
          </a:lstStyle>
          <a:p xmlns:a="http://schemas.openxmlformats.org/drawingml/2006/main">
            <a:pPr algn="l">
              <a:defRPr sz="1650" b="1">
                <a:solidFill>
                  <a:srgbClr val="F7FBFF"/>
                </a:solidFill>
                <a:latin typeface="Arial Unicode MS"/>
                <a:ea typeface="Arial Unicode MS"/>
                <a:cs typeface="Arial Unicode MS"/>
              </a:defRPr>
            </a:pPr>
            <a:r>
              <a:rPr sz="1650" b="1">
                <a:solidFill>
                  <a:srgbClr val="F7FBFF"/>
                </a:solidFill>
                <a:latin typeface="Arial Unicode MS"/>
                <a:ea typeface="Arial Unicode MS"/>
                <a:cs typeface="Arial Unicode MS"/>
              </a:rPr>
              <a:t>处理方式</a:t>
            </a:r>
          </a:p>
        </p:txBody>
      </p:sp>
      <p:sp>
        <p:nvSpPr>
          <p:cNvPr id="29" name="">
            <a:extLst xmlns:a="http://schemas.openxmlformats.org/drawingml/2006/main">
              <a:ext uri="{FF2B5EF4-FFF2-40B4-BE49-F238E27FC236}">
                <a16:creationId xmlns:a16="http://schemas.microsoft.com/office/drawing/2014/main" id="{048353C7-4DDA-410A-877E-555ED2F348E5}"/>
              </a:ext>
            </a:extLst>
          </p:cNvPr>
          <p:cNvSpPr>
            <a:spLocks xmlns:a="http://schemas.openxmlformats.org/drawingml/2006/main" noGrp="1"/>
          </p:cNvSpPr>
          <p:nvPr/>
        </p:nvSpPr>
        <p:spPr>
          <a:xfrm xmlns:a="http://schemas.openxmlformats.org/drawingml/2006/main">
            <a:off x="6286500" y="535305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FF3E8"/>
                </a:solidFill>
                <a:latin typeface="Arial Unicode MS"/>
                <a:ea typeface="Arial Unicode MS"/>
                <a:cs typeface="Arial Unicode MS"/>
              </a:defRPr>
            </a:defPPr>
          </a:lstStyle>
          <a:p xmlns:a="http://schemas.openxmlformats.org/drawingml/2006/main">
            <a:pPr algn="l">
              <a:defRPr sz="1275" b="0">
                <a:solidFill>
                  <a:srgbClr val="9FF3E8"/>
                </a:solidFill>
                <a:latin typeface="Arial Unicode MS"/>
                <a:ea typeface="Arial Unicode MS"/>
                <a:cs typeface="Arial Unicode MS"/>
              </a:defRPr>
            </a:pPr>
            <a:r>
              <a:rPr sz="1275" b="0">
                <a:solidFill>
                  <a:srgbClr val="9FF3E8"/>
                </a:solidFill>
                <a:latin typeface="Arial Unicode MS"/>
                <a:ea typeface="Arial Unicode MS"/>
                <a:cs typeface="Arial Unicode MS"/>
              </a:rPr>
              <a:t>onblock 只累计；epoch 边界统一结算资格、奖励与递补</a:t>
            </a:r>
          </a:p>
        </p:txBody>
      </p:sp>
    </p:spTree>
    <p:extLst>
      <p:ext uri="{BB962C8B-B14F-4D97-AF65-F5344CB8AC3E}">
        <p14:creationId xmlns:p14="http://schemas.microsoft.com/office/powerpoint/2010/main" val="1822016530"/>
      </p:ext>
    </p:extLst>
  </p:cSld>
</p:sld>
</file>

<file path=ppt/slides/slide8.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24C4C87-A6C5-445C-8E83-AB6BF6FDC6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3D658C-0C7D-496C-ACC4-C2795E7756C1}"/>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07 EPOCH 时钟</a:t>
            </a:r>
          </a:p>
        </p:txBody>
      </p:sp>
      <p:sp>
        <p:nvSpPr>
          <p:cNvPr id="3" name="">
            <a:extLst xmlns:a="http://schemas.openxmlformats.org/drawingml/2006/main">
              <a:ext uri="{FF2B5EF4-FFF2-40B4-BE49-F238E27FC236}">
                <a16:creationId xmlns:a16="http://schemas.microsoft.com/office/drawing/2014/main" id="{38CC98E1-F629-4594-AAE5-D234FAB81A97}"/>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6 小时 Epoch 与状态切换</a:t>
            </a:r>
          </a:p>
        </p:txBody>
      </p:sp>
      <p:sp>
        <p:nvSpPr>
          <p:cNvPr id="4" name="">
            <a:extLst xmlns:a="http://schemas.openxmlformats.org/drawingml/2006/main">
              <a:ext uri="{FF2B5EF4-FFF2-40B4-BE49-F238E27FC236}">
                <a16:creationId xmlns:a16="http://schemas.microsoft.com/office/drawing/2014/main" id="{A77E314B-EA0A-4E49-A1A1-37371C1CE8D7}"/>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6A1C08D-BBEB-4C40-AD25-A2B6D89D0444}"/>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08</a:t>
            </a:r>
          </a:p>
        </p:txBody>
      </p:sp>
      <p:sp>
        <p:nvSpPr>
          <p:cNvPr id="6" name="">
            <a:extLst xmlns:a="http://schemas.openxmlformats.org/drawingml/2006/main">
              <a:ext uri="{FF2B5EF4-FFF2-40B4-BE49-F238E27FC236}">
                <a16:creationId xmlns:a16="http://schemas.microsoft.com/office/drawing/2014/main" id="{2812667F-4EB6-41C4-B6AE-D1DF07E7F2D1}"/>
              </a:ext>
            </a:extLst>
          </p:cNvPr>
          <p:cNvSpPr>
            <a:spLocks xmlns:a="http://schemas.openxmlformats.org/drawingml/2006/main" noGrp="1"/>
          </p:cNvSpPr>
          <p:nvPr/>
        </p:nvSpPr>
        <p:spPr>
          <a:xfrm xmlns:a="http://schemas.openxmlformats.org/drawingml/2006/main">
            <a:off x="666750" y="1524000"/>
            <a:ext cx="266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4350" b="1">
                <a:solidFill>
                  <a:srgbClr val="4DE3D1"/>
                </a:solidFill>
                <a:latin typeface="Arial Unicode MS"/>
                <a:ea typeface="Arial Unicode MS"/>
                <a:cs typeface="Arial Unicode MS"/>
              </a:defRPr>
            </a:defPPr>
          </a:lstStyle>
          <a:p xmlns:a="http://schemas.openxmlformats.org/drawingml/2006/main">
            <a:pPr algn="ctr">
              <a:defRPr sz="4350" b="1">
                <a:solidFill>
                  <a:srgbClr val="4DE3D1"/>
                </a:solidFill>
                <a:latin typeface="Arial Unicode MS"/>
                <a:ea typeface="Arial Unicode MS"/>
                <a:cs typeface="Arial Unicode MS"/>
              </a:defRPr>
            </a:pPr>
            <a:r>
              <a:rPr sz="4350" b="1">
                <a:solidFill>
                  <a:srgbClr val="4DE3D1"/>
                </a:solidFill>
                <a:latin typeface="Arial Unicode MS"/>
                <a:ea typeface="Arial Unicode MS"/>
                <a:cs typeface="Arial Unicode MS"/>
              </a:rPr>
              <a:t>43,200</a:t>
            </a:r>
          </a:p>
        </p:txBody>
      </p:sp>
      <p:sp>
        <p:nvSpPr>
          <p:cNvPr id="7" name="">
            <a:extLst xmlns:a="http://schemas.openxmlformats.org/drawingml/2006/main">
              <a:ext uri="{FF2B5EF4-FFF2-40B4-BE49-F238E27FC236}">
                <a16:creationId xmlns:a16="http://schemas.microsoft.com/office/drawing/2014/main" id="{152373F2-3602-4B33-AC3D-6B7AC3666B02}"/>
              </a:ext>
            </a:extLst>
          </p:cNvPr>
          <p:cNvSpPr>
            <a:spLocks xmlns:a="http://schemas.openxmlformats.org/drawingml/2006/main" noGrp="1"/>
          </p:cNvSpPr>
          <p:nvPr/>
        </p:nvSpPr>
        <p:spPr>
          <a:xfrm xmlns:a="http://schemas.openxmlformats.org/drawingml/2006/main">
            <a:off x="666750" y="23050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350" b="0">
                <a:solidFill>
                  <a:srgbClr val="D7E7F2"/>
                </a:solidFill>
                <a:latin typeface="Arial Unicode MS"/>
                <a:ea typeface="Arial Unicode MS"/>
                <a:cs typeface="Arial Unicode MS"/>
              </a:defRPr>
            </a:defPPr>
          </a:lstStyle>
          <a:p xmlns:a="http://schemas.openxmlformats.org/drawingml/2006/main">
            <a:pPr algn="ctr">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slots / epoch</a:t>
            </a:r>
          </a:p>
        </p:txBody>
      </p:sp>
      <p:sp>
        <p:nvSpPr>
          <p:cNvPr id="8" name="">
            <a:extLst xmlns:a="http://schemas.openxmlformats.org/drawingml/2006/main">
              <a:ext uri="{FF2B5EF4-FFF2-40B4-BE49-F238E27FC236}">
                <a16:creationId xmlns:a16="http://schemas.microsoft.com/office/drawing/2014/main" id="{F62F855D-B5B9-438F-B173-30FBF27AAC91}"/>
              </a:ext>
            </a:extLst>
          </p:cNvPr>
          <p:cNvSpPr>
            <a:spLocks xmlns:a="http://schemas.openxmlformats.org/drawingml/2006/main" noGrp="1"/>
          </p:cNvSpPr>
          <p:nvPr/>
        </p:nvSpPr>
        <p:spPr>
          <a:xfrm xmlns:a="http://schemas.openxmlformats.org/drawingml/2006/main">
            <a:off x="3810000" y="1524000"/>
            <a:ext cx="209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4350" b="1">
                <a:solidFill>
                  <a:srgbClr val="F1B84B"/>
                </a:solidFill>
                <a:latin typeface="Arial Unicode MS"/>
                <a:ea typeface="Arial Unicode MS"/>
                <a:cs typeface="Arial Unicode MS"/>
              </a:defRPr>
            </a:defPPr>
          </a:lstStyle>
          <a:p xmlns:a="http://schemas.openxmlformats.org/drawingml/2006/main">
            <a:pPr algn="ctr">
              <a:defRPr sz="4350" b="1">
                <a:solidFill>
                  <a:srgbClr val="F1B84B"/>
                </a:solidFill>
                <a:latin typeface="Arial Unicode MS"/>
                <a:ea typeface="Arial Unicode MS"/>
                <a:cs typeface="Arial Unicode MS"/>
              </a:defRPr>
            </a:pPr>
            <a:r>
              <a:rPr sz="4350" b="1">
                <a:solidFill>
                  <a:srgbClr val="F1B84B"/>
                </a:solidFill>
                <a:latin typeface="Arial Unicode MS"/>
                <a:ea typeface="Arial Unicode MS"/>
                <a:cs typeface="Arial Unicode MS"/>
              </a:rPr>
              <a:t>4</a:t>
            </a:r>
          </a:p>
        </p:txBody>
      </p:sp>
      <p:sp>
        <p:nvSpPr>
          <p:cNvPr id="9" name="">
            <a:extLst xmlns:a="http://schemas.openxmlformats.org/drawingml/2006/main">
              <a:ext uri="{FF2B5EF4-FFF2-40B4-BE49-F238E27FC236}">
                <a16:creationId xmlns:a16="http://schemas.microsoft.com/office/drawing/2014/main" id="{27774573-5CD2-4635-9AC9-0865BF6B8413}"/>
              </a:ext>
            </a:extLst>
          </p:cNvPr>
          <p:cNvSpPr>
            <a:spLocks xmlns:a="http://schemas.openxmlformats.org/drawingml/2006/main" noGrp="1"/>
          </p:cNvSpPr>
          <p:nvPr/>
        </p:nvSpPr>
        <p:spPr>
          <a:xfrm xmlns:a="http://schemas.openxmlformats.org/drawingml/2006/main">
            <a:off x="3810000" y="23050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350" b="0">
                <a:solidFill>
                  <a:srgbClr val="D7E7F2"/>
                </a:solidFill>
                <a:latin typeface="Arial Unicode MS"/>
                <a:ea typeface="Arial Unicode MS"/>
                <a:cs typeface="Arial Unicode MS"/>
              </a:defRPr>
            </a:defPPr>
          </a:lstStyle>
          <a:p xmlns:a="http://schemas.openxmlformats.org/drawingml/2006/main">
            <a:pPr algn="ctr">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次结算 / 天</a:t>
            </a:r>
          </a:p>
        </p:txBody>
      </p:sp>
      <p:sp>
        <p:nvSpPr>
          <p:cNvPr id="10" name="">
            <a:extLst xmlns:a="http://schemas.openxmlformats.org/drawingml/2006/main">
              <a:ext uri="{FF2B5EF4-FFF2-40B4-BE49-F238E27FC236}">
                <a16:creationId xmlns:a16="http://schemas.microsoft.com/office/drawing/2014/main" id="{F2754D11-EB8D-44B5-A8EE-752D2D223241}"/>
              </a:ext>
            </a:extLst>
          </p:cNvPr>
          <p:cNvSpPr>
            <a:spLocks xmlns:a="http://schemas.openxmlformats.org/drawingml/2006/main" noGrp="1"/>
          </p:cNvSpPr>
          <p:nvPr/>
        </p:nvSpPr>
        <p:spPr>
          <a:xfrm xmlns:a="http://schemas.openxmlformats.org/drawingml/2006/main">
            <a:off x="6572250" y="152400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3900" b="1">
                <a:solidFill>
                  <a:srgbClr val="FF7A6E"/>
                </a:solidFill>
                <a:latin typeface="Arial Unicode MS"/>
                <a:ea typeface="Arial Unicode MS"/>
                <a:cs typeface="Arial Unicode MS"/>
              </a:defRPr>
            </a:defPPr>
          </a:lstStyle>
          <a:p xmlns:a="http://schemas.openxmlformats.org/drawingml/2006/main">
            <a:pPr algn="ctr">
              <a:defRPr sz="3900" b="1">
                <a:solidFill>
                  <a:srgbClr val="FF7A6E"/>
                </a:solidFill>
                <a:latin typeface="Arial Unicode MS"/>
                <a:ea typeface="Arial Unicode MS"/>
                <a:cs typeface="Arial Unicode MS"/>
              </a:defRPr>
            </a:pPr>
            <a:r>
              <a:rPr sz="3900" b="1">
                <a:solidFill>
                  <a:srgbClr val="FF7A6E"/>
                </a:solidFill>
                <a:latin typeface="Arial Unicode MS"/>
                <a:ea typeface="Arial Unicode MS"/>
                <a:cs typeface="Arial Unicode MS"/>
              </a:rPr>
              <a:t>2–24h</a:t>
            </a:r>
          </a:p>
        </p:txBody>
      </p:sp>
      <p:sp>
        <p:nvSpPr>
          <p:cNvPr id="11" name="">
            <a:extLst xmlns:a="http://schemas.openxmlformats.org/drawingml/2006/main">
              <a:ext uri="{FF2B5EF4-FFF2-40B4-BE49-F238E27FC236}">
                <a16:creationId xmlns:a16="http://schemas.microsoft.com/office/drawing/2014/main" id="{63C1BA48-10D3-4807-9FAA-4EC8DAE1DB0E}"/>
              </a:ext>
            </a:extLst>
          </p:cNvPr>
          <p:cNvSpPr>
            <a:spLocks xmlns:a="http://schemas.openxmlformats.org/drawingml/2006/main" noGrp="1"/>
          </p:cNvSpPr>
          <p:nvPr/>
        </p:nvSpPr>
        <p:spPr>
          <a:xfrm xmlns:a="http://schemas.openxmlformats.org/drawingml/2006/main">
            <a:off x="6572250" y="23050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350" b="0">
                <a:solidFill>
                  <a:srgbClr val="D7E7F2"/>
                </a:solidFill>
                <a:latin typeface="Arial Unicode MS"/>
                <a:ea typeface="Arial Unicode MS"/>
                <a:cs typeface="Arial Unicode MS"/>
              </a:defRPr>
            </a:defPPr>
          </a:lstStyle>
          <a:p xmlns:a="http://schemas.openxmlformats.org/drawingml/2006/main">
            <a:pPr algn="ctr">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DAO 可治理硬边界</a:t>
            </a:r>
          </a:p>
        </p:txBody>
      </p:sp>
      <p:sp>
        <p:nvSpPr>
          <p:cNvPr id="12" name="">
            <a:extLst xmlns:a="http://schemas.openxmlformats.org/drawingml/2006/main">
              <a:ext uri="{FF2B5EF4-FFF2-40B4-BE49-F238E27FC236}">
                <a16:creationId xmlns:a16="http://schemas.microsoft.com/office/drawing/2014/main" id="{FE18F7A2-20C2-4F4C-BEB7-FC833DECFE14}"/>
              </a:ext>
            </a:extLst>
          </p:cNvPr>
          <p:cNvSpPr>
            <a:spLocks xmlns:a="http://schemas.openxmlformats.org/drawingml/2006/main" noGrp="1"/>
          </p:cNvSpPr>
          <p:nvPr/>
        </p:nvSpPr>
        <p:spPr>
          <a:xfrm xmlns:a="http://schemas.openxmlformats.org/drawingml/2006/main">
            <a:off x="666750" y="2895600"/>
            <a:ext cx="1047750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7780C29-ACDD-4761-ABDF-6A1EC060BCE2}"/>
              </a:ext>
            </a:extLst>
          </p:cNvPr>
          <p:cNvSpPr>
            <a:spLocks xmlns:a="http://schemas.openxmlformats.org/drawingml/2006/main" noGrp="1"/>
          </p:cNvSpPr>
          <p:nvPr/>
        </p:nvSpPr>
        <p:spPr>
          <a:xfrm xmlns:a="http://schemas.openxmlformats.org/drawingml/2006/main">
            <a:off x="666750" y="31813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a:solidFill>
                  <a:srgbClr val="F7FBFF"/>
                </a:solidFill>
                <a:latin typeface="Arial Unicode MS"/>
                <a:ea typeface="Arial Unicode MS"/>
                <a:cs typeface="Arial Unicode MS"/>
              </a:defRPr>
            </a:defPPr>
          </a:lstStyle>
          <a:p xmlns:a="http://schemas.openxmlformats.org/drawingml/2006/main">
            <a:pPr algn="l">
              <a:defRPr sz="1725" b="1">
                <a:solidFill>
                  <a:srgbClr val="F7FBFF"/>
                </a:solidFill>
                <a:latin typeface="Arial Unicode MS"/>
                <a:ea typeface="Arial Unicode MS"/>
                <a:cs typeface="Arial Unicode MS"/>
              </a:defRPr>
            </a:pPr>
            <a:r>
              <a:rPr sz="1725" b="1">
                <a:solidFill>
                  <a:srgbClr val="F7FBFF"/>
                </a:solidFill>
                <a:latin typeface="Arial Unicode MS"/>
                <a:ea typeface="Arial Unicode MS"/>
                <a:cs typeface="Arial Unicode MS"/>
              </a:rPr>
              <a:t>边界结算顺序</a:t>
            </a:r>
          </a:p>
        </p:txBody>
      </p:sp>
      <p:sp>
        <p:nvSpPr>
          <p:cNvPr id="14" name="">
            <a:extLst xmlns:a="http://schemas.openxmlformats.org/drawingml/2006/main">
              <a:ext uri="{FF2B5EF4-FFF2-40B4-BE49-F238E27FC236}">
                <a16:creationId xmlns:a16="http://schemas.microsoft.com/office/drawing/2014/main" id="{CE80FABF-F55E-4698-BE49-E3F36F6D44A2}"/>
              </a:ext>
            </a:extLst>
          </p:cNvPr>
          <p:cNvSpPr>
            <a:spLocks xmlns:a="http://schemas.openxmlformats.org/drawingml/2006/main" noGrp="1"/>
          </p:cNvSpPr>
          <p:nvPr/>
        </p:nvSpPr>
        <p:spPr>
          <a:xfrm xmlns:a="http://schemas.openxmlformats.org/drawingml/2006/main">
            <a:off x="666750" y="3695700"/>
            <a:ext cx="3190875" cy="514350"/>
          </a:xfrm>
          <a:prstGeom xmlns:a="http://schemas.openxmlformats.org/drawingml/2006/main" prst="roundRect">
            <a:avLst>
              <a:gd name="adj" fmla="val 14815"/>
            </a:avLst>
          </a:prstGeom>
          <a:solidFill xmlns:a="http://schemas.openxmlformats.org/drawingml/2006/main">
            <a:srgbClr val="0B20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B01616D-9924-479B-923D-2B32858C227D}"/>
              </a:ext>
            </a:extLst>
          </p:cNvPr>
          <p:cNvSpPr>
            <a:spLocks xmlns:a="http://schemas.openxmlformats.org/drawingml/2006/main" noGrp="1"/>
          </p:cNvSpPr>
          <p:nvPr/>
        </p:nvSpPr>
        <p:spPr>
          <a:xfrm xmlns:a="http://schemas.openxmlformats.org/drawingml/2006/main">
            <a:off x="781050" y="3771900"/>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4DE3D1"/>
                </a:solidFill>
                <a:latin typeface="Arial Unicode MS"/>
                <a:ea typeface="Arial Unicode MS"/>
                <a:cs typeface="Arial Unicode MS"/>
              </a:defRPr>
            </a:defPPr>
          </a:lstStyle>
          <a:p xmlns:a="http://schemas.openxmlformats.org/drawingml/2006/main">
            <a:pPr algn="l">
              <a:defRPr sz="1200" b="1">
                <a:solidFill>
                  <a:srgbClr val="4DE3D1"/>
                </a:solidFill>
                <a:latin typeface="Arial Unicode MS"/>
                <a:ea typeface="Arial Unicode MS"/>
                <a:cs typeface="Arial Unicode MS"/>
              </a:defRPr>
            </a:pPr>
            <a:r>
              <a:rPr sz="1200" b="1">
                <a:solidFill>
                  <a:srgbClr val="4DE3D1"/>
                </a:solidFill>
                <a:latin typeface="Arial Unicode MS"/>
                <a:ea typeface="Arial Unicode MS"/>
                <a:cs typeface="Arial Unicode MS"/>
              </a:rPr>
              <a:t>01</a:t>
            </a:r>
          </a:p>
        </p:txBody>
      </p:sp>
      <p:sp>
        <p:nvSpPr>
          <p:cNvPr id="16" name="">
            <a:extLst xmlns:a="http://schemas.openxmlformats.org/drawingml/2006/main">
              <a:ext uri="{FF2B5EF4-FFF2-40B4-BE49-F238E27FC236}">
                <a16:creationId xmlns:a16="http://schemas.microsoft.com/office/drawing/2014/main" id="{3064D425-9EDC-41AC-8191-2A351BEAB98A}"/>
              </a:ext>
            </a:extLst>
          </p:cNvPr>
          <p:cNvSpPr>
            <a:spLocks xmlns:a="http://schemas.openxmlformats.org/drawingml/2006/main" noGrp="1"/>
          </p:cNvSpPr>
          <p:nvPr/>
        </p:nvSpPr>
        <p:spPr>
          <a:xfrm xmlns:a="http://schemas.openxmlformats.org/drawingml/2006/main">
            <a:off x="1219200" y="37719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固化出块与网络异常</a:t>
            </a:r>
          </a:p>
        </p:txBody>
      </p:sp>
      <p:sp>
        <p:nvSpPr>
          <p:cNvPr id="17" name="">
            <a:extLst xmlns:a="http://schemas.openxmlformats.org/drawingml/2006/main">
              <a:ext uri="{FF2B5EF4-FFF2-40B4-BE49-F238E27FC236}">
                <a16:creationId xmlns:a16="http://schemas.microsoft.com/office/drawing/2014/main" id="{2BC3A3E3-1934-43BA-9ECB-71E240B9C0A4}"/>
              </a:ext>
            </a:extLst>
          </p:cNvPr>
          <p:cNvSpPr>
            <a:spLocks xmlns:a="http://schemas.openxmlformats.org/drawingml/2006/main" noGrp="1"/>
          </p:cNvSpPr>
          <p:nvPr/>
        </p:nvSpPr>
        <p:spPr>
          <a:xfrm xmlns:a="http://schemas.openxmlformats.org/drawingml/2006/main">
            <a:off x="4191000" y="3695700"/>
            <a:ext cx="3190875" cy="514350"/>
          </a:xfrm>
          <a:prstGeom xmlns:a="http://schemas.openxmlformats.org/drawingml/2006/main" prst="roundRect">
            <a:avLst>
              <a:gd name="adj" fmla="val 14815"/>
            </a:avLst>
          </a:prstGeom>
          <a:solidFill xmlns:a="http://schemas.openxmlformats.org/drawingml/2006/main">
            <a:srgbClr val="0B203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E98F4BD-1792-4F37-B8F7-7A0313C688DB}"/>
              </a:ext>
            </a:extLst>
          </p:cNvPr>
          <p:cNvSpPr>
            <a:spLocks xmlns:a="http://schemas.openxmlformats.org/drawingml/2006/main" noGrp="1"/>
          </p:cNvSpPr>
          <p:nvPr/>
        </p:nvSpPr>
        <p:spPr>
          <a:xfrm xmlns:a="http://schemas.openxmlformats.org/drawingml/2006/main">
            <a:off x="4305300" y="3771900"/>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4DE3D1"/>
                </a:solidFill>
                <a:latin typeface="Arial Unicode MS"/>
                <a:ea typeface="Arial Unicode MS"/>
                <a:cs typeface="Arial Unicode MS"/>
              </a:defRPr>
            </a:defPPr>
          </a:lstStyle>
          <a:p xmlns:a="http://schemas.openxmlformats.org/drawingml/2006/main">
            <a:pPr algn="l">
              <a:defRPr sz="1200" b="1">
                <a:solidFill>
                  <a:srgbClr val="4DE3D1"/>
                </a:solidFill>
                <a:latin typeface="Arial Unicode MS"/>
                <a:ea typeface="Arial Unicode MS"/>
                <a:cs typeface="Arial Unicode MS"/>
              </a:defRPr>
            </a:pPr>
            <a:r>
              <a:rPr sz="1200" b="1">
                <a:solidFill>
                  <a:srgbClr val="4DE3D1"/>
                </a:solidFill>
                <a:latin typeface="Arial Unicode MS"/>
                <a:ea typeface="Arial Unicode MS"/>
                <a:cs typeface="Arial Unicode MS"/>
              </a:rPr>
              <a:t>02</a:t>
            </a:r>
          </a:p>
        </p:txBody>
      </p:sp>
      <p:sp>
        <p:nvSpPr>
          <p:cNvPr id="19" name="">
            <a:extLst xmlns:a="http://schemas.openxmlformats.org/drawingml/2006/main">
              <a:ext uri="{FF2B5EF4-FFF2-40B4-BE49-F238E27FC236}">
                <a16:creationId xmlns:a16="http://schemas.microsoft.com/office/drawing/2014/main" id="{E1781F00-D3B5-4287-88C6-61021EB18278}"/>
              </a:ext>
            </a:extLst>
          </p:cNvPr>
          <p:cNvSpPr>
            <a:spLocks xmlns:a="http://schemas.openxmlformats.org/drawingml/2006/main" noGrp="1"/>
          </p:cNvSpPr>
          <p:nvPr/>
        </p:nvSpPr>
        <p:spPr>
          <a:xfrm xmlns:a="http://schemas.openxmlformats.org/drawingml/2006/main">
            <a:off x="4743450" y="37719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按快照计算奖励</a:t>
            </a:r>
          </a:p>
        </p:txBody>
      </p:sp>
      <p:sp>
        <p:nvSpPr>
          <p:cNvPr id="20" name="">
            <a:extLst xmlns:a="http://schemas.openxmlformats.org/drawingml/2006/main">
              <a:ext uri="{FF2B5EF4-FFF2-40B4-BE49-F238E27FC236}">
                <a16:creationId xmlns:a16="http://schemas.microsoft.com/office/drawing/2014/main" id="{BAF3B293-CC2A-4831-A6B0-702ADACB4404}"/>
              </a:ext>
            </a:extLst>
          </p:cNvPr>
          <p:cNvSpPr>
            <a:spLocks xmlns:a="http://schemas.openxmlformats.org/drawingml/2006/main" noGrp="1"/>
          </p:cNvSpPr>
          <p:nvPr/>
        </p:nvSpPr>
        <p:spPr>
          <a:xfrm xmlns:a="http://schemas.openxmlformats.org/drawingml/2006/main">
            <a:off x="7715250" y="3695700"/>
            <a:ext cx="3190875" cy="514350"/>
          </a:xfrm>
          <a:prstGeom xmlns:a="http://schemas.openxmlformats.org/drawingml/2006/main" prst="roundRect">
            <a:avLst>
              <a:gd name="adj" fmla="val 14815"/>
            </a:avLst>
          </a:prstGeom>
          <a:solidFill xmlns:a="http://schemas.openxmlformats.org/drawingml/2006/main">
            <a:srgbClr val="0B203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79362BA-3AAF-4960-A590-D9E142B00DA2}"/>
              </a:ext>
            </a:extLst>
          </p:cNvPr>
          <p:cNvSpPr>
            <a:spLocks xmlns:a="http://schemas.openxmlformats.org/drawingml/2006/main" noGrp="1"/>
          </p:cNvSpPr>
          <p:nvPr/>
        </p:nvSpPr>
        <p:spPr>
          <a:xfrm xmlns:a="http://schemas.openxmlformats.org/drawingml/2006/main">
            <a:off x="7829550" y="3771900"/>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4DE3D1"/>
                </a:solidFill>
                <a:latin typeface="Arial Unicode MS"/>
                <a:ea typeface="Arial Unicode MS"/>
                <a:cs typeface="Arial Unicode MS"/>
              </a:defRPr>
            </a:defPPr>
          </a:lstStyle>
          <a:p xmlns:a="http://schemas.openxmlformats.org/drawingml/2006/main">
            <a:pPr algn="l">
              <a:defRPr sz="1200" b="1">
                <a:solidFill>
                  <a:srgbClr val="4DE3D1"/>
                </a:solidFill>
                <a:latin typeface="Arial Unicode MS"/>
                <a:ea typeface="Arial Unicode MS"/>
                <a:cs typeface="Arial Unicode MS"/>
              </a:defRPr>
            </a:pPr>
            <a:r>
              <a:rPr sz="1200" b="1">
                <a:solidFill>
                  <a:srgbClr val="4DE3D1"/>
                </a:solidFill>
                <a:latin typeface="Arial Unicode MS"/>
                <a:ea typeface="Arial Unicode MS"/>
                <a:cs typeface="Arial Unicode MS"/>
              </a:rPr>
              <a:t>03</a:t>
            </a:r>
          </a:p>
        </p:txBody>
      </p:sp>
      <p:sp>
        <p:nvSpPr>
          <p:cNvPr id="22" name="">
            <a:extLst xmlns:a="http://schemas.openxmlformats.org/drawingml/2006/main">
              <a:ext uri="{FF2B5EF4-FFF2-40B4-BE49-F238E27FC236}">
                <a16:creationId xmlns:a16="http://schemas.microsoft.com/office/drawing/2014/main" id="{E22C40B8-9E82-439F-9DC5-295845D43F18}"/>
              </a:ext>
            </a:extLst>
          </p:cNvPr>
          <p:cNvSpPr>
            <a:spLocks xmlns:a="http://schemas.openxmlformats.org/drawingml/2006/main" noGrp="1"/>
          </p:cNvSpPr>
          <p:nvPr/>
        </p:nvSpPr>
        <p:spPr>
          <a:xfrm xmlns:a="http://schemas.openxmlformats.org/drawingml/2006/main">
            <a:off x="8267700" y="37719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更新累计奖励指数</a:t>
            </a:r>
          </a:p>
        </p:txBody>
      </p:sp>
      <p:sp>
        <p:nvSpPr>
          <p:cNvPr id="23" name="">
            <a:extLst xmlns:a="http://schemas.openxmlformats.org/drawingml/2006/main">
              <a:ext uri="{FF2B5EF4-FFF2-40B4-BE49-F238E27FC236}">
                <a16:creationId xmlns:a16="http://schemas.microsoft.com/office/drawing/2014/main" id="{F279479A-B55D-4727-8EEA-09AD6B886032}"/>
              </a:ext>
            </a:extLst>
          </p:cNvPr>
          <p:cNvSpPr>
            <a:spLocks xmlns:a="http://schemas.openxmlformats.org/drawingml/2006/main" noGrp="1"/>
          </p:cNvSpPr>
          <p:nvPr/>
        </p:nvSpPr>
        <p:spPr>
          <a:xfrm xmlns:a="http://schemas.openxmlformats.org/drawingml/2006/main">
            <a:off x="666750" y="4419600"/>
            <a:ext cx="3190875" cy="514350"/>
          </a:xfrm>
          <a:prstGeom xmlns:a="http://schemas.openxmlformats.org/drawingml/2006/main" prst="roundRect">
            <a:avLst>
              <a:gd name="adj" fmla="val 14815"/>
            </a:avLst>
          </a:prstGeom>
          <a:solidFill xmlns:a="http://schemas.openxmlformats.org/drawingml/2006/main">
            <a:srgbClr val="0B203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2D789FD-AC38-4A9B-9A16-C178248D8BC2}"/>
              </a:ext>
            </a:extLst>
          </p:cNvPr>
          <p:cNvSpPr>
            <a:spLocks xmlns:a="http://schemas.openxmlformats.org/drawingml/2006/main" noGrp="1"/>
          </p:cNvSpPr>
          <p:nvPr/>
        </p:nvSpPr>
        <p:spPr>
          <a:xfrm xmlns:a="http://schemas.openxmlformats.org/drawingml/2006/main">
            <a:off x="781050" y="4495800"/>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F1B84B"/>
                </a:solidFill>
                <a:latin typeface="Arial Unicode MS"/>
                <a:ea typeface="Arial Unicode MS"/>
                <a:cs typeface="Arial Unicode MS"/>
              </a:defRPr>
            </a:defPPr>
          </a:lstStyle>
          <a:p xmlns:a="http://schemas.openxmlformats.org/drawingml/2006/main">
            <a:pPr algn="l">
              <a:defRPr sz="1200" b="1">
                <a:solidFill>
                  <a:srgbClr val="F1B84B"/>
                </a:solidFill>
                <a:latin typeface="Arial Unicode MS"/>
                <a:ea typeface="Arial Unicode MS"/>
                <a:cs typeface="Arial Unicode MS"/>
              </a:defRPr>
            </a:pPr>
            <a:r>
              <a:rPr sz="1200" b="1">
                <a:solidFill>
                  <a:srgbClr val="F1B84B"/>
                </a:solidFill>
                <a:latin typeface="Arial Unicode MS"/>
                <a:ea typeface="Arial Unicode MS"/>
                <a:cs typeface="Arial Unicode MS"/>
              </a:rPr>
              <a:t>04</a:t>
            </a:r>
          </a:p>
        </p:txBody>
      </p:sp>
      <p:sp>
        <p:nvSpPr>
          <p:cNvPr id="25" name="">
            <a:extLst xmlns:a="http://schemas.openxmlformats.org/drawingml/2006/main">
              <a:ext uri="{FF2B5EF4-FFF2-40B4-BE49-F238E27FC236}">
                <a16:creationId xmlns:a16="http://schemas.microsoft.com/office/drawing/2014/main" id="{59D48FE3-E2EE-48C9-A7B4-F4E04F01D274}"/>
              </a:ext>
            </a:extLst>
          </p:cNvPr>
          <p:cNvSpPr>
            <a:spLocks xmlns:a="http://schemas.openxmlformats.org/drawingml/2006/main" noGrp="1"/>
          </p:cNvSpPr>
          <p:nvPr/>
        </p:nvSpPr>
        <p:spPr>
          <a:xfrm xmlns:a="http://schemas.openxmlformats.org/drawingml/2006/main">
            <a:off x="1219200" y="44958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处理停权与递补</a:t>
            </a:r>
          </a:p>
        </p:txBody>
      </p:sp>
      <p:sp>
        <p:nvSpPr>
          <p:cNvPr id="26" name="">
            <a:extLst xmlns:a="http://schemas.openxmlformats.org/drawingml/2006/main">
              <a:ext uri="{FF2B5EF4-FFF2-40B4-BE49-F238E27FC236}">
                <a16:creationId xmlns:a16="http://schemas.microsoft.com/office/drawing/2014/main" id="{8053332C-9280-4975-BE8C-F71183E41E41}"/>
              </a:ext>
            </a:extLst>
          </p:cNvPr>
          <p:cNvSpPr>
            <a:spLocks xmlns:a="http://schemas.openxmlformats.org/drawingml/2006/main" noGrp="1"/>
          </p:cNvSpPr>
          <p:nvPr/>
        </p:nvSpPr>
        <p:spPr>
          <a:xfrm xmlns:a="http://schemas.openxmlformats.org/drawingml/2006/main">
            <a:off x="4191000" y="4419600"/>
            <a:ext cx="3190875" cy="514350"/>
          </a:xfrm>
          <a:prstGeom xmlns:a="http://schemas.openxmlformats.org/drawingml/2006/main" prst="roundRect">
            <a:avLst>
              <a:gd name="adj" fmla="val 14815"/>
            </a:avLst>
          </a:prstGeom>
          <a:solidFill xmlns:a="http://schemas.openxmlformats.org/drawingml/2006/main">
            <a:srgbClr val="0B203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F43FAAC-C283-4745-99DE-C88B6A15A624}"/>
              </a:ext>
            </a:extLst>
          </p:cNvPr>
          <p:cNvSpPr>
            <a:spLocks xmlns:a="http://schemas.openxmlformats.org/drawingml/2006/main" noGrp="1"/>
          </p:cNvSpPr>
          <p:nvPr/>
        </p:nvSpPr>
        <p:spPr>
          <a:xfrm xmlns:a="http://schemas.openxmlformats.org/drawingml/2006/main">
            <a:off x="4305300" y="4495800"/>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F1B84B"/>
                </a:solidFill>
                <a:latin typeface="Arial Unicode MS"/>
                <a:ea typeface="Arial Unicode MS"/>
                <a:cs typeface="Arial Unicode MS"/>
              </a:defRPr>
            </a:defPPr>
          </a:lstStyle>
          <a:p xmlns:a="http://schemas.openxmlformats.org/drawingml/2006/main">
            <a:pPr algn="l">
              <a:defRPr sz="1200" b="1">
                <a:solidFill>
                  <a:srgbClr val="F1B84B"/>
                </a:solidFill>
                <a:latin typeface="Arial Unicode MS"/>
                <a:ea typeface="Arial Unicode MS"/>
                <a:cs typeface="Arial Unicode MS"/>
              </a:defRPr>
            </a:pPr>
            <a:r>
              <a:rPr sz="1200" b="1">
                <a:solidFill>
                  <a:srgbClr val="F1B84B"/>
                </a:solidFill>
                <a:latin typeface="Arial Unicode MS"/>
                <a:ea typeface="Arial Unicode MS"/>
                <a:cs typeface="Arial Unicode MS"/>
              </a:rPr>
              <a:t>05</a:t>
            </a:r>
          </a:p>
        </p:txBody>
      </p:sp>
      <p:sp>
        <p:nvSpPr>
          <p:cNvPr id="28" name="">
            <a:extLst xmlns:a="http://schemas.openxmlformats.org/drawingml/2006/main">
              <a:ext uri="{FF2B5EF4-FFF2-40B4-BE49-F238E27FC236}">
                <a16:creationId xmlns:a16="http://schemas.microsoft.com/office/drawing/2014/main" id="{966FF449-FE0A-4628-A01E-3FA7A1AB81DC}"/>
              </a:ext>
            </a:extLst>
          </p:cNvPr>
          <p:cNvSpPr>
            <a:spLocks xmlns:a="http://schemas.openxmlformats.org/drawingml/2006/main" noGrp="1"/>
          </p:cNvSpPr>
          <p:nvPr/>
        </p:nvSpPr>
        <p:spPr>
          <a:xfrm xmlns:a="http://schemas.openxmlformats.org/drawingml/2006/main">
            <a:off x="4743450" y="44958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启用 pending 状态</a:t>
            </a:r>
          </a:p>
        </p:txBody>
      </p:sp>
      <p:sp>
        <p:nvSpPr>
          <p:cNvPr id="29" name="">
            <a:extLst xmlns:a="http://schemas.openxmlformats.org/drawingml/2006/main">
              <a:ext uri="{FF2B5EF4-FFF2-40B4-BE49-F238E27FC236}">
                <a16:creationId xmlns:a16="http://schemas.microsoft.com/office/drawing/2014/main" id="{DD8E5A31-8FE6-49E4-8112-D5E585578599}"/>
              </a:ext>
            </a:extLst>
          </p:cNvPr>
          <p:cNvSpPr>
            <a:spLocks xmlns:a="http://schemas.openxmlformats.org/drawingml/2006/main" noGrp="1"/>
          </p:cNvSpPr>
          <p:nvPr/>
        </p:nvSpPr>
        <p:spPr>
          <a:xfrm xmlns:a="http://schemas.openxmlformats.org/drawingml/2006/main">
            <a:off x="7715250" y="4419600"/>
            <a:ext cx="3190875" cy="514350"/>
          </a:xfrm>
          <a:prstGeom xmlns:a="http://schemas.openxmlformats.org/drawingml/2006/main" prst="roundRect">
            <a:avLst>
              <a:gd name="adj" fmla="val 14815"/>
            </a:avLst>
          </a:prstGeom>
          <a:solidFill xmlns:a="http://schemas.openxmlformats.org/drawingml/2006/main">
            <a:srgbClr val="0B203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94A1FCA-6310-4359-880B-FE059147861A}"/>
              </a:ext>
            </a:extLst>
          </p:cNvPr>
          <p:cNvSpPr>
            <a:spLocks xmlns:a="http://schemas.openxmlformats.org/drawingml/2006/main" noGrp="1"/>
          </p:cNvSpPr>
          <p:nvPr/>
        </p:nvSpPr>
        <p:spPr>
          <a:xfrm xmlns:a="http://schemas.openxmlformats.org/drawingml/2006/main">
            <a:off x="7829550" y="4495800"/>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F1B84B"/>
                </a:solidFill>
                <a:latin typeface="Arial Unicode MS"/>
                <a:ea typeface="Arial Unicode MS"/>
                <a:cs typeface="Arial Unicode MS"/>
              </a:defRPr>
            </a:defPPr>
          </a:lstStyle>
          <a:p xmlns:a="http://schemas.openxmlformats.org/drawingml/2006/main">
            <a:pPr algn="l">
              <a:defRPr sz="1200" b="1">
                <a:solidFill>
                  <a:srgbClr val="F1B84B"/>
                </a:solidFill>
                <a:latin typeface="Arial Unicode MS"/>
                <a:ea typeface="Arial Unicode MS"/>
                <a:cs typeface="Arial Unicode MS"/>
              </a:defRPr>
            </a:pPr>
            <a:r>
              <a:rPr sz="1200" b="1">
                <a:solidFill>
                  <a:srgbClr val="F1B84B"/>
                </a:solidFill>
                <a:latin typeface="Arial Unicode MS"/>
                <a:ea typeface="Arial Unicode MS"/>
                <a:cs typeface="Arial Unicode MS"/>
              </a:rPr>
              <a:t>06</a:t>
            </a:r>
          </a:p>
        </p:txBody>
      </p:sp>
      <p:sp>
        <p:nvSpPr>
          <p:cNvPr id="31" name="">
            <a:extLst xmlns:a="http://schemas.openxmlformats.org/drawingml/2006/main">
              <a:ext uri="{FF2B5EF4-FFF2-40B4-BE49-F238E27FC236}">
                <a16:creationId xmlns:a16="http://schemas.microsoft.com/office/drawing/2014/main" id="{96BF065E-3002-4A97-AA6A-5A1E0B81C25D}"/>
              </a:ext>
            </a:extLst>
          </p:cNvPr>
          <p:cNvSpPr>
            <a:spLocks xmlns:a="http://schemas.openxmlformats.org/drawingml/2006/main" noGrp="1"/>
          </p:cNvSpPr>
          <p:nvPr/>
        </p:nvSpPr>
        <p:spPr>
          <a:xfrm xmlns:a="http://schemas.openxmlformats.org/drawingml/2006/main">
            <a:off x="8267700" y="44958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发布下一期快照</a:t>
            </a:r>
          </a:p>
        </p:txBody>
      </p:sp>
      <p:sp>
        <p:nvSpPr>
          <p:cNvPr id="32" name="">
            <a:extLst xmlns:a="http://schemas.openxmlformats.org/drawingml/2006/main">
              <a:ext uri="{FF2B5EF4-FFF2-40B4-BE49-F238E27FC236}">
                <a16:creationId xmlns:a16="http://schemas.microsoft.com/office/drawing/2014/main" id="{1824967E-F852-42F7-8B38-5296B4C2D674}"/>
              </a:ext>
            </a:extLst>
          </p:cNvPr>
          <p:cNvSpPr>
            <a:spLocks xmlns:a="http://schemas.openxmlformats.org/drawingml/2006/main" noGrp="1"/>
          </p:cNvSpPr>
          <p:nvPr/>
        </p:nvSpPr>
        <p:spPr>
          <a:xfrm xmlns:a="http://schemas.openxmlformats.org/drawingml/2006/main">
            <a:off x="666750" y="5276850"/>
            <a:ext cx="10477500" cy="628650"/>
          </a:xfrm>
          <a:prstGeom xmlns:a="http://schemas.openxmlformats.org/drawingml/2006/main" prst="roundRect">
            <a:avLst>
              <a:gd name="adj" fmla="val 12121"/>
            </a:avLst>
          </a:prstGeom>
          <a:solidFill xmlns:a="http://schemas.openxmlformats.org/drawingml/2006/main">
            <a:srgbClr val="176B8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622C82D-8333-4D7F-A934-507EE9BA4E1C}"/>
              </a:ext>
            </a:extLst>
          </p:cNvPr>
          <p:cNvSpPr>
            <a:spLocks xmlns:a="http://schemas.openxmlformats.org/drawingml/2006/main" noGrp="1"/>
          </p:cNvSpPr>
          <p:nvPr/>
        </p:nvSpPr>
        <p:spPr>
          <a:xfrm xmlns:a="http://schemas.openxmlformats.org/drawingml/2006/main">
            <a:off x="876300" y="5372100"/>
            <a:ext cx="10048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425" b="1">
                <a:solidFill>
                  <a:srgbClr val="F7FBFF"/>
                </a:solidFill>
                <a:latin typeface="Arial Unicode MS"/>
                <a:ea typeface="Arial Unicode MS"/>
                <a:cs typeface="Arial Unicode MS"/>
              </a:defRPr>
            </a:defPPr>
          </a:lstStyle>
          <a:p xmlns:a="http://schemas.openxmlformats.org/drawingml/2006/main">
            <a:pPr algn="ctr">
              <a:defRPr sz="1425" b="1">
                <a:solidFill>
                  <a:srgbClr val="F7FBFF"/>
                </a:solidFill>
                <a:latin typeface="Arial Unicode MS"/>
                <a:ea typeface="Arial Unicode MS"/>
                <a:cs typeface="Arial Unicode MS"/>
              </a:defRPr>
            </a:pPr>
            <a:r>
              <a:rPr sz="1425" b="1">
                <a:solidFill>
                  <a:srgbClr val="F7FBFF"/>
                </a:solidFill>
                <a:latin typeface="Arial Unicode MS"/>
                <a:ea typeface="Arial Unicode MS"/>
                <a:cs typeface="Arial Unicode MS"/>
              </a:rPr>
              <a:t>epoch N 内的加票、换票、撤票不改变本期奖励；BP 分配从 epoch N+1 生效。</a:t>
            </a:r>
          </a:p>
        </p:txBody>
      </p:sp>
      <p:sp>
        <p:nvSpPr>
          <p:cNvPr id="34" name="">
            <a:extLst xmlns:a="http://schemas.openxmlformats.org/drawingml/2006/main">
              <a:ext uri="{FF2B5EF4-FFF2-40B4-BE49-F238E27FC236}">
                <a16:creationId xmlns:a16="http://schemas.microsoft.com/office/drawing/2014/main" id="{3592F568-EF2A-4B5F-8A5F-49710DCA2127}"/>
              </a:ext>
            </a:extLst>
          </p:cNvPr>
          <p:cNvSpPr>
            <a:spLocks xmlns:a="http://schemas.openxmlformats.org/drawingml/2006/main" noGrp="1"/>
          </p:cNvSpPr>
          <p:nvPr/>
        </p:nvSpPr>
        <p:spPr>
          <a:xfrm xmlns:a="http://schemas.openxmlformats.org/drawingml/2006/main">
            <a:off x="666750" y="6048375"/>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F1B84B"/>
                </a:solidFill>
                <a:latin typeface="Arial Unicode MS"/>
                <a:ea typeface="Arial Unicode MS"/>
                <a:cs typeface="Arial Unicode MS"/>
              </a:defRPr>
            </a:defPPr>
          </a:lstStyle>
          <a:p xmlns:a="http://schemas.openxmlformats.org/drawingml/2006/main">
            <a:pPr algn="l">
              <a:defRPr sz="1050" b="0">
                <a:solidFill>
                  <a:srgbClr val="F1B84B"/>
                </a:solidFill>
                <a:latin typeface="Arial Unicode MS"/>
                <a:ea typeface="Arial Unicode MS"/>
                <a:cs typeface="Arial Unicode MS"/>
              </a:defRPr>
            </a:pPr>
            <a:r>
              <a:rPr sz="1050" b="0">
                <a:solidFill>
                  <a:srgbClr val="F1B84B"/>
                </a:solidFill>
                <a:latin typeface="Arial Unicode MS"/>
                <a:ea typeface="Arial Unicode MS"/>
                <a:cs typeface="Arial Unicode MS"/>
              </a:rPr>
              <a:t>撤票立即停止新 DAO 投票权，但保留已经由本期快照确定的奖励权益。</a:t>
            </a:r>
          </a:p>
        </p:txBody>
      </p:sp>
    </p:spTree>
    <p:extLst>
      <p:ext uri="{BB962C8B-B14F-4D97-AF65-F5344CB8AC3E}">
        <p14:creationId xmlns:p14="http://schemas.microsoft.com/office/powerpoint/2010/main" val="1305878977"/>
      </p:ext>
    </p:extLst>
  </p:cSld>
</p:sld>
</file>

<file path=ppt/slides/slide9.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B0E66E32-A4AB-4E7F-B3EF-AD21547E903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42CBC2-7AF8-4FC6-B34D-947C15135B33}"/>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08 惩罚机制</a:t>
            </a:r>
          </a:p>
        </p:txBody>
      </p:sp>
      <p:sp>
        <p:nvSpPr>
          <p:cNvPr id="3" name="">
            <a:extLst xmlns:a="http://schemas.openxmlformats.org/drawingml/2006/main">
              <a:ext uri="{FF2B5EF4-FFF2-40B4-BE49-F238E27FC236}">
                <a16:creationId xmlns:a16="http://schemas.microsoft.com/office/drawing/2014/main" id="{90403C91-28C1-4DEE-8EA6-42F78DFF32F0}"/>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绩效门槛与资格处理</a:t>
            </a:r>
          </a:p>
        </p:txBody>
      </p:sp>
      <p:sp>
        <p:nvSpPr>
          <p:cNvPr id="4" name="">
            <a:extLst xmlns:a="http://schemas.openxmlformats.org/drawingml/2006/main">
              <a:ext uri="{FF2B5EF4-FFF2-40B4-BE49-F238E27FC236}">
                <a16:creationId xmlns:a16="http://schemas.microsoft.com/office/drawing/2014/main" id="{354B56FF-482B-4485-9D74-FB0D69B94B5B}"/>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603C8D5-36C1-4427-BF85-B0BBE051525C}"/>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09</a:t>
            </a:r>
          </a:p>
        </p:txBody>
      </p:sp>
      <p:sp>
        <p:nvSpPr>
          <p:cNvPr id="6" name="">
            <a:extLst xmlns:a="http://schemas.openxmlformats.org/drawingml/2006/main">
              <a:ext uri="{FF2B5EF4-FFF2-40B4-BE49-F238E27FC236}">
                <a16:creationId xmlns:a16="http://schemas.microsoft.com/office/drawing/2014/main" id="{0FFA8F42-C517-4F2F-B7B3-847BD21D114A}"/>
              </a:ext>
            </a:extLst>
          </p:cNvPr>
          <p:cNvSpPr>
            <a:spLocks xmlns:a="http://schemas.openxmlformats.org/drawingml/2006/main" noGrp="1"/>
          </p:cNvSpPr>
          <p:nvPr/>
        </p:nvSpPr>
        <p:spPr>
          <a:xfrm xmlns:a="http://schemas.openxmlformats.org/drawingml/2006/main">
            <a:off x="666750" y="15906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8FA9BB"/>
                </a:solidFill>
                <a:latin typeface="Arial Unicode MS"/>
                <a:ea typeface="Arial Unicode MS"/>
                <a:cs typeface="Arial Unicode MS"/>
              </a:defRPr>
            </a:defPPr>
          </a:lstStyle>
          <a:p xmlns:a="http://schemas.openxmlformats.org/drawingml/2006/main">
            <a:pPr algn="l">
              <a:defRPr sz="1275" b="1">
                <a:solidFill>
                  <a:srgbClr val="8FA9BB"/>
                </a:solidFill>
                <a:latin typeface="Arial Unicode MS"/>
                <a:ea typeface="Arial Unicode MS"/>
                <a:cs typeface="Arial Unicode MS"/>
              </a:defRPr>
            </a:pPr>
            <a:r>
              <a:rPr sz="1275" b="1">
                <a:solidFill>
                  <a:srgbClr val="8FA9BB"/>
                </a:solidFill>
                <a:latin typeface="Arial Unicode MS"/>
                <a:ea typeface="Arial Unicode MS"/>
                <a:cs typeface="Arial Unicode MS"/>
              </a:rPr>
              <a:t>单个 epoch 在线率</a:t>
            </a:r>
          </a:p>
        </p:txBody>
      </p:sp>
      <p:sp>
        <p:nvSpPr>
          <p:cNvPr id="7" name="">
            <a:extLst xmlns:a="http://schemas.openxmlformats.org/drawingml/2006/main">
              <a:ext uri="{FF2B5EF4-FFF2-40B4-BE49-F238E27FC236}">
                <a16:creationId xmlns:a16="http://schemas.microsoft.com/office/drawing/2014/main" id="{EA6355DC-F221-4F8C-BAD7-934973432A1D}"/>
              </a:ext>
            </a:extLst>
          </p:cNvPr>
          <p:cNvSpPr>
            <a:spLocks xmlns:a="http://schemas.openxmlformats.org/drawingml/2006/main" noGrp="1"/>
          </p:cNvSpPr>
          <p:nvPr/>
        </p:nvSpPr>
        <p:spPr>
          <a:xfrm xmlns:a="http://schemas.openxmlformats.org/drawingml/2006/main">
            <a:off x="3286125" y="15906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8FA9BB"/>
                </a:solidFill>
                <a:latin typeface="Arial Unicode MS"/>
                <a:ea typeface="Arial Unicode MS"/>
                <a:cs typeface="Arial Unicode MS"/>
              </a:defRPr>
            </a:defPPr>
          </a:lstStyle>
          <a:p xmlns:a="http://schemas.openxmlformats.org/drawingml/2006/main">
            <a:pPr algn="l">
              <a:defRPr sz="1275" b="1">
                <a:solidFill>
                  <a:srgbClr val="8FA9BB"/>
                </a:solidFill>
                <a:latin typeface="Arial Unicode MS"/>
                <a:ea typeface="Arial Unicode MS"/>
                <a:cs typeface="Arial Unicode MS"/>
              </a:defRPr>
            </a:pPr>
            <a:r>
              <a:rPr sz="1275" b="1">
                <a:solidFill>
                  <a:srgbClr val="8FA9BB"/>
                </a:solidFill>
                <a:latin typeface="Arial Unicode MS"/>
                <a:ea typeface="Arial Unicode MS"/>
                <a:cs typeface="Arial Unicode MS"/>
              </a:rPr>
              <a:t>经济处理</a:t>
            </a:r>
          </a:p>
        </p:txBody>
      </p:sp>
      <p:sp>
        <p:nvSpPr>
          <p:cNvPr id="8" name="">
            <a:extLst xmlns:a="http://schemas.openxmlformats.org/drawingml/2006/main">
              <a:ext uri="{FF2B5EF4-FFF2-40B4-BE49-F238E27FC236}">
                <a16:creationId xmlns:a16="http://schemas.microsoft.com/office/drawing/2014/main" id="{8A9E71C4-8706-44C3-9784-0ABD3C961161}"/>
              </a:ext>
            </a:extLst>
          </p:cNvPr>
          <p:cNvSpPr>
            <a:spLocks xmlns:a="http://schemas.openxmlformats.org/drawingml/2006/main" noGrp="1"/>
          </p:cNvSpPr>
          <p:nvPr/>
        </p:nvSpPr>
        <p:spPr>
          <a:xfrm xmlns:a="http://schemas.openxmlformats.org/drawingml/2006/main">
            <a:off x="9144000" y="15906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8FA9BB"/>
                </a:solidFill>
                <a:latin typeface="Arial Unicode MS"/>
                <a:ea typeface="Arial Unicode MS"/>
                <a:cs typeface="Arial Unicode MS"/>
              </a:defRPr>
            </a:defPPr>
          </a:lstStyle>
          <a:p xmlns:a="http://schemas.openxmlformats.org/drawingml/2006/main">
            <a:pPr algn="l">
              <a:defRPr sz="1275" b="1">
                <a:solidFill>
                  <a:srgbClr val="8FA9BB"/>
                </a:solidFill>
                <a:latin typeface="Arial Unicode MS"/>
                <a:ea typeface="Arial Unicode MS"/>
                <a:cs typeface="Arial Unicode MS"/>
              </a:defRPr>
            </a:pPr>
            <a:r>
              <a:rPr sz="1275" b="1">
                <a:solidFill>
                  <a:srgbClr val="8FA9BB"/>
                </a:solidFill>
                <a:latin typeface="Arial Unicode MS"/>
                <a:ea typeface="Arial Unicode MS"/>
                <a:cs typeface="Arial Unicode MS"/>
              </a:rPr>
              <a:t>资格状态</a:t>
            </a:r>
          </a:p>
        </p:txBody>
      </p:sp>
      <p:sp>
        <p:nvSpPr>
          <p:cNvPr id="9" name="">
            <a:extLst xmlns:a="http://schemas.openxmlformats.org/drawingml/2006/main">
              <a:ext uri="{FF2B5EF4-FFF2-40B4-BE49-F238E27FC236}">
                <a16:creationId xmlns:a16="http://schemas.microsoft.com/office/drawing/2014/main" id="{193E3DAB-324E-45EB-9071-561EE7BA5590}"/>
              </a:ext>
            </a:extLst>
          </p:cNvPr>
          <p:cNvSpPr>
            <a:spLocks xmlns:a="http://schemas.openxmlformats.org/drawingml/2006/main" noGrp="1"/>
          </p:cNvSpPr>
          <p:nvPr/>
        </p:nvSpPr>
        <p:spPr>
          <a:xfrm xmlns:a="http://schemas.openxmlformats.org/drawingml/2006/main">
            <a:off x="666750" y="1981200"/>
            <a:ext cx="10477500" cy="514350"/>
          </a:xfrm>
          <a:prstGeom xmlns:a="http://schemas.openxmlformats.org/drawingml/2006/main" prst="roundRect">
            <a:avLst>
              <a:gd name="adj" fmla="val 14815"/>
            </a:avLst>
          </a:prstGeom>
          <a:solidFill xmlns:a="http://schemas.openxmlformats.org/drawingml/2006/main">
            <a:srgbClr val="0B203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00AB15-CDD7-44D0-9768-B84F0F0FA7B0}"/>
              </a:ext>
            </a:extLst>
          </p:cNvPr>
          <p:cNvSpPr>
            <a:spLocks xmlns:a="http://schemas.openxmlformats.org/drawingml/2006/main" noGrp="1"/>
          </p:cNvSpPr>
          <p:nvPr/>
        </p:nvSpPr>
        <p:spPr>
          <a:xfrm xmlns:a="http://schemas.openxmlformats.org/drawingml/2006/main">
            <a:off x="666750" y="1981200"/>
            <a:ext cx="76200" cy="514350"/>
          </a:xfrm>
          <a:prstGeom xmlns:a="http://schemas.openxmlformats.org/drawingml/2006/main" prst="rect">
            <a:avLst/>
          </a:prstGeom>
          <a:solidFill xmlns:a="http://schemas.openxmlformats.org/drawingml/2006/main">
            <a:srgbClr val="58D68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25B5688-FD78-45E9-9C11-1E0503D49984}"/>
              </a:ext>
            </a:extLst>
          </p:cNvPr>
          <p:cNvSpPr>
            <a:spLocks xmlns:a="http://schemas.openxmlformats.org/drawingml/2006/main" noGrp="1"/>
          </p:cNvSpPr>
          <p:nvPr/>
        </p:nvSpPr>
        <p:spPr>
          <a:xfrm xmlns:a="http://schemas.openxmlformats.org/drawingml/2006/main">
            <a:off x="904875" y="20383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75" b="1">
                <a:solidFill>
                  <a:srgbClr val="58D68D"/>
                </a:solidFill>
                <a:latin typeface="Arial Unicode MS"/>
                <a:ea typeface="Arial Unicode MS"/>
                <a:cs typeface="Arial Unicode MS"/>
              </a:defRPr>
            </a:defPPr>
          </a:lstStyle>
          <a:p xmlns:a="http://schemas.openxmlformats.org/drawingml/2006/main">
            <a:pPr algn="l">
              <a:defRPr sz="1575" b="1">
                <a:solidFill>
                  <a:srgbClr val="58D68D"/>
                </a:solidFill>
                <a:latin typeface="Arial Unicode MS"/>
                <a:ea typeface="Arial Unicode MS"/>
                <a:cs typeface="Arial Unicode MS"/>
              </a:defRPr>
            </a:pPr>
            <a:r>
              <a:rPr sz="1575" b="1">
                <a:solidFill>
                  <a:srgbClr val="58D68D"/>
                </a:solidFill>
                <a:latin typeface="Arial Unicode MS"/>
                <a:ea typeface="Arial Unicode MS"/>
                <a:cs typeface="Arial Unicode MS"/>
              </a:rPr>
              <a:t>≥ 99%</a:t>
            </a:r>
          </a:p>
        </p:txBody>
      </p:sp>
      <p:sp>
        <p:nvSpPr>
          <p:cNvPr id="12" name="">
            <a:extLst xmlns:a="http://schemas.openxmlformats.org/drawingml/2006/main">
              <a:ext uri="{FF2B5EF4-FFF2-40B4-BE49-F238E27FC236}">
                <a16:creationId xmlns:a16="http://schemas.microsoft.com/office/drawing/2014/main" id="{0331B007-25A5-4BC2-9102-BBAB1A6F93AB}"/>
              </a:ext>
            </a:extLst>
          </p:cNvPr>
          <p:cNvSpPr>
            <a:spLocks xmlns:a="http://schemas.openxmlformats.org/drawingml/2006/main" noGrp="1"/>
          </p:cNvSpPr>
          <p:nvPr/>
        </p:nvSpPr>
        <p:spPr>
          <a:xfrm xmlns:a="http://schemas.openxmlformats.org/drawingml/2006/main">
            <a:off x="3286125" y="20383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完整绩效奖励</a:t>
            </a:r>
          </a:p>
        </p:txBody>
      </p:sp>
      <p:sp>
        <p:nvSpPr>
          <p:cNvPr id="13" name="">
            <a:extLst xmlns:a="http://schemas.openxmlformats.org/drawingml/2006/main">
              <a:ext uri="{FF2B5EF4-FFF2-40B4-BE49-F238E27FC236}">
                <a16:creationId xmlns:a16="http://schemas.microsoft.com/office/drawing/2014/main" id="{4D392A14-AED3-4466-8ACC-C30244CBD2FC}"/>
              </a:ext>
            </a:extLst>
          </p:cNvPr>
          <p:cNvSpPr>
            <a:spLocks xmlns:a="http://schemas.openxmlformats.org/drawingml/2006/main" noGrp="1"/>
          </p:cNvSpPr>
          <p:nvPr/>
        </p:nvSpPr>
        <p:spPr>
          <a:xfrm xmlns:a="http://schemas.openxmlformats.org/drawingml/2006/main">
            <a:off x="9001125" y="203835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00" b="1">
                <a:solidFill>
                  <a:srgbClr val="58D68D"/>
                </a:solidFill>
                <a:latin typeface="Arial Unicode MS"/>
                <a:ea typeface="Arial Unicode MS"/>
                <a:cs typeface="Arial Unicode MS"/>
              </a:defRPr>
            </a:defPPr>
          </a:lstStyle>
          <a:p xmlns:a="http://schemas.openxmlformats.org/drawingml/2006/main">
            <a:pPr algn="ctr">
              <a:defRPr sz="1200" b="1">
                <a:solidFill>
                  <a:srgbClr val="58D68D"/>
                </a:solidFill>
                <a:latin typeface="Arial Unicode MS"/>
                <a:ea typeface="Arial Unicode MS"/>
                <a:cs typeface="Arial Unicode MS"/>
              </a:defRPr>
            </a:pPr>
            <a:r>
              <a:rPr sz="1200" b="1">
                <a:solidFill>
                  <a:srgbClr val="58D68D"/>
                </a:solidFill>
                <a:latin typeface="Arial Unicode MS"/>
                <a:ea typeface="Arial Unicode MS"/>
                <a:cs typeface="Arial Unicode MS"/>
              </a:rPr>
              <a:t>QUALIFIED</a:t>
            </a:r>
          </a:p>
        </p:txBody>
      </p:sp>
      <p:sp>
        <p:nvSpPr>
          <p:cNvPr id="14" name="">
            <a:extLst xmlns:a="http://schemas.openxmlformats.org/drawingml/2006/main">
              <a:ext uri="{FF2B5EF4-FFF2-40B4-BE49-F238E27FC236}">
                <a16:creationId xmlns:a16="http://schemas.microsoft.com/office/drawing/2014/main" id="{729D9200-3650-4761-AA8D-18B3453416EE}"/>
              </a:ext>
            </a:extLst>
          </p:cNvPr>
          <p:cNvSpPr>
            <a:spLocks xmlns:a="http://schemas.openxmlformats.org/drawingml/2006/main" noGrp="1"/>
          </p:cNvSpPr>
          <p:nvPr/>
        </p:nvSpPr>
        <p:spPr>
          <a:xfrm xmlns:a="http://schemas.openxmlformats.org/drawingml/2006/main">
            <a:off x="666750" y="2647950"/>
            <a:ext cx="10477500" cy="514350"/>
          </a:xfrm>
          <a:prstGeom xmlns:a="http://schemas.openxmlformats.org/drawingml/2006/main" prst="roundRect">
            <a:avLst>
              <a:gd name="adj" fmla="val 14815"/>
            </a:avLst>
          </a:prstGeom>
          <a:solidFill xmlns:a="http://schemas.openxmlformats.org/drawingml/2006/main">
            <a:srgbClr val="07152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F3E8AB-83E8-4CE5-9C58-9BCA80D81F1F}"/>
              </a:ext>
            </a:extLst>
          </p:cNvPr>
          <p:cNvSpPr>
            <a:spLocks xmlns:a="http://schemas.openxmlformats.org/drawingml/2006/main" noGrp="1"/>
          </p:cNvSpPr>
          <p:nvPr/>
        </p:nvSpPr>
        <p:spPr>
          <a:xfrm xmlns:a="http://schemas.openxmlformats.org/drawingml/2006/main">
            <a:off x="666750" y="2647950"/>
            <a:ext cx="76200" cy="51435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BF9DD7-0AEE-47F7-9988-A529A44370CD}"/>
              </a:ext>
            </a:extLst>
          </p:cNvPr>
          <p:cNvSpPr>
            <a:spLocks xmlns:a="http://schemas.openxmlformats.org/drawingml/2006/main" noGrp="1"/>
          </p:cNvSpPr>
          <p:nvPr/>
        </p:nvSpPr>
        <p:spPr>
          <a:xfrm xmlns:a="http://schemas.openxmlformats.org/drawingml/2006/main">
            <a:off x="904875" y="27051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75" b="1">
                <a:solidFill>
                  <a:srgbClr val="4DE3D1"/>
                </a:solidFill>
                <a:latin typeface="Arial Unicode MS"/>
                <a:ea typeface="Arial Unicode MS"/>
                <a:cs typeface="Arial Unicode MS"/>
              </a:defRPr>
            </a:defPPr>
          </a:lstStyle>
          <a:p xmlns:a="http://schemas.openxmlformats.org/drawingml/2006/main">
            <a:pPr algn="l">
              <a:defRPr sz="1575" b="1">
                <a:solidFill>
                  <a:srgbClr val="4DE3D1"/>
                </a:solidFill>
                <a:latin typeface="Arial Unicode MS"/>
                <a:ea typeface="Arial Unicode MS"/>
                <a:cs typeface="Arial Unicode MS"/>
              </a:defRPr>
            </a:pPr>
            <a:r>
              <a:rPr sz="1575" b="1">
                <a:solidFill>
                  <a:srgbClr val="4DE3D1"/>
                </a:solidFill>
                <a:latin typeface="Arial Unicode MS"/>
                <a:ea typeface="Arial Unicode MS"/>
                <a:cs typeface="Arial Unicode MS"/>
              </a:rPr>
              <a:t>95%–99%</a:t>
            </a:r>
          </a:p>
        </p:txBody>
      </p:sp>
      <p:sp>
        <p:nvSpPr>
          <p:cNvPr id="17" name="">
            <a:extLst xmlns:a="http://schemas.openxmlformats.org/drawingml/2006/main">
              <a:ext uri="{FF2B5EF4-FFF2-40B4-BE49-F238E27FC236}">
                <a16:creationId xmlns:a16="http://schemas.microsoft.com/office/drawing/2014/main" id="{E1ECA7A4-AC5A-4018-97F9-65567A4742F8}"/>
              </a:ext>
            </a:extLst>
          </p:cNvPr>
          <p:cNvSpPr>
            <a:spLocks xmlns:a="http://schemas.openxmlformats.org/drawingml/2006/main" noGrp="1"/>
          </p:cNvSpPr>
          <p:nvPr/>
        </p:nvSpPr>
        <p:spPr>
          <a:xfrm xmlns:a="http://schemas.openxmlformats.org/drawingml/2006/main">
            <a:off x="3286125" y="270510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绩效奖线性折减</a:t>
            </a:r>
          </a:p>
        </p:txBody>
      </p:sp>
      <p:sp>
        <p:nvSpPr>
          <p:cNvPr id="18" name="">
            <a:extLst xmlns:a="http://schemas.openxmlformats.org/drawingml/2006/main">
              <a:ext uri="{FF2B5EF4-FFF2-40B4-BE49-F238E27FC236}">
                <a16:creationId xmlns:a16="http://schemas.microsoft.com/office/drawing/2014/main" id="{1FC1330F-450E-4799-ACF2-2F87AD1D99C2}"/>
              </a:ext>
            </a:extLst>
          </p:cNvPr>
          <p:cNvSpPr>
            <a:spLocks xmlns:a="http://schemas.openxmlformats.org/drawingml/2006/main" noGrp="1"/>
          </p:cNvSpPr>
          <p:nvPr/>
        </p:nvSpPr>
        <p:spPr>
          <a:xfrm xmlns:a="http://schemas.openxmlformats.org/drawingml/2006/main">
            <a:off x="9001125" y="27051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00" b="1">
                <a:solidFill>
                  <a:srgbClr val="4DE3D1"/>
                </a:solidFill>
                <a:latin typeface="Arial Unicode MS"/>
                <a:ea typeface="Arial Unicode MS"/>
                <a:cs typeface="Arial Unicode MS"/>
              </a:defRPr>
            </a:defPPr>
          </a:lstStyle>
          <a:p xmlns:a="http://schemas.openxmlformats.org/drawingml/2006/main">
            <a:pPr algn="ctr">
              <a:defRPr sz="1200" b="1">
                <a:solidFill>
                  <a:srgbClr val="4DE3D1"/>
                </a:solidFill>
                <a:latin typeface="Arial Unicode MS"/>
                <a:ea typeface="Arial Unicode MS"/>
                <a:cs typeface="Arial Unicode MS"/>
              </a:defRPr>
            </a:pPr>
            <a:r>
              <a:rPr sz="1200" b="1">
                <a:solidFill>
                  <a:srgbClr val="4DE3D1"/>
                </a:solidFill>
                <a:latin typeface="Arial Unicode MS"/>
                <a:ea typeface="Arial Unicode MS"/>
                <a:cs typeface="Arial Unicode MS"/>
              </a:rPr>
              <a:t>QUALIFIED</a:t>
            </a:r>
          </a:p>
        </p:txBody>
      </p:sp>
      <p:sp>
        <p:nvSpPr>
          <p:cNvPr id="19" name="">
            <a:extLst xmlns:a="http://schemas.openxmlformats.org/drawingml/2006/main">
              <a:ext uri="{FF2B5EF4-FFF2-40B4-BE49-F238E27FC236}">
                <a16:creationId xmlns:a16="http://schemas.microsoft.com/office/drawing/2014/main" id="{ED224642-AB4C-48E0-B2A6-FF838E9A998D}"/>
              </a:ext>
            </a:extLst>
          </p:cNvPr>
          <p:cNvSpPr>
            <a:spLocks xmlns:a="http://schemas.openxmlformats.org/drawingml/2006/main" noGrp="1"/>
          </p:cNvSpPr>
          <p:nvPr/>
        </p:nvSpPr>
        <p:spPr>
          <a:xfrm xmlns:a="http://schemas.openxmlformats.org/drawingml/2006/main">
            <a:off x="666750" y="3314700"/>
            <a:ext cx="10477500" cy="514350"/>
          </a:xfrm>
          <a:prstGeom xmlns:a="http://schemas.openxmlformats.org/drawingml/2006/main" prst="roundRect">
            <a:avLst>
              <a:gd name="adj" fmla="val 14815"/>
            </a:avLst>
          </a:prstGeom>
          <a:solidFill xmlns:a="http://schemas.openxmlformats.org/drawingml/2006/main">
            <a:srgbClr val="0B203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FBD3C86-9591-4FB6-9F0A-F7A998B4A537}"/>
              </a:ext>
            </a:extLst>
          </p:cNvPr>
          <p:cNvSpPr>
            <a:spLocks xmlns:a="http://schemas.openxmlformats.org/drawingml/2006/main" noGrp="1"/>
          </p:cNvSpPr>
          <p:nvPr/>
        </p:nvSpPr>
        <p:spPr>
          <a:xfrm xmlns:a="http://schemas.openxmlformats.org/drawingml/2006/main">
            <a:off x="666750" y="3314700"/>
            <a:ext cx="76200" cy="514350"/>
          </a:xfrm>
          <a:prstGeom xmlns:a="http://schemas.openxmlformats.org/drawingml/2006/main" prst="rect">
            <a:avLst/>
          </a:prstGeom>
          <a:solidFill xmlns:a="http://schemas.openxmlformats.org/drawingml/2006/main">
            <a:srgbClr val="F1B84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D0C374A-BD73-4FEB-8A6E-12B35A07B439}"/>
              </a:ext>
            </a:extLst>
          </p:cNvPr>
          <p:cNvSpPr>
            <a:spLocks xmlns:a="http://schemas.openxmlformats.org/drawingml/2006/main" noGrp="1"/>
          </p:cNvSpPr>
          <p:nvPr/>
        </p:nvSpPr>
        <p:spPr>
          <a:xfrm xmlns:a="http://schemas.openxmlformats.org/drawingml/2006/main">
            <a:off x="904875" y="33718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75" b="1">
                <a:solidFill>
                  <a:srgbClr val="F1B84B"/>
                </a:solidFill>
                <a:latin typeface="Arial Unicode MS"/>
                <a:ea typeface="Arial Unicode MS"/>
                <a:cs typeface="Arial Unicode MS"/>
              </a:defRPr>
            </a:defPPr>
          </a:lstStyle>
          <a:p xmlns:a="http://schemas.openxmlformats.org/drawingml/2006/main">
            <a:pPr algn="l">
              <a:defRPr sz="1575" b="1">
                <a:solidFill>
                  <a:srgbClr val="F1B84B"/>
                </a:solidFill>
                <a:latin typeface="Arial Unicode MS"/>
                <a:ea typeface="Arial Unicode MS"/>
                <a:cs typeface="Arial Unicode MS"/>
              </a:defRPr>
            </a:pPr>
            <a:r>
              <a:rPr sz="1575" b="1">
                <a:solidFill>
                  <a:srgbClr val="F1B84B"/>
                </a:solidFill>
                <a:latin typeface="Arial Unicode MS"/>
                <a:ea typeface="Arial Unicode MS"/>
                <a:cs typeface="Arial Unicode MS"/>
              </a:rPr>
              <a:t>90%–95%</a:t>
            </a:r>
          </a:p>
        </p:txBody>
      </p:sp>
      <p:sp>
        <p:nvSpPr>
          <p:cNvPr id="22" name="">
            <a:extLst xmlns:a="http://schemas.openxmlformats.org/drawingml/2006/main">
              <a:ext uri="{FF2B5EF4-FFF2-40B4-BE49-F238E27FC236}">
                <a16:creationId xmlns:a16="http://schemas.microsoft.com/office/drawing/2014/main" id="{7D336FA2-536E-4B84-AA53-9A715C331A96}"/>
              </a:ext>
            </a:extLst>
          </p:cNvPr>
          <p:cNvSpPr>
            <a:spLocks xmlns:a="http://schemas.openxmlformats.org/drawingml/2006/main" noGrp="1"/>
          </p:cNvSpPr>
          <p:nvPr/>
        </p:nvSpPr>
        <p:spPr>
          <a:xfrm xmlns:a="http://schemas.openxmlformats.org/drawingml/2006/main">
            <a:off x="3286125" y="33718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BP 与投票人当期奖励为 0</a:t>
            </a:r>
          </a:p>
        </p:txBody>
      </p:sp>
      <p:sp>
        <p:nvSpPr>
          <p:cNvPr id="23" name="">
            <a:extLst xmlns:a="http://schemas.openxmlformats.org/drawingml/2006/main">
              <a:ext uri="{FF2B5EF4-FFF2-40B4-BE49-F238E27FC236}">
                <a16:creationId xmlns:a16="http://schemas.microsoft.com/office/drawing/2014/main" id="{E8ED637B-1250-4BF5-A1B7-BEC7A757EAB2}"/>
              </a:ext>
            </a:extLst>
          </p:cNvPr>
          <p:cNvSpPr>
            <a:spLocks xmlns:a="http://schemas.openxmlformats.org/drawingml/2006/main" noGrp="1"/>
          </p:cNvSpPr>
          <p:nvPr/>
        </p:nvSpPr>
        <p:spPr>
          <a:xfrm xmlns:a="http://schemas.openxmlformats.org/drawingml/2006/main">
            <a:off x="9001125" y="337185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00" b="1">
                <a:solidFill>
                  <a:srgbClr val="F1B84B"/>
                </a:solidFill>
                <a:latin typeface="Arial Unicode MS"/>
                <a:ea typeface="Arial Unicode MS"/>
                <a:cs typeface="Arial Unicode MS"/>
              </a:defRPr>
            </a:defPPr>
          </a:lstStyle>
          <a:p xmlns:a="http://schemas.openxmlformats.org/drawingml/2006/main">
            <a:pPr algn="ctr">
              <a:defRPr sz="1200" b="1">
                <a:solidFill>
                  <a:srgbClr val="F1B84B"/>
                </a:solidFill>
                <a:latin typeface="Arial Unicode MS"/>
                <a:ea typeface="Arial Unicode MS"/>
                <a:cs typeface="Arial Unicode MS"/>
              </a:defRPr>
            </a:pPr>
            <a:r>
              <a:rPr sz="1200" b="1">
                <a:solidFill>
                  <a:srgbClr val="F1B84B"/>
                </a:solidFill>
                <a:latin typeface="Arial Unicode MS"/>
                <a:ea typeface="Arial Unicode MS"/>
                <a:cs typeface="Arial Unicode MS"/>
              </a:rPr>
              <a:t>WARNING</a:t>
            </a:r>
          </a:p>
        </p:txBody>
      </p:sp>
      <p:sp>
        <p:nvSpPr>
          <p:cNvPr id="24" name="">
            <a:extLst xmlns:a="http://schemas.openxmlformats.org/drawingml/2006/main">
              <a:ext uri="{FF2B5EF4-FFF2-40B4-BE49-F238E27FC236}">
                <a16:creationId xmlns:a16="http://schemas.microsoft.com/office/drawing/2014/main" id="{1F2BED2B-5FBE-4DD8-9801-93ED1FA0A24D}"/>
              </a:ext>
            </a:extLst>
          </p:cNvPr>
          <p:cNvSpPr>
            <a:spLocks xmlns:a="http://schemas.openxmlformats.org/drawingml/2006/main" noGrp="1"/>
          </p:cNvSpPr>
          <p:nvPr/>
        </p:nvSpPr>
        <p:spPr>
          <a:xfrm xmlns:a="http://schemas.openxmlformats.org/drawingml/2006/main">
            <a:off x="666750" y="3981450"/>
            <a:ext cx="10477500" cy="514350"/>
          </a:xfrm>
          <a:prstGeom xmlns:a="http://schemas.openxmlformats.org/drawingml/2006/main" prst="roundRect">
            <a:avLst>
              <a:gd name="adj" fmla="val 14815"/>
            </a:avLst>
          </a:prstGeom>
          <a:solidFill xmlns:a="http://schemas.openxmlformats.org/drawingml/2006/main">
            <a:srgbClr val="07152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C508B4A-A685-4577-8B38-23061D159F8C}"/>
              </a:ext>
            </a:extLst>
          </p:cNvPr>
          <p:cNvSpPr>
            <a:spLocks xmlns:a="http://schemas.openxmlformats.org/drawingml/2006/main" noGrp="1"/>
          </p:cNvSpPr>
          <p:nvPr/>
        </p:nvSpPr>
        <p:spPr>
          <a:xfrm xmlns:a="http://schemas.openxmlformats.org/drawingml/2006/main">
            <a:off x="666750" y="3981450"/>
            <a:ext cx="76200" cy="514350"/>
          </a:xfrm>
          <a:prstGeom xmlns:a="http://schemas.openxmlformats.org/drawingml/2006/main" prst="rect">
            <a:avLst/>
          </a:prstGeom>
          <a:solidFill xmlns:a="http://schemas.openxmlformats.org/drawingml/2006/main">
            <a:srgbClr val="FF7A6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3994A46-ADB6-4F88-A905-A21E792A6AA3}"/>
              </a:ext>
            </a:extLst>
          </p:cNvPr>
          <p:cNvSpPr>
            <a:spLocks xmlns:a="http://schemas.openxmlformats.org/drawingml/2006/main" noGrp="1"/>
          </p:cNvSpPr>
          <p:nvPr/>
        </p:nvSpPr>
        <p:spPr>
          <a:xfrm xmlns:a="http://schemas.openxmlformats.org/drawingml/2006/main">
            <a:off x="904875" y="40386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75" b="1">
                <a:solidFill>
                  <a:srgbClr val="FF7A6E"/>
                </a:solidFill>
                <a:latin typeface="Arial Unicode MS"/>
                <a:ea typeface="Arial Unicode MS"/>
                <a:cs typeface="Arial Unicode MS"/>
              </a:defRPr>
            </a:defPPr>
          </a:lstStyle>
          <a:p xmlns:a="http://schemas.openxmlformats.org/drawingml/2006/main">
            <a:pPr algn="l">
              <a:defRPr sz="1575" b="1">
                <a:solidFill>
                  <a:srgbClr val="FF7A6E"/>
                </a:solidFill>
                <a:latin typeface="Arial Unicode MS"/>
                <a:ea typeface="Arial Unicode MS"/>
                <a:cs typeface="Arial Unicode MS"/>
              </a:defRPr>
            </a:pPr>
            <a:r>
              <a:rPr sz="1575" b="1">
                <a:solidFill>
                  <a:srgbClr val="FF7A6E"/>
                </a:solidFill>
                <a:latin typeface="Arial Unicode MS"/>
                <a:ea typeface="Arial Unicode MS"/>
                <a:cs typeface="Arial Unicode MS"/>
              </a:rPr>
              <a:t>&lt; 90%</a:t>
            </a:r>
          </a:p>
        </p:txBody>
      </p:sp>
      <p:sp>
        <p:nvSpPr>
          <p:cNvPr id="27" name="">
            <a:extLst xmlns:a="http://schemas.openxmlformats.org/drawingml/2006/main">
              <a:ext uri="{FF2B5EF4-FFF2-40B4-BE49-F238E27FC236}">
                <a16:creationId xmlns:a16="http://schemas.microsoft.com/office/drawing/2014/main" id="{7053D35F-94F6-4509-8A43-06D278FBC0F9}"/>
              </a:ext>
            </a:extLst>
          </p:cNvPr>
          <p:cNvSpPr>
            <a:spLocks xmlns:a="http://schemas.openxmlformats.org/drawingml/2006/main" noGrp="1"/>
          </p:cNvSpPr>
          <p:nvPr/>
        </p:nvSpPr>
        <p:spPr>
          <a:xfrm xmlns:a="http://schemas.openxmlformats.org/drawingml/2006/main">
            <a:off x="3286125" y="403860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奖励为 0，停权至少 1 epoch</a:t>
            </a:r>
          </a:p>
        </p:txBody>
      </p:sp>
      <p:sp>
        <p:nvSpPr>
          <p:cNvPr id="28" name="">
            <a:extLst xmlns:a="http://schemas.openxmlformats.org/drawingml/2006/main">
              <a:ext uri="{FF2B5EF4-FFF2-40B4-BE49-F238E27FC236}">
                <a16:creationId xmlns:a16="http://schemas.microsoft.com/office/drawing/2014/main" id="{507E6499-8C9F-468C-9BBD-50009A0199FE}"/>
              </a:ext>
            </a:extLst>
          </p:cNvPr>
          <p:cNvSpPr>
            <a:spLocks xmlns:a="http://schemas.openxmlformats.org/drawingml/2006/main" noGrp="1"/>
          </p:cNvSpPr>
          <p:nvPr/>
        </p:nvSpPr>
        <p:spPr>
          <a:xfrm xmlns:a="http://schemas.openxmlformats.org/drawingml/2006/main">
            <a:off x="9001125" y="40386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00" b="1">
                <a:solidFill>
                  <a:srgbClr val="FF7A6E"/>
                </a:solidFill>
                <a:latin typeface="Arial Unicode MS"/>
                <a:ea typeface="Arial Unicode MS"/>
                <a:cs typeface="Arial Unicode MS"/>
              </a:defRPr>
            </a:defPPr>
          </a:lstStyle>
          <a:p xmlns:a="http://schemas.openxmlformats.org/drawingml/2006/main">
            <a:pPr algn="ctr">
              <a:defRPr sz="1200" b="1">
                <a:solidFill>
                  <a:srgbClr val="FF7A6E"/>
                </a:solidFill>
                <a:latin typeface="Arial Unicode MS"/>
                <a:ea typeface="Arial Unicode MS"/>
                <a:cs typeface="Arial Unicode MS"/>
              </a:defRPr>
            </a:pPr>
            <a:r>
              <a:rPr sz="1200" b="1">
                <a:solidFill>
                  <a:srgbClr val="FF7A6E"/>
                </a:solidFill>
                <a:latin typeface="Arial Unicode MS"/>
                <a:ea typeface="Arial Unicode MS"/>
                <a:cs typeface="Arial Unicode MS"/>
              </a:rPr>
              <a:t>SUSPENDED</a:t>
            </a:r>
          </a:p>
        </p:txBody>
      </p:sp>
      <p:sp>
        <p:nvSpPr>
          <p:cNvPr id="29" name="">
            <a:extLst xmlns:a="http://schemas.openxmlformats.org/drawingml/2006/main">
              <a:ext uri="{FF2B5EF4-FFF2-40B4-BE49-F238E27FC236}">
                <a16:creationId xmlns:a16="http://schemas.microsoft.com/office/drawing/2014/main" id="{E0C303FD-059F-474C-9AB3-A5A608758E7F}"/>
              </a:ext>
            </a:extLst>
          </p:cNvPr>
          <p:cNvSpPr>
            <a:spLocks xmlns:a="http://schemas.openxmlformats.org/drawingml/2006/main" noGrp="1"/>
          </p:cNvSpPr>
          <p:nvPr/>
        </p:nvSpPr>
        <p:spPr>
          <a:xfrm xmlns:a="http://schemas.openxmlformats.org/drawingml/2006/main">
            <a:off x="666750" y="4648200"/>
            <a:ext cx="10477500" cy="514350"/>
          </a:xfrm>
          <a:prstGeom xmlns:a="http://schemas.openxmlformats.org/drawingml/2006/main" prst="roundRect">
            <a:avLst>
              <a:gd name="adj" fmla="val 14815"/>
            </a:avLst>
          </a:prstGeom>
          <a:solidFill xmlns:a="http://schemas.openxmlformats.org/drawingml/2006/main">
            <a:srgbClr val="0B203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35D98C4-74BA-432C-8482-65BA940809B6}"/>
              </a:ext>
            </a:extLst>
          </p:cNvPr>
          <p:cNvSpPr>
            <a:spLocks xmlns:a="http://schemas.openxmlformats.org/drawingml/2006/main" noGrp="1"/>
          </p:cNvSpPr>
          <p:nvPr/>
        </p:nvSpPr>
        <p:spPr>
          <a:xfrm xmlns:a="http://schemas.openxmlformats.org/drawingml/2006/main">
            <a:off x="666750" y="4648200"/>
            <a:ext cx="76200" cy="514350"/>
          </a:xfrm>
          <a:prstGeom xmlns:a="http://schemas.openxmlformats.org/drawingml/2006/main" prst="rect">
            <a:avLst/>
          </a:prstGeom>
          <a:solidFill xmlns:a="http://schemas.openxmlformats.org/drawingml/2006/main">
            <a:srgbClr val="FF7A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AAA38C9-0EC6-4376-92A7-2D49785EE5DA}"/>
              </a:ext>
            </a:extLst>
          </p:cNvPr>
          <p:cNvSpPr>
            <a:spLocks xmlns:a="http://schemas.openxmlformats.org/drawingml/2006/main" noGrp="1"/>
          </p:cNvSpPr>
          <p:nvPr/>
        </p:nvSpPr>
        <p:spPr>
          <a:xfrm xmlns:a="http://schemas.openxmlformats.org/drawingml/2006/main">
            <a:off x="904875" y="47053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75" b="1">
                <a:solidFill>
                  <a:srgbClr val="FF7A6E"/>
                </a:solidFill>
                <a:latin typeface="Arial Unicode MS"/>
                <a:ea typeface="Arial Unicode MS"/>
                <a:cs typeface="Arial Unicode MS"/>
              </a:defRPr>
            </a:defPPr>
          </a:lstStyle>
          <a:p xmlns:a="http://schemas.openxmlformats.org/drawingml/2006/main">
            <a:pPr algn="l">
              <a:defRPr sz="1575" b="1">
                <a:solidFill>
                  <a:srgbClr val="FF7A6E"/>
                </a:solidFill>
                <a:latin typeface="Arial Unicode MS"/>
                <a:ea typeface="Arial Unicode MS"/>
                <a:cs typeface="Arial Unicode MS"/>
              </a:defRPr>
            </a:pPr>
            <a:r>
              <a:rPr sz="1575" b="1">
                <a:solidFill>
                  <a:srgbClr val="FF7A6E"/>
                </a:solidFill>
                <a:latin typeface="Arial Unicode MS"/>
                <a:ea typeface="Arial Unicode MS"/>
                <a:cs typeface="Arial Unicode MS"/>
              </a:rPr>
              <a:t>30 天内 3 次 &lt; 90%</a:t>
            </a:r>
          </a:p>
        </p:txBody>
      </p:sp>
      <p:sp>
        <p:nvSpPr>
          <p:cNvPr id="32" name="">
            <a:extLst xmlns:a="http://schemas.openxmlformats.org/drawingml/2006/main">
              <a:ext uri="{FF2B5EF4-FFF2-40B4-BE49-F238E27FC236}">
                <a16:creationId xmlns:a16="http://schemas.microsoft.com/office/drawing/2014/main" id="{188B0D2E-BE4B-4E6D-9420-2B4046B4B417}"/>
              </a:ext>
            </a:extLst>
          </p:cNvPr>
          <p:cNvSpPr>
            <a:spLocks xmlns:a="http://schemas.openxmlformats.org/drawingml/2006/main" noGrp="1"/>
          </p:cNvSpPr>
          <p:nvPr/>
        </p:nvSpPr>
        <p:spPr>
          <a:xfrm xmlns:a="http://schemas.openxmlformats.org/drawingml/2006/main">
            <a:off x="3286125" y="47053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停权 7 天，恢复保证金提高 25%</a:t>
            </a:r>
          </a:p>
        </p:txBody>
      </p:sp>
      <p:sp>
        <p:nvSpPr>
          <p:cNvPr id="33" name="">
            <a:extLst xmlns:a="http://schemas.openxmlformats.org/drawingml/2006/main">
              <a:ext uri="{FF2B5EF4-FFF2-40B4-BE49-F238E27FC236}">
                <a16:creationId xmlns:a16="http://schemas.microsoft.com/office/drawing/2014/main" id="{9AC63F19-DE42-44CF-92AA-371F3C5D62C5}"/>
              </a:ext>
            </a:extLst>
          </p:cNvPr>
          <p:cNvSpPr>
            <a:spLocks xmlns:a="http://schemas.openxmlformats.org/drawingml/2006/main" noGrp="1"/>
          </p:cNvSpPr>
          <p:nvPr/>
        </p:nvSpPr>
        <p:spPr>
          <a:xfrm xmlns:a="http://schemas.openxmlformats.org/drawingml/2006/main">
            <a:off x="9001125" y="470535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00" b="1">
                <a:solidFill>
                  <a:srgbClr val="FF7A6E"/>
                </a:solidFill>
                <a:latin typeface="Arial Unicode MS"/>
                <a:ea typeface="Arial Unicode MS"/>
                <a:cs typeface="Arial Unicode MS"/>
              </a:defRPr>
            </a:defPPr>
          </a:lstStyle>
          <a:p xmlns:a="http://schemas.openxmlformats.org/drawingml/2006/main">
            <a:pPr algn="ctr">
              <a:defRPr sz="1200" b="1">
                <a:solidFill>
                  <a:srgbClr val="FF7A6E"/>
                </a:solidFill>
                <a:latin typeface="Arial Unicode MS"/>
                <a:ea typeface="Arial Unicode MS"/>
                <a:cs typeface="Arial Unicode MS"/>
              </a:defRPr>
            </a:pPr>
            <a:r>
              <a:rPr sz="1200" b="1">
                <a:solidFill>
                  <a:srgbClr val="FF7A6E"/>
                </a:solidFill>
                <a:latin typeface="Arial Unicode MS"/>
                <a:ea typeface="Arial Unicode MS"/>
                <a:cs typeface="Arial Unicode MS"/>
              </a:rPr>
              <a:t>COOLING</a:t>
            </a:r>
          </a:p>
        </p:txBody>
      </p:sp>
      <p:sp>
        <p:nvSpPr>
          <p:cNvPr id="34" name="">
            <a:extLst xmlns:a="http://schemas.openxmlformats.org/drawingml/2006/main">
              <a:ext uri="{FF2B5EF4-FFF2-40B4-BE49-F238E27FC236}">
                <a16:creationId xmlns:a16="http://schemas.microsoft.com/office/drawing/2014/main" id="{2757CBD7-F93E-4E09-BB86-C1728CE1FB7A}"/>
              </a:ext>
            </a:extLst>
          </p:cNvPr>
          <p:cNvSpPr>
            <a:spLocks xmlns:a="http://schemas.openxmlformats.org/drawingml/2006/main" noGrp="1"/>
          </p:cNvSpPr>
          <p:nvPr/>
        </p:nvSpPr>
        <p:spPr>
          <a:xfrm xmlns:a="http://schemas.openxmlformats.org/drawingml/2006/main">
            <a:off x="666750" y="5553075"/>
            <a:ext cx="10477500" cy="523875"/>
          </a:xfrm>
          <a:prstGeom xmlns:a="http://schemas.openxmlformats.org/drawingml/2006/main" prst="roundRect">
            <a:avLst>
              <a:gd name="adj" fmla="val 14545"/>
            </a:avLst>
          </a:prstGeom>
          <a:solidFill xmlns:a="http://schemas.openxmlformats.org/drawingml/2006/main">
            <a:srgbClr val="176B8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C25714D-B922-445C-BFC6-C6B67AC21882}"/>
              </a:ext>
            </a:extLst>
          </p:cNvPr>
          <p:cNvSpPr>
            <a:spLocks xmlns:a="http://schemas.openxmlformats.org/drawingml/2006/main" noGrp="1"/>
          </p:cNvSpPr>
          <p:nvPr/>
        </p:nvSpPr>
        <p:spPr>
          <a:xfrm xmlns:a="http://schemas.openxmlformats.org/drawingml/2006/main">
            <a:off x="876300" y="5610225"/>
            <a:ext cx="10048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350" b="1">
                <a:solidFill>
                  <a:srgbClr val="F7FBFF"/>
                </a:solidFill>
                <a:latin typeface="Arial Unicode MS"/>
                <a:ea typeface="Arial Unicode MS"/>
                <a:cs typeface="Arial Unicode MS"/>
              </a:defRPr>
            </a:defPPr>
          </a:lstStyle>
          <a:p xmlns:a="http://schemas.openxmlformats.org/drawingml/2006/main">
            <a:pPr algn="ctr">
              <a:defRPr sz="1350" b="1">
                <a:solidFill>
                  <a:srgbClr val="F7FBFF"/>
                </a:solidFill>
                <a:latin typeface="Arial Unicode MS"/>
                <a:ea typeface="Arial Unicode MS"/>
                <a:cs typeface="Arial Unicode MS"/>
              </a:defRPr>
            </a:pPr>
            <a:r>
              <a:rPr sz="1350" b="1">
                <a:solidFill>
                  <a:srgbClr val="F7FBFF"/>
                </a:solidFill>
                <a:latin typeface="Arial Unicode MS"/>
                <a:ea typeface="Arial Unicode MS"/>
                <a:cs typeface="Arial Unicode MS"/>
              </a:rPr>
              <a:t>网络异常保护：超过 1/3 活跃 BP 同时失败时，只记录数据，不执行个体惩罚</a:t>
            </a:r>
          </a:p>
        </p:txBody>
      </p:sp>
    </p:spTree>
    <p:extLst>
      <p:ext uri="{BB962C8B-B14F-4D97-AF65-F5344CB8AC3E}">
        <p14:creationId xmlns:p14="http://schemas.microsoft.com/office/powerpoint/2010/main" val="35031110"/>
      </p:ext>
    </p:extLst>
  </p:cSld>
</p:sld>
</file>

<file path=ppt/slides/slide10.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469CC65-9000-4B22-A4B5-E81F65086D2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5767A5-32C4-4B13-99A5-AB5939FE0247}"/>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09 证据与罚没</a:t>
            </a:r>
          </a:p>
        </p:txBody>
      </p:sp>
      <p:sp>
        <p:nvSpPr>
          <p:cNvPr id="3" name="">
            <a:extLst xmlns:a="http://schemas.openxmlformats.org/drawingml/2006/main">
              <a:ext uri="{FF2B5EF4-FFF2-40B4-BE49-F238E27FC236}">
                <a16:creationId xmlns:a16="http://schemas.microsoft.com/office/drawing/2014/main" id="{393DB5C8-5BEA-4520-8780-B7E12F63349B}"/>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停机处罚与作弊罚没分开</a:t>
            </a:r>
          </a:p>
        </p:txBody>
      </p:sp>
      <p:sp>
        <p:nvSpPr>
          <p:cNvPr id="4" name="">
            <a:extLst xmlns:a="http://schemas.openxmlformats.org/drawingml/2006/main">
              <a:ext uri="{FF2B5EF4-FFF2-40B4-BE49-F238E27FC236}">
                <a16:creationId xmlns:a16="http://schemas.microsoft.com/office/drawing/2014/main" id="{0BCC669C-7A8A-494B-A42E-C997EA9ECB0D}"/>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97D397-F408-4D18-99BB-2C4ED3DAD566}"/>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10</a:t>
            </a:r>
          </a:p>
        </p:txBody>
      </p:sp>
      <p:sp>
        <p:nvSpPr>
          <p:cNvPr id="6" name="">
            <a:extLst xmlns:a="http://schemas.openxmlformats.org/drawingml/2006/main">
              <a:ext uri="{FF2B5EF4-FFF2-40B4-BE49-F238E27FC236}">
                <a16:creationId xmlns:a16="http://schemas.microsoft.com/office/drawing/2014/main" id="{5A691AB9-3D15-442A-8815-7EC5162A13A2}"/>
              </a:ext>
            </a:extLst>
          </p:cNvPr>
          <p:cNvSpPr>
            <a:spLocks xmlns:a="http://schemas.openxmlformats.org/drawingml/2006/main" noGrp="1"/>
          </p:cNvSpPr>
          <p:nvPr/>
        </p:nvSpPr>
        <p:spPr>
          <a:xfrm xmlns:a="http://schemas.openxmlformats.org/drawingml/2006/main">
            <a:off x="666750" y="1695450"/>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250" b="1">
                <a:solidFill>
                  <a:srgbClr val="F1B84B"/>
                </a:solidFill>
                <a:latin typeface="Arial Unicode MS"/>
                <a:ea typeface="Arial Unicode MS"/>
                <a:cs typeface="Arial Unicode MS"/>
              </a:defRPr>
            </a:defPPr>
          </a:lstStyle>
          <a:p xmlns:a="http://schemas.openxmlformats.org/drawingml/2006/main">
            <a:pPr algn="l">
              <a:defRPr sz="2250" b="1">
                <a:solidFill>
                  <a:srgbClr val="F1B84B"/>
                </a:solidFill>
                <a:latin typeface="Arial Unicode MS"/>
                <a:ea typeface="Arial Unicode MS"/>
                <a:cs typeface="Arial Unicode MS"/>
              </a:defRPr>
            </a:pPr>
            <a:r>
              <a:rPr sz="2250" b="1">
                <a:solidFill>
                  <a:srgbClr val="F1B84B"/>
                </a:solidFill>
                <a:latin typeface="Arial Unicode MS"/>
                <a:ea typeface="Arial Unicode MS"/>
                <a:cs typeface="Arial Unicode MS"/>
              </a:rPr>
              <a:t>普通离线</a:t>
            </a:r>
          </a:p>
        </p:txBody>
      </p:sp>
      <p:sp>
        <p:nvSpPr>
          <p:cNvPr id="7" name="">
            <a:extLst xmlns:a="http://schemas.openxmlformats.org/drawingml/2006/main">
              <a:ext uri="{FF2B5EF4-FFF2-40B4-BE49-F238E27FC236}">
                <a16:creationId xmlns:a16="http://schemas.microsoft.com/office/drawing/2014/main" id="{88B2F030-120E-4345-81BC-18A397F6BDF1}"/>
              </a:ext>
            </a:extLst>
          </p:cNvPr>
          <p:cNvSpPr>
            <a:spLocks xmlns:a="http://schemas.openxmlformats.org/drawingml/2006/main" noGrp="1"/>
          </p:cNvSpPr>
          <p:nvPr/>
        </p:nvSpPr>
        <p:spPr>
          <a:xfrm xmlns:a="http://schemas.openxmlformats.org/drawingml/2006/main">
            <a:off x="666750" y="2286000"/>
            <a:ext cx="4572000" cy="2000250"/>
          </a:xfrm>
          <a:prstGeom xmlns:a="http://schemas.openxmlformats.org/drawingml/2006/main" prst="roundRect">
            <a:avLst>
              <a:gd name="adj" fmla="val 3810"/>
            </a:avLst>
          </a:prstGeom>
          <a:solidFill xmlns:a="http://schemas.openxmlformats.org/drawingml/2006/main">
            <a:srgbClr val="0B2035"/>
          </a:solidFill>
          <a:ln xmlns:a="http://schemas.openxmlformats.org/drawingml/2006/main" w="9525">
            <a:solidFill>
              <a:srgbClr val="F1B84B"/>
            </a:solidFill>
            <a:prstDash val="solid"/>
          </a:ln>
        </p:spPr>
      </p:sp>
      <p:sp>
        <p:nvSpPr>
          <p:cNvPr id="8" name="">
            <a:extLst xmlns:a="http://schemas.openxmlformats.org/drawingml/2006/main">
              <a:ext uri="{FF2B5EF4-FFF2-40B4-BE49-F238E27FC236}">
                <a16:creationId xmlns:a16="http://schemas.microsoft.com/office/drawing/2014/main" id="{72100CA3-A030-4A2F-9863-A179AFBC69F7}"/>
              </a:ext>
            </a:extLst>
          </p:cNvPr>
          <p:cNvSpPr>
            <a:spLocks xmlns:a="http://schemas.openxmlformats.org/drawingml/2006/main" noGrp="1"/>
          </p:cNvSpPr>
          <p:nvPr/>
        </p:nvSpPr>
        <p:spPr>
          <a:xfrm xmlns:a="http://schemas.openxmlformats.org/drawingml/2006/main">
            <a:off x="1000125" y="2533650"/>
            <a:ext cx="3905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725" b="1">
                <a:solidFill>
                  <a:srgbClr val="D7E7F2"/>
                </a:solidFill>
                <a:latin typeface="Arial Unicode MS"/>
                <a:ea typeface="Arial Unicode MS"/>
                <a:cs typeface="Arial Unicode MS"/>
              </a:defRPr>
            </a:defPPr>
          </a:lstStyle>
          <a:p xmlns:a="http://schemas.openxmlformats.org/drawingml/2006/main">
            <a:pPr algn="ctr">
              <a:defRPr sz="1725" b="1">
                <a:solidFill>
                  <a:srgbClr val="D7E7F2"/>
                </a:solidFill>
                <a:latin typeface="Arial Unicode MS"/>
                <a:ea typeface="Arial Unicode MS"/>
                <a:cs typeface="Arial Unicode MS"/>
              </a:defRPr>
            </a:pPr>
            <a:r>
              <a:rPr sz="1725" b="1">
                <a:solidFill>
                  <a:srgbClr val="D7E7F2"/>
                </a:solidFill>
                <a:latin typeface="Arial Unicode MS"/>
                <a:ea typeface="Arial Unicode MS"/>
                <a:cs typeface="Arial Unicode MS"/>
              </a:rPr>
              <a:t>扣减或取消奖励</a:t>
            </a:r>
          </a:p>
          <a:p xmlns:a="http://schemas.openxmlformats.org/drawingml/2006/main">
            <a:pPr algn="ctr">
              <a:defRPr sz="1725" b="1">
                <a:solidFill>
                  <a:srgbClr val="D7E7F2"/>
                </a:solidFill>
                <a:latin typeface="Arial Unicode MS"/>
                <a:ea typeface="Arial Unicode MS"/>
                <a:cs typeface="Arial Unicode MS"/>
              </a:defRPr>
            </a:pPr>
            <a:r>
              <a:rPr sz="1725" b="1">
                <a:solidFill>
                  <a:srgbClr val="D7E7F2"/>
                </a:solidFill>
                <a:latin typeface="Arial Unicode MS"/>
                <a:ea typeface="Arial Unicode MS"/>
                <a:cs typeface="Arial Unicode MS"/>
              </a:rPr>
              <a:t>停权与冷却</a:t>
            </a:r>
          </a:p>
          <a:p xmlns:a="http://schemas.openxmlformats.org/drawingml/2006/main">
            <a:pPr algn="ctr">
              <a:defRPr sz="1725" b="1">
                <a:solidFill>
                  <a:srgbClr val="D7E7F2"/>
                </a:solidFill>
                <a:latin typeface="Arial Unicode MS"/>
                <a:ea typeface="Arial Unicode MS"/>
                <a:cs typeface="Arial Unicode MS"/>
              </a:defRPr>
            </a:pPr>
            <a:r>
              <a:rPr sz="1725" b="1">
                <a:solidFill>
                  <a:srgbClr val="D7E7F2"/>
                </a:solidFill>
                <a:latin typeface="Arial Unicode MS"/>
                <a:ea typeface="Arial Unicode MS"/>
                <a:cs typeface="Arial Unicode MS"/>
              </a:rPr>
              <a:t>备用节点递补</a:t>
            </a:r>
          </a:p>
          <a:p xmlns:a="http://schemas.openxmlformats.org/drawingml/2006/main">
            <a:pPr algn="ctr">
              <a:defRPr sz="1725" b="1">
                <a:solidFill>
                  <a:srgbClr val="D7E7F2"/>
                </a:solidFill>
                <a:latin typeface="Arial Unicode MS"/>
                <a:ea typeface="Arial Unicode MS"/>
                <a:cs typeface="Arial Unicode MS"/>
              </a:defRPr>
            </a:pPr>
            <a:r>
              <a:rPr sz="1725" b="1">
                <a:solidFill>
                  <a:srgbClr val="D7E7F2"/>
                </a:solidFill>
                <a:latin typeface="Arial Unicode MS"/>
                <a:ea typeface="Arial Unicode MS"/>
                <a:cs typeface="Arial Unicode MS"/>
              </a:rPr>
              <a:t>本金不罚没</a:t>
            </a:r>
          </a:p>
        </p:txBody>
      </p:sp>
      <p:sp>
        <p:nvSpPr>
          <p:cNvPr id="9" name="">
            <a:extLst xmlns:a="http://schemas.openxmlformats.org/drawingml/2006/main">
              <a:ext uri="{FF2B5EF4-FFF2-40B4-BE49-F238E27FC236}">
                <a16:creationId xmlns:a16="http://schemas.microsoft.com/office/drawing/2014/main" id="{4D375697-CA43-4322-B3D9-F65B5942B085}"/>
              </a:ext>
            </a:extLst>
          </p:cNvPr>
          <p:cNvSpPr>
            <a:spLocks xmlns:a="http://schemas.openxmlformats.org/drawingml/2006/main" noGrp="1"/>
          </p:cNvSpPr>
          <p:nvPr/>
        </p:nvSpPr>
        <p:spPr>
          <a:xfrm xmlns:a="http://schemas.openxmlformats.org/drawingml/2006/main">
            <a:off x="6667500" y="1695450"/>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250" b="1">
                <a:solidFill>
                  <a:srgbClr val="FF7A6E"/>
                </a:solidFill>
                <a:latin typeface="Arial Unicode MS"/>
                <a:ea typeface="Arial Unicode MS"/>
                <a:cs typeface="Arial Unicode MS"/>
              </a:defRPr>
            </a:defPPr>
          </a:lstStyle>
          <a:p xmlns:a="http://schemas.openxmlformats.org/drawingml/2006/main">
            <a:pPr algn="l">
              <a:defRPr sz="2250" b="1">
                <a:solidFill>
                  <a:srgbClr val="FF7A6E"/>
                </a:solidFill>
                <a:latin typeface="Arial Unicode MS"/>
                <a:ea typeface="Arial Unicode MS"/>
                <a:cs typeface="Arial Unicode MS"/>
              </a:defRPr>
            </a:pPr>
            <a:r>
              <a:rPr sz="2250" b="1">
                <a:solidFill>
                  <a:srgbClr val="FF7A6E"/>
                </a:solidFill>
                <a:latin typeface="Arial Unicode MS"/>
                <a:ea typeface="Arial Unicode MS"/>
                <a:cs typeface="Arial Unicode MS"/>
              </a:rPr>
              <a:t>可证明作弊</a:t>
            </a:r>
          </a:p>
        </p:txBody>
      </p:sp>
      <p:sp>
        <p:nvSpPr>
          <p:cNvPr id="10" name="">
            <a:extLst xmlns:a="http://schemas.openxmlformats.org/drawingml/2006/main">
              <a:ext uri="{FF2B5EF4-FFF2-40B4-BE49-F238E27FC236}">
                <a16:creationId xmlns:a16="http://schemas.microsoft.com/office/drawing/2014/main" id="{DBEE343D-4FAA-43BC-A3E5-7E90607F20E6}"/>
              </a:ext>
            </a:extLst>
          </p:cNvPr>
          <p:cNvSpPr>
            <a:spLocks xmlns:a="http://schemas.openxmlformats.org/drawingml/2006/main" noGrp="1"/>
          </p:cNvSpPr>
          <p:nvPr/>
        </p:nvSpPr>
        <p:spPr>
          <a:xfrm xmlns:a="http://schemas.openxmlformats.org/drawingml/2006/main">
            <a:off x="6667500" y="2286000"/>
            <a:ext cx="4572000" cy="2000250"/>
          </a:xfrm>
          <a:prstGeom xmlns:a="http://schemas.openxmlformats.org/drawingml/2006/main" prst="roundRect">
            <a:avLst>
              <a:gd name="adj" fmla="val 3810"/>
            </a:avLst>
          </a:prstGeom>
          <a:solidFill xmlns:a="http://schemas.openxmlformats.org/drawingml/2006/main">
            <a:srgbClr val="0B2035"/>
          </a:solidFill>
          <a:ln xmlns:a="http://schemas.openxmlformats.org/drawingml/2006/main" w="9525">
            <a:solidFill>
              <a:srgbClr val="FF7A6E"/>
            </a:solidFill>
            <a:prstDash val="solid"/>
          </a:ln>
        </p:spPr>
      </p:sp>
      <p:sp>
        <p:nvSpPr>
          <p:cNvPr id="11" name="">
            <a:extLst xmlns:a="http://schemas.openxmlformats.org/drawingml/2006/main">
              <a:ext uri="{FF2B5EF4-FFF2-40B4-BE49-F238E27FC236}">
                <a16:creationId xmlns:a16="http://schemas.microsoft.com/office/drawing/2014/main" id="{CC12368B-F7F7-4308-BC9E-DF32D7E10D88}"/>
              </a:ext>
            </a:extLst>
          </p:cNvPr>
          <p:cNvSpPr>
            <a:spLocks xmlns:a="http://schemas.openxmlformats.org/drawingml/2006/main" noGrp="1"/>
          </p:cNvSpPr>
          <p:nvPr/>
        </p:nvSpPr>
        <p:spPr>
          <a:xfrm xmlns:a="http://schemas.openxmlformats.org/drawingml/2006/main">
            <a:off x="7000875" y="2533650"/>
            <a:ext cx="3905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725" b="1">
                <a:solidFill>
                  <a:srgbClr val="D7E7F2"/>
                </a:solidFill>
                <a:latin typeface="Arial Unicode MS"/>
                <a:ea typeface="Arial Unicode MS"/>
                <a:cs typeface="Arial Unicode MS"/>
              </a:defRPr>
            </a:defPPr>
          </a:lstStyle>
          <a:p xmlns:a="http://schemas.openxmlformats.org/drawingml/2006/main">
            <a:pPr algn="ctr">
              <a:defRPr sz="1725" b="1">
                <a:solidFill>
                  <a:srgbClr val="D7E7F2"/>
                </a:solidFill>
                <a:latin typeface="Arial Unicode MS"/>
                <a:ea typeface="Arial Unicode MS"/>
                <a:cs typeface="Arial Unicode MS"/>
              </a:defRPr>
            </a:pPr>
            <a:r>
              <a:rPr sz="1725" b="1">
                <a:solidFill>
                  <a:srgbClr val="D7E7F2"/>
                </a:solidFill>
                <a:latin typeface="Arial Unicode MS"/>
                <a:ea typeface="Arial Unicode MS"/>
                <a:cs typeface="Arial Unicode MS"/>
              </a:rPr>
              <a:t>同高度双签</a:t>
            </a:r>
          </a:p>
          <a:p xmlns:a="http://schemas.openxmlformats.org/drawingml/2006/main">
            <a:pPr algn="ctr">
              <a:defRPr sz="1725" b="1">
                <a:solidFill>
                  <a:srgbClr val="D7E7F2"/>
                </a:solidFill>
                <a:latin typeface="Arial Unicode MS"/>
                <a:ea typeface="Arial Unicode MS"/>
                <a:cs typeface="Arial Unicode MS"/>
              </a:defRPr>
            </a:pPr>
            <a:r>
              <a:rPr sz="1725" b="1">
                <a:solidFill>
                  <a:srgbClr val="D7E7F2"/>
                </a:solidFill>
                <a:latin typeface="Arial Unicode MS"/>
                <a:ea typeface="Arial Unicode MS"/>
                <a:cs typeface="Arial Unicode MS"/>
              </a:rPr>
              <a:t>冲突 finality 签名</a:t>
            </a:r>
          </a:p>
          <a:p xmlns:a="http://schemas.openxmlformats.org/drawingml/2006/main">
            <a:pPr algn="ctr">
              <a:defRPr sz="1725" b="1">
                <a:solidFill>
                  <a:srgbClr val="D7E7F2"/>
                </a:solidFill>
                <a:latin typeface="Arial Unicode MS"/>
                <a:ea typeface="Arial Unicode MS"/>
                <a:cs typeface="Arial Unicode MS"/>
              </a:defRPr>
            </a:pPr>
            <a:r>
              <a:rPr sz="1725" b="1">
                <a:solidFill>
                  <a:srgbClr val="D7E7F2"/>
                </a:solidFill>
                <a:latin typeface="Arial Unicode MS"/>
                <a:ea typeface="Arial Unicode MS"/>
                <a:cs typeface="Arial Unicode MS"/>
              </a:rPr>
              <a:t>链上验证证据</a:t>
            </a:r>
          </a:p>
          <a:p xmlns:a="http://schemas.openxmlformats.org/drawingml/2006/main">
            <a:pPr algn="ctr">
              <a:defRPr sz="1725" b="1">
                <a:solidFill>
                  <a:srgbClr val="D7E7F2"/>
                </a:solidFill>
                <a:latin typeface="Arial Unicode MS"/>
                <a:ea typeface="Arial Unicode MS"/>
                <a:cs typeface="Arial Unicode MS"/>
              </a:defRPr>
            </a:pPr>
            <a:r>
              <a:rPr sz="1725" b="1">
                <a:solidFill>
                  <a:srgbClr val="D7E7F2"/>
                </a:solidFill>
                <a:latin typeface="Arial Unicode MS"/>
                <a:ea typeface="Arial Unicode MS"/>
                <a:cs typeface="Arial Unicode MS"/>
              </a:rPr>
              <a:t>冻结、挑战、执行罚没</a:t>
            </a:r>
          </a:p>
        </p:txBody>
      </p:sp>
      <p:sp>
        <p:nvSpPr>
          <p:cNvPr id="12" name="">
            <a:extLst xmlns:a="http://schemas.openxmlformats.org/drawingml/2006/main">
              <a:ext uri="{FF2B5EF4-FFF2-40B4-BE49-F238E27FC236}">
                <a16:creationId xmlns:a16="http://schemas.microsoft.com/office/drawing/2014/main" id="{B8DB328A-BE9F-4F96-9558-807C3074F788}"/>
              </a:ext>
            </a:extLst>
          </p:cNvPr>
          <p:cNvSpPr>
            <a:spLocks xmlns:a="http://schemas.openxmlformats.org/drawingml/2006/main" noGrp="1"/>
          </p:cNvSpPr>
          <p:nvPr/>
        </p:nvSpPr>
        <p:spPr>
          <a:xfrm xmlns:a="http://schemas.openxmlformats.org/drawingml/2006/main">
            <a:off x="5619750" y="1619250"/>
            <a:ext cx="38100" cy="323850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A0A268F-F6D8-4C96-9FAC-261C92B0B1D7}"/>
              </a:ext>
            </a:extLst>
          </p:cNvPr>
          <p:cNvSpPr>
            <a:spLocks xmlns:a="http://schemas.openxmlformats.org/drawingml/2006/main" noGrp="1"/>
          </p:cNvSpPr>
          <p:nvPr/>
        </p:nvSpPr>
        <p:spPr>
          <a:xfrm xmlns:a="http://schemas.openxmlformats.org/drawingml/2006/main">
            <a:off x="666750" y="49530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a:solidFill>
                  <a:srgbClr val="F7FBFF"/>
                </a:solidFill>
                <a:latin typeface="Arial Unicode MS"/>
                <a:ea typeface="Arial Unicode MS"/>
                <a:cs typeface="Arial Unicode MS"/>
              </a:defRPr>
            </a:defPPr>
          </a:lstStyle>
          <a:p xmlns:a="http://schemas.openxmlformats.org/drawingml/2006/main">
            <a:pPr algn="l">
              <a:defRPr sz="1650" b="1">
                <a:solidFill>
                  <a:srgbClr val="F7FBFF"/>
                </a:solidFill>
                <a:latin typeface="Arial Unicode MS"/>
                <a:ea typeface="Arial Unicode MS"/>
                <a:cs typeface="Arial Unicode MS"/>
              </a:defRPr>
            </a:pPr>
            <a:r>
              <a:rPr sz="1650" b="1">
                <a:solidFill>
                  <a:srgbClr val="F7FBFF"/>
                </a:solidFill>
                <a:latin typeface="Arial Unicode MS"/>
                <a:ea typeface="Arial Unicode MS"/>
                <a:cs typeface="Arial Unicode MS"/>
              </a:rPr>
              <a:t>证据流程</a:t>
            </a:r>
          </a:p>
        </p:txBody>
      </p:sp>
      <p:sp>
        <p:nvSpPr>
          <p:cNvPr id="14" name="">
            <a:extLst xmlns:a="http://schemas.openxmlformats.org/drawingml/2006/main">
              <a:ext uri="{FF2B5EF4-FFF2-40B4-BE49-F238E27FC236}">
                <a16:creationId xmlns:a16="http://schemas.microsoft.com/office/drawing/2014/main" id="{18C16A72-F020-4CE5-AD83-723FBA000579}"/>
              </a:ext>
            </a:extLst>
          </p:cNvPr>
          <p:cNvSpPr>
            <a:spLocks xmlns:a="http://schemas.openxmlformats.org/drawingml/2006/main" noGrp="1"/>
          </p:cNvSpPr>
          <p:nvPr/>
        </p:nvSpPr>
        <p:spPr>
          <a:xfrm xmlns:a="http://schemas.openxmlformats.org/drawingml/2006/main">
            <a:off x="2476500" y="4953000"/>
            <a:ext cx="1381125" cy="342900"/>
          </a:xfrm>
          <a:prstGeom xmlns:a="http://schemas.openxmlformats.org/drawingml/2006/main" prst="roundRect">
            <a:avLst>
              <a:gd name="adj" fmla="val 22222"/>
            </a:avLst>
          </a:prstGeom>
          <a:solidFill xmlns:a="http://schemas.openxmlformats.org/drawingml/2006/main">
            <a:srgbClr val="176B8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3D53D9D-0052-43D0-B1FA-BE8862B3FBB9}"/>
              </a:ext>
            </a:extLst>
          </p:cNvPr>
          <p:cNvSpPr>
            <a:spLocks xmlns:a="http://schemas.openxmlformats.org/drawingml/2006/main" noGrp="1"/>
          </p:cNvSpPr>
          <p:nvPr/>
        </p:nvSpPr>
        <p:spPr>
          <a:xfrm xmlns:a="http://schemas.openxmlformats.org/drawingml/2006/main">
            <a:off x="2552700" y="4972050"/>
            <a:ext cx="1228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提交</a:t>
            </a:r>
          </a:p>
        </p:txBody>
      </p:sp>
      <p:sp>
        <p:nvSpPr>
          <p:cNvPr id="16" name="">
            <a:extLst xmlns:a="http://schemas.openxmlformats.org/drawingml/2006/main">
              <a:ext uri="{FF2B5EF4-FFF2-40B4-BE49-F238E27FC236}">
                <a16:creationId xmlns:a16="http://schemas.microsoft.com/office/drawing/2014/main" id="{6B16543E-E6D2-4428-975D-229A8D801410}"/>
              </a:ext>
            </a:extLst>
          </p:cNvPr>
          <p:cNvSpPr>
            <a:spLocks xmlns:a="http://schemas.openxmlformats.org/drawingml/2006/main" noGrp="1"/>
          </p:cNvSpPr>
          <p:nvPr/>
        </p:nvSpPr>
        <p:spPr>
          <a:xfrm xmlns:a="http://schemas.openxmlformats.org/drawingml/2006/main">
            <a:off x="3857625" y="5105400"/>
            <a:ext cx="285750" cy="28575"/>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86FEFA4-1916-49FF-BF2C-54B04AF9B177}"/>
              </a:ext>
            </a:extLst>
          </p:cNvPr>
          <p:cNvSpPr>
            <a:spLocks xmlns:a="http://schemas.openxmlformats.org/drawingml/2006/main" noGrp="1"/>
          </p:cNvSpPr>
          <p:nvPr/>
        </p:nvSpPr>
        <p:spPr>
          <a:xfrm xmlns:a="http://schemas.openxmlformats.org/drawingml/2006/main">
            <a:off x="4143375" y="4953000"/>
            <a:ext cx="1381125" cy="342900"/>
          </a:xfrm>
          <a:prstGeom xmlns:a="http://schemas.openxmlformats.org/drawingml/2006/main" prst="roundRect">
            <a:avLst>
              <a:gd name="adj" fmla="val 22222"/>
            </a:avLst>
          </a:prstGeom>
          <a:solidFill xmlns:a="http://schemas.openxmlformats.org/drawingml/2006/main">
            <a:srgbClr val="176B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9A3E77F-0420-40DC-8D35-3EEE661E74FF}"/>
              </a:ext>
            </a:extLst>
          </p:cNvPr>
          <p:cNvSpPr>
            <a:spLocks xmlns:a="http://schemas.openxmlformats.org/drawingml/2006/main" noGrp="1"/>
          </p:cNvSpPr>
          <p:nvPr/>
        </p:nvSpPr>
        <p:spPr>
          <a:xfrm xmlns:a="http://schemas.openxmlformats.org/drawingml/2006/main">
            <a:off x="4219575" y="4972050"/>
            <a:ext cx="1228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验证</a:t>
            </a:r>
          </a:p>
        </p:txBody>
      </p:sp>
      <p:sp>
        <p:nvSpPr>
          <p:cNvPr id="19" name="">
            <a:extLst xmlns:a="http://schemas.openxmlformats.org/drawingml/2006/main">
              <a:ext uri="{FF2B5EF4-FFF2-40B4-BE49-F238E27FC236}">
                <a16:creationId xmlns:a16="http://schemas.microsoft.com/office/drawing/2014/main" id="{116D5CC7-11A9-40A7-A52F-663CE49E1671}"/>
              </a:ext>
            </a:extLst>
          </p:cNvPr>
          <p:cNvSpPr>
            <a:spLocks xmlns:a="http://schemas.openxmlformats.org/drawingml/2006/main" noGrp="1"/>
          </p:cNvSpPr>
          <p:nvPr/>
        </p:nvSpPr>
        <p:spPr>
          <a:xfrm xmlns:a="http://schemas.openxmlformats.org/drawingml/2006/main">
            <a:off x="5524500" y="5105400"/>
            <a:ext cx="285750" cy="28575"/>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E3E31DC-512D-498B-96D4-09F8D9D6C659}"/>
              </a:ext>
            </a:extLst>
          </p:cNvPr>
          <p:cNvSpPr>
            <a:spLocks xmlns:a="http://schemas.openxmlformats.org/drawingml/2006/main" noGrp="1"/>
          </p:cNvSpPr>
          <p:nvPr/>
        </p:nvSpPr>
        <p:spPr>
          <a:xfrm xmlns:a="http://schemas.openxmlformats.org/drawingml/2006/main">
            <a:off x="5810250" y="4953000"/>
            <a:ext cx="1381125" cy="342900"/>
          </a:xfrm>
          <a:prstGeom xmlns:a="http://schemas.openxmlformats.org/drawingml/2006/main" prst="roundRect">
            <a:avLst>
              <a:gd name="adj" fmla="val 22222"/>
            </a:avLst>
          </a:prstGeom>
          <a:solidFill xmlns:a="http://schemas.openxmlformats.org/drawingml/2006/main">
            <a:srgbClr val="176B8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89713B0-5C04-4499-A8F4-7B3EB3132502}"/>
              </a:ext>
            </a:extLst>
          </p:cNvPr>
          <p:cNvSpPr>
            <a:spLocks xmlns:a="http://schemas.openxmlformats.org/drawingml/2006/main" noGrp="1"/>
          </p:cNvSpPr>
          <p:nvPr/>
        </p:nvSpPr>
        <p:spPr>
          <a:xfrm xmlns:a="http://schemas.openxmlformats.org/drawingml/2006/main">
            <a:off x="5886450" y="4972050"/>
            <a:ext cx="1228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冻结</a:t>
            </a:r>
          </a:p>
        </p:txBody>
      </p:sp>
      <p:sp>
        <p:nvSpPr>
          <p:cNvPr id="22" name="">
            <a:extLst xmlns:a="http://schemas.openxmlformats.org/drawingml/2006/main">
              <a:ext uri="{FF2B5EF4-FFF2-40B4-BE49-F238E27FC236}">
                <a16:creationId xmlns:a16="http://schemas.microsoft.com/office/drawing/2014/main" id="{A3933E6E-9AC8-47BB-A1E7-6D8C249CEEDE}"/>
              </a:ext>
            </a:extLst>
          </p:cNvPr>
          <p:cNvSpPr>
            <a:spLocks xmlns:a="http://schemas.openxmlformats.org/drawingml/2006/main" noGrp="1"/>
          </p:cNvSpPr>
          <p:nvPr/>
        </p:nvSpPr>
        <p:spPr>
          <a:xfrm xmlns:a="http://schemas.openxmlformats.org/drawingml/2006/main">
            <a:off x="7191375" y="5105400"/>
            <a:ext cx="285750" cy="28575"/>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5D41338-FA58-4619-B8E1-7067402940F5}"/>
              </a:ext>
            </a:extLst>
          </p:cNvPr>
          <p:cNvSpPr>
            <a:spLocks xmlns:a="http://schemas.openxmlformats.org/drawingml/2006/main" noGrp="1"/>
          </p:cNvSpPr>
          <p:nvPr/>
        </p:nvSpPr>
        <p:spPr>
          <a:xfrm xmlns:a="http://schemas.openxmlformats.org/drawingml/2006/main">
            <a:off x="7477125" y="4953000"/>
            <a:ext cx="1381125" cy="342900"/>
          </a:xfrm>
          <a:prstGeom xmlns:a="http://schemas.openxmlformats.org/drawingml/2006/main" prst="roundRect">
            <a:avLst>
              <a:gd name="adj" fmla="val 22222"/>
            </a:avLst>
          </a:prstGeom>
          <a:solidFill xmlns:a="http://schemas.openxmlformats.org/drawingml/2006/main">
            <a:srgbClr val="176B8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05124B4-5ED6-464D-9825-8E873D334CAE}"/>
              </a:ext>
            </a:extLst>
          </p:cNvPr>
          <p:cNvSpPr>
            <a:spLocks xmlns:a="http://schemas.openxmlformats.org/drawingml/2006/main" noGrp="1"/>
          </p:cNvSpPr>
          <p:nvPr/>
        </p:nvSpPr>
        <p:spPr>
          <a:xfrm xmlns:a="http://schemas.openxmlformats.org/drawingml/2006/main">
            <a:off x="7553325" y="4972050"/>
            <a:ext cx="1228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48h 挑战</a:t>
            </a:r>
          </a:p>
        </p:txBody>
      </p:sp>
      <p:sp>
        <p:nvSpPr>
          <p:cNvPr id="25" name="">
            <a:extLst xmlns:a="http://schemas.openxmlformats.org/drawingml/2006/main">
              <a:ext uri="{FF2B5EF4-FFF2-40B4-BE49-F238E27FC236}">
                <a16:creationId xmlns:a16="http://schemas.microsoft.com/office/drawing/2014/main" id="{D28E72AE-AEEB-4675-BADE-E4C56AAC6443}"/>
              </a:ext>
            </a:extLst>
          </p:cNvPr>
          <p:cNvSpPr>
            <a:spLocks xmlns:a="http://schemas.openxmlformats.org/drawingml/2006/main" noGrp="1"/>
          </p:cNvSpPr>
          <p:nvPr/>
        </p:nvSpPr>
        <p:spPr>
          <a:xfrm xmlns:a="http://schemas.openxmlformats.org/drawingml/2006/main">
            <a:off x="8858250" y="5105400"/>
            <a:ext cx="285750" cy="28575"/>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DF19ED8-260F-419E-A506-F948E7820385}"/>
              </a:ext>
            </a:extLst>
          </p:cNvPr>
          <p:cNvSpPr>
            <a:spLocks xmlns:a="http://schemas.openxmlformats.org/drawingml/2006/main" noGrp="1"/>
          </p:cNvSpPr>
          <p:nvPr/>
        </p:nvSpPr>
        <p:spPr>
          <a:xfrm xmlns:a="http://schemas.openxmlformats.org/drawingml/2006/main">
            <a:off x="9144000" y="4953000"/>
            <a:ext cx="1381125" cy="342900"/>
          </a:xfrm>
          <a:prstGeom xmlns:a="http://schemas.openxmlformats.org/drawingml/2006/main" prst="roundRect">
            <a:avLst>
              <a:gd name="adj" fmla="val 22222"/>
            </a:avLst>
          </a:prstGeom>
          <a:solidFill xmlns:a="http://schemas.openxmlformats.org/drawingml/2006/main">
            <a:srgbClr val="FF7A6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4D48DA8-B8D7-454B-B81E-BFBCD32D5E87}"/>
              </a:ext>
            </a:extLst>
          </p:cNvPr>
          <p:cNvSpPr>
            <a:spLocks xmlns:a="http://schemas.openxmlformats.org/drawingml/2006/main" noGrp="1"/>
          </p:cNvSpPr>
          <p:nvPr/>
        </p:nvSpPr>
        <p:spPr>
          <a:xfrm xmlns:a="http://schemas.openxmlformats.org/drawingml/2006/main">
            <a:off x="9220200" y="4972050"/>
            <a:ext cx="1228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执行</a:t>
            </a:r>
          </a:p>
        </p:txBody>
      </p:sp>
      <p:sp>
        <p:nvSpPr>
          <p:cNvPr id="28" name="">
            <a:extLst xmlns:a="http://schemas.openxmlformats.org/drawingml/2006/main">
              <a:ext uri="{FF2B5EF4-FFF2-40B4-BE49-F238E27FC236}">
                <a16:creationId xmlns:a16="http://schemas.microsoft.com/office/drawing/2014/main" id="{AC0232E6-C4C3-4800-8FEA-5DF67E05078D}"/>
              </a:ext>
            </a:extLst>
          </p:cNvPr>
          <p:cNvSpPr>
            <a:spLocks xmlns:a="http://schemas.openxmlformats.org/drawingml/2006/main" noGrp="1"/>
          </p:cNvSpPr>
          <p:nvPr/>
        </p:nvSpPr>
        <p:spPr>
          <a:xfrm xmlns:a="http://schemas.openxmlformats.org/drawingml/2006/main">
            <a:off x="666750" y="57340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FF7A6E"/>
                </a:solidFill>
                <a:latin typeface="Arial Unicode MS"/>
                <a:ea typeface="Arial Unicode MS"/>
                <a:cs typeface="Arial Unicode MS"/>
              </a:defRPr>
            </a:defPPr>
          </a:lstStyle>
          <a:p xmlns:a="http://schemas.openxmlformats.org/drawingml/2006/main">
            <a:pPr algn="l">
              <a:defRPr sz="1050" b="0">
                <a:solidFill>
                  <a:srgbClr val="FF7A6E"/>
                </a:solidFill>
                <a:latin typeface="Arial Unicode MS"/>
                <a:ea typeface="Arial Unicode MS"/>
                <a:cs typeface="Arial Unicode MS"/>
              </a:defRPr>
            </a:pPr>
            <a:r>
              <a:rPr sz="1050" b="0">
                <a:solidFill>
                  <a:srgbClr val="FF7A6E"/>
                </a:solidFill>
                <a:latin typeface="Arial Unicode MS"/>
                <a:ea typeface="Arial Unicode MS"/>
                <a:cs typeface="Arial Unicode MS"/>
              </a:rPr>
              <a:t>DAO 不能用多数票替代密码学事实。罚没格式与验证器需要单独 FIP。</a:t>
            </a:r>
          </a:p>
        </p:txBody>
      </p:sp>
    </p:spTree>
    <p:extLst>
      <p:ext uri="{BB962C8B-B14F-4D97-AF65-F5344CB8AC3E}">
        <p14:creationId xmlns:p14="http://schemas.microsoft.com/office/powerpoint/2010/main" val="1718014802"/>
      </p:ext>
    </p:extLst>
  </p:cSld>
</p:sld>
</file>

<file path=ppt/slides/slide11.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DF0D0BE-1BE0-4B61-8DEA-F246EFB1189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FB687D-FBA7-4B2D-8AF4-FFBF0EB89482}"/>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10 奖励模型</a:t>
            </a:r>
          </a:p>
        </p:txBody>
      </p:sp>
      <p:sp>
        <p:nvSpPr>
          <p:cNvPr id="3" name="">
            <a:extLst xmlns:a="http://schemas.openxmlformats.org/drawingml/2006/main">
              <a:ext uri="{FF2B5EF4-FFF2-40B4-BE49-F238E27FC236}">
                <a16:creationId xmlns:a16="http://schemas.microsoft.com/office/drawing/2014/main" id="{AE13A5C1-247C-49F9-907F-4F63134561D1}"/>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ELON 奖励与 FLON 全额储备</a:t>
            </a:r>
          </a:p>
        </p:txBody>
      </p:sp>
      <p:sp>
        <p:nvSpPr>
          <p:cNvPr id="4" name="">
            <a:extLst xmlns:a="http://schemas.openxmlformats.org/drawingml/2006/main">
              <a:ext uri="{FF2B5EF4-FFF2-40B4-BE49-F238E27FC236}">
                <a16:creationId xmlns:a16="http://schemas.microsoft.com/office/drawing/2014/main" id="{1E2DE150-4742-450F-A414-8474A3E93721}"/>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EB07F9-0289-43F3-BFEA-B46C2691C238}"/>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11</a:t>
            </a:r>
          </a:p>
        </p:txBody>
      </p:sp>
      <p:sp>
        <p:nvSpPr>
          <p:cNvPr id="6" name="">
            <a:extLst xmlns:a="http://schemas.openxmlformats.org/drawingml/2006/main">
              <a:ext uri="{FF2B5EF4-FFF2-40B4-BE49-F238E27FC236}">
                <a16:creationId xmlns:a16="http://schemas.microsoft.com/office/drawing/2014/main" id="{9D695D2D-5258-43DE-BC04-001516DB3DC6}"/>
              </a:ext>
            </a:extLst>
          </p:cNvPr>
          <p:cNvSpPr>
            <a:spLocks xmlns:a="http://schemas.openxmlformats.org/drawingml/2006/main" noGrp="1"/>
          </p:cNvSpPr>
          <p:nvPr/>
        </p:nvSpPr>
        <p:spPr>
          <a:xfrm xmlns:a="http://schemas.openxmlformats.org/drawingml/2006/main">
            <a:off x="762000" y="167640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3300" b="1">
                <a:solidFill>
                  <a:srgbClr val="F7FBFF"/>
                </a:solidFill>
                <a:latin typeface="Arial Unicode MS"/>
                <a:ea typeface="Arial Unicode MS"/>
                <a:cs typeface="Arial Unicode MS"/>
              </a:defRPr>
            </a:defPPr>
          </a:lstStyle>
          <a:p xmlns:a="http://schemas.openxmlformats.org/drawingml/2006/main">
            <a:pPr algn="ctr">
              <a:defRPr sz="3300" b="1">
                <a:solidFill>
                  <a:srgbClr val="F7FBFF"/>
                </a:solidFill>
                <a:latin typeface="Arial Unicode MS"/>
                <a:ea typeface="Arial Unicode MS"/>
                <a:cs typeface="Arial Unicode MS"/>
              </a:defRPr>
            </a:pPr>
            <a:r>
              <a:rPr sz="3300" b="1">
                <a:solidFill>
                  <a:srgbClr val="F7FBFF"/>
                </a:solidFill>
                <a:latin typeface="Arial Unicode MS"/>
                <a:ea typeface="Arial Unicode MS"/>
                <a:cs typeface="Arial Unicode MS"/>
              </a:rPr>
              <a:t>1 FLON</a:t>
            </a:r>
          </a:p>
        </p:txBody>
      </p:sp>
      <p:sp>
        <p:nvSpPr>
          <p:cNvPr id="7" name="">
            <a:extLst xmlns:a="http://schemas.openxmlformats.org/drawingml/2006/main">
              <a:ext uri="{FF2B5EF4-FFF2-40B4-BE49-F238E27FC236}">
                <a16:creationId xmlns:a16="http://schemas.microsoft.com/office/drawing/2014/main" id="{C24E6EA5-ABBB-40DE-B6CF-99B6AB2883BB}"/>
              </a:ext>
            </a:extLst>
          </p:cNvPr>
          <p:cNvSpPr>
            <a:spLocks xmlns:a="http://schemas.openxmlformats.org/drawingml/2006/main" noGrp="1"/>
          </p:cNvSpPr>
          <p:nvPr/>
        </p:nvSpPr>
        <p:spPr>
          <a:xfrm xmlns:a="http://schemas.openxmlformats.org/drawingml/2006/main">
            <a:off x="4000500" y="1676400"/>
            <a:ext cx="400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3000" b="1">
                <a:solidFill>
                  <a:srgbClr val="4DE3D1"/>
                </a:solidFill>
                <a:latin typeface="Arial Unicode MS"/>
                <a:ea typeface="Arial Unicode MS"/>
                <a:cs typeface="Arial Unicode MS"/>
              </a:defRPr>
            </a:defPPr>
          </a:lstStyle>
          <a:p xmlns:a="http://schemas.openxmlformats.org/drawingml/2006/main">
            <a:pPr algn="ctr">
              <a:defRPr sz="3000" b="1">
                <a:solidFill>
                  <a:srgbClr val="4DE3D1"/>
                </a:solidFill>
                <a:latin typeface="Arial Unicode MS"/>
                <a:ea typeface="Arial Unicode MS"/>
                <a:cs typeface="Arial Unicode MS"/>
              </a:defRPr>
            </a:pPr>
            <a:r>
              <a:rPr sz="3000" b="1">
                <a:solidFill>
                  <a:srgbClr val="4DE3D1"/>
                </a:solidFill>
                <a:latin typeface="Arial Unicode MS"/>
                <a:ea typeface="Arial Unicode MS"/>
                <a:cs typeface="Arial Unicode MS"/>
              </a:rPr>
              <a:t>100,000,000 ELON</a:t>
            </a:r>
          </a:p>
        </p:txBody>
      </p:sp>
      <p:sp>
        <p:nvSpPr>
          <p:cNvPr id="8" name="">
            <a:extLst xmlns:a="http://schemas.openxmlformats.org/drawingml/2006/main">
              <a:ext uri="{FF2B5EF4-FFF2-40B4-BE49-F238E27FC236}">
                <a16:creationId xmlns:a16="http://schemas.microsoft.com/office/drawing/2014/main" id="{A04575E8-A3BA-4625-9E6B-4C6BB6CB5AE8}"/>
              </a:ext>
            </a:extLst>
          </p:cNvPr>
          <p:cNvSpPr>
            <a:spLocks xmlns:a="http://schemas.openxmlformats.org/drawingml/2006/main" noGrp="1"/>
          </p:cNvSpPr>
          <p:nvPr/>
        </p:nvSpPr>
        <p:spPr>
          <a:xfrm xmlns:a="http://schemas.openxmlformats.org/drawingml/2006/main">
            <a:off x="8858250" y="167640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100" b="1">
                <a:solidFill>
                  <a:srgbClr val="F1B84B"/>
                </a:solidFill>
                <a:latin typeface="Arial Unicode MS"/>
                <a:ea typeface="Arial Unicode MS"/>
                <a:cs typeface="Arial Unicode MS"/>
              </a:defRPr>
            </a:defPPr>
          </a:lstStyle>
          <a:p xmlns:a="http://schemas.openxmlformats.org/drawingml/2006/main">
            <a:pPr algn="ctr">
              <a:defRPr sz="2100" b="1">
                <a:solidFill>
                  <a:srgbClr val="F1B84B"/>
                </a:solidFill>
                <a:latin typeface="Arial Unicode MS"/>
                <a:ea typeface="Arial Unicode MS"/>
                <a:cs typeface="Arial Unicode MS"/>
              </a:defRPr>
            </a:pPr>
            <a:r>
              <a:rPr sz="2100" b="1">
                <a:solidFill>
                  <a:srgbClr val="F1B84B"/>
                </a:solidFill>
                <a:latin typeface="Arial Unicode MS"/>
                <a:ea typeface="Arial Unicode MS"/>
                <a:cs typeface="Arial Unicode MS"/>
              </a:rPr>
              <a:t>FLON 最小单位</a:t>
            </a:r>
          </a:p>
        </p:txBody>
      </p:sp>
      <p:sp>
        <p:nvSpPr>
          <p:cNvPr id="9" name="">
            <a:extLst xmlns:a="http://schemas.openxmlformats.org/drawingml/2006/main">
              <a:ext uri="{FF2B5EF4-FFF2-40B4-BE49-F238E27FC236}">
                <a16:creationId xmlns:a16="http://schemas.microsoft.com/office/drawing/2014/main" id="{D42B85A5-4065-480C-8FF7-F450AE908CFF}"/>
              </a:ext>
            </a:extLst>
          </p:cNvPr>
          <p:cNvSpPr>
            <a:spLocks xmlns:a="http://schemas.openxmlformats.org/drawingml/2006/main" noGrp="1"/>
          </p:cNvSpPr>
          <p:nvPr/>
        </p:nvSpPr>
        <p:spPr>
          <a:xfrm xmlns:a="http://schemas.openxmlformats.org/drawingml/2006/main">
            <a:off x="3143250" y="2000250"/>
            <a:ext cx="762000" cy="3810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91736DE-5A76-4A3E-9FBC-D1002F96ECFF}"/>
              </a:ext>
            </a:extLst>
          </p:cNvPr>
          <p:cNvSpPr>
            <a:spLocks xmlns:a="http://schemas.openxmlformats.org/drawingml/2006/main" noGrp="1"/>
          </p:cNvSpPr>
          <p:nvPr/>
        </p:nvSpPr>
        <p:spPr>
          <a:xfrm xmlns:a="http://schemas.openxmlformats.org/drawingml/2006/main">
            <a:off x="8048625" y="2000250"/>
            <a:ext cx="714375" cy="3810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4DB71EE-20A7-4EC1-99E4-3150AC330C0E}"/>
              </a:ext>
            </a:extLst>
          </p:cNvPr>
          <p:cNvSpPr>
            <a:spLocks xmlns:a="http://schemas.openxmlformats.org/drawingml/2006/main" noGrp="1"/>
          </p:cNvSpPr>
          <p:nvPr/>
        </p:nvSpPr>
        <p:spPr>
          <a:xfrm xmlns:a="http://schemas.openxmlformats.org/drawingml/2006/main">
            <a:off x="666750" y="2762250"/>
            <a:ext cx="1066800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94D03E-7F25-4C8D-B42D-55566401AD0D}"/>
              </a:ext>
            </a:extLst>
          </p:cNvPr>
          <p:cNvSpPr>
            <a:spLocks xmlns:a="http://schemas.openxmlformats.org/drawingml/2006/main" noGrp="1"/>
          </p:cNvSpPr>
          <p:nvPr/>
        </p:nvSpPr>
        <p:spPr>
          <a:xfrm xmlns:a="http://schemas.openxmlformats.org/drawingml/2006/main">
            <a:off x="762000" y="3238500"/>
            <a:ext cx="6762750" cy="857250"/>
          </a:xfrm>
          <a:prstGeom xmlns:a="http://schemas.openxmlformats.org/drawingml/2006/main" prst="roundRect">
            <a:avLst>
              <a:gd name="adj" fmla="val 8889"/>
            </a:avLst>
          </a:prstGeom>
          <a:solidFill xmlns:a="http://schemas.openxmlformats.org/drawingml/2006/main">
            <a:srgbClr val="176B8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084D54C-972E-47AD-B025-49E9D57D0310}"/>
              </a:ext>
            </a:extLst>
          </p:cNvPr>
          <p:cNvSpPr>
            <a:spLocks xmlns:a="http://schemas.openxmlformats.org/drawingml/2006/main" noGrp="1"/>
          </p:cNvSpPr>
          <p:nvPr/>
        </p:nvSpPr>
        <p:spPr>
          <a:xfrm xmlns:a="http://schemas.openxmlformats.org/drawingml/2006/main">
            <a:off x="1000125" y="3362325"/>
            <a:ext cx="628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950" b="1">
                <a:solidFill>
                  <a:srgbClr val="F7FBFF"/>
                </a:solidFill>
                <a:latin typeface="Arial Unicode MS"/>
                <a:ea typeface="Arial Unicode MS"/>
                <a:cs typeface="Arial Unicode MS"/>
              </a:defRPr>
            </a:defPPr>
          </a:lstStyle>
          <a:p xmlns:a="http://schemas.openxmlformats.org/drawingml/2006/main">
            <a:pPr algn="ctr">
              <a:defRPr sz="1950" b="1">
                <a:solidFill>
                  <a:srgbClr val="F7FBFF"/>
                </a:solidFill>
                <a:latin typeface="Arial Unicode MS"/>
                <a:ea typeface="Arial Unicode MS"/>
                <a:cs typeface="Arial Unicode MS"/>
              </a:defRPr>
            </a:pPr>
            <a:r>
              <a:rPr sz="1950" b="1">
                <a:solidFill>
                  <a:srgbClr val="F7FBFF"/>
                </a:solidFill>
                <a:latin typeface="Arial Unicode MS"/>
                <a:ea typeface="Arial Unicode MS"/>
                <a:cs typeface="Arial Unicode MS"/>
              </a:rPr>
              <a:t>每新增 1 ELON，对应 1 个 FLON 最小单位</a:t>
            </a:r>
          </a:p>
        </p:txBody>
      </p:sp>
      <p:sp>
        <p:nvSpPr>
          <p:cNvPr id="14" name="">
            <a:extLst xmlns:a="http://schemas.openxmlformats.org/drawingml/2006/main">
              <a:ext uri="{FF2B5EF4-FFF2-40B4-BE49-F238E27FC236}">
                <a16:creationId xmlns:a16="http://schemas.microsoft.com/office/drawing/2014/main" id="{CF9C2503-18B1-4E7E-BA1B-874433F667F7}"/>
              </a:ext>
            </a:extLst>
          </p:cNvPr>
          <p:cNvSpPr>
            <a:spLocks xmlns:a="http://schemas.openxmlformats.org/drawingml/2006/main" noGrp="1"/>
          </p:cNvSpPr>
          <p:nvPr/>
        </p:nvSpPr>
        <p:spPr>
          <a:xfrm xmlns:a="http://schemas.openxmlformats.org/drawingml/2006/main">
            <a:off x="8001000" y="3238500"/>
            <a:ext cx="3333750" cy="857250"/>
          </a:xfrm>
          <a:prstGeom xmlns:a="http://schemas.openxmlformats.org/drawingml/2006/main" prst="roundRect">
            <a:avLst>
              <a:gd name="adj" fmla="val 8889"/>
            </a:avLst>
          </a:prstGeom>
          <a:solidFill xmlns:a="http://schemas.openxmlformats.org/drawingml/2006/main">
            <a:srgbClr val="4DE3D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74B3033-4941-4E27-B408-FEA7363E2A37}"/>
              </a:ext>
            </a:extLst>
          </p:cNvPr>
          <p:cNvSpPr>
            <a:spLocks xmlns:a="http://schemas.openxmlformats.org/drawingml/2006/main" noGrp="1"/>
          </p:cNvSpPr>
          <p:nvPr/>
        </p:nvSpPr>
        <p:spPr>
          <a:xfrm xmlns:a="http://schemas.openxmlformats.org/drawingml/2006/main">
            <a:off x="8239125" y="336232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950" b="1">
                <a:solidFill>
                  <a:srgbClr val="071525"/>
                </a:solidFill>
                <a:latin typeface="Arial Unicode MS"/>
                <a:ea typeface="Arial Unicode MS"/>
                <a:cs typeface="Arial Unicode MS"/>
              </a:defRPr>
            </a:defPPr>
          </a:lstStyle>
          <a:p xmlns:a="http://schemas.openxmlformats.org/drawingml/2006/main">
            <a:pPr algn="ctr">
              <a:defRPr sz="1950" b="1">
                <a:solidFill>
                  <a:srgbClr val="071525"/>
                </a:solidFill>
                <a:latin typeface="Arial Unicode MS"/>
                <a:ea typeface="Arial Unicode MS"/>
                <a:cs typeface="Arial Unicode MS"/>
              </a:defRPr>
            </a:pPr>
            <a:r>
              <a:rPr sz="1950" b="1">
                <a:solidFill>
                  <a:srgbClr val="071525"/>
                </a:solidFill>
                <a:latin typeface="Arial Unicode MS"/>
                <a:ea typeface="Arial Unicode MS"/>
                <a:cs typeface="Arial Unicode MS"/>
              </a:rPr>
              <a:t>100% 进入 flon.gas</a:t>
            </a:r>
          </a:p>
        </p:txBody>
      </p:sp>
      <p:sp>
        <p:nvSpPr>
          <p:cNvPr id="16" name="">
            <a:extLst xmlns:a="http://schemas.openxmlformats.org/drawingml/2006/main">
              <a:ext uri="{FF2B5EF4-FFF2-40B4-BE49-F238E27FC236}">
                <a16:creationId xmlns:a16="http://schemas.microsoft.com/office/drawing/2014/main" id="{827F26D8-5E0F-48C0-B8EE-7AFB4FE63716}"/>
              </a:ext>
            </a:extLst>
          </p:cNvPr>
          <p:cNvSpPr>
            <a:spLocks xmlns:a="http://schemas.openxmlformats.org/drawingml/2006/main" noGrp="1"/>
          </p:cNvSpPr>
          <p:nvPr/>
        </p:nvSpPr>
        <p:spPr>
          <a:xfrm xmlns:a="http://schemas.openxmlformats.org/drawingml/2006/main">
            <a:off x="762000" y="45720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75" b="1">
                <a:solidFill>
                  <a:srgbClr val="F7FBFF"/>
                </a:solidFill>
                <a:latin typeface="Arial Unicode MS"/>
                <a:ea typeface="Arial Unicode MS"/>
                <a:cs typeface="Arial Unicode MS"/>
              </a:defRPr>
            </a:defPPr>
          </a:lstStyle>
          <a:p xmlns:a="http://schemas.openxmlformats.org/drawingml/2006/main">
            <a:pPr algn="l">
              <a:defRPr sz="1575" b="1">
                <a:solidFill>
                  <a:srgbClr val="F7FBFF"/>
                </a:solidFill>
                <a:latin typeface="Arial Unicode MS"/>
                <a:ea typeface="Arial Unicode MS"/>
                <a:cs typeface="Arial Unicode MS"/>
              </a:defRPr>
            </a:pPr>
            <a:r>
              <a:rPr sz="1575" b="1">
                <a:solidFill>
                  <a:srgbClr val="F7FBFF"/>
                </a:solidFill>
                <a:latin typeface="Arial Unicode MS"/>
                <a:ea typeface="Arial Unicode MS"/>
                <a:cs typeface="Arial Unicode MS"/>
              </a:rPr>
              <a:t>用户选择</a:t>
            </a:r>
          </a:p>
        </p:txBody>
      </p:sp>
      <p:sp>
        <p:nvSpPr>
          <p:cNvPr id="17" name="">
            <a:extLst xmlns:a="http://schemas.openxmlformats.org/drawingml/2006/main">
              <a:ext uri="{FF2B5EF4-FFF2-40B4-BE49-F238E27FC236}">
                <a16:creationId xmlns:a16="http://schemas.microsoft.com/office/drawing/2014/main" id="{AB31542E-C4B5-43E8-AB0E-D1882B6F4309}"/>
              </a:ext>
            </a:extLst>
          </p:cNvPr>
          <p:cNvSpPr>
            <a:spLocks xmlns:a="http://schemas.openxmlformats.org/drawingml/2006/main" noGrp="1"/>
          </p:cNvSpPr>
          <p:nvPr/>
        </p:nvSpPr>
        <p:spPr>
          <a:xfrm xmlns:a="http://schemas.openxmlformats.org/drawingml/2006/main">
            <a:off x="2667000" y="4552950"/>
            <a:ext cx="1905000" cy="342900"/>
          </a:xfrm>
          <a:prstGeom xmlns:a="http://schemas.openxmlformats.org/drawingml/2006/main" prst="roundRect">
            <a:avLst>
              <a:gd name="adj" fmla="val 22222"/>
            </a:avLst>
          </a:prstGeom>
          <a:solidFill xmlns:a="http://schemas.openxmlformats.org/drawingml/2006/main">
            <a:srgbClr val="F1B84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EDCA80E-3B11-4B67-B9AD-728DD78E4E09}"/>
              </a:ext>
            </a:extLst>
          </p:cNvPr>
          <p:cNvSpPr>
            <a:spLocks xmlns:a="http://schemas.openxmlformats.org/drawingml/2006/main" noGrp="1"/>
          </p:cNvSpPr>
          <p:nvPr/>
        </p:nvSpPr>
        <p:spPr>
          <a:xfrm xmlns:a="http://schemas.openxmlformats.org/drawingml/2006/main">
            <a:off x="2743200" y="45720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071525"/>
                </a:solidFill>
                <a:latin typeface="Arial Unicode MS"/>
                <a:ea typeface="Arial Unicode MS"/>
                <a:cs typeface="Arial Unicode MS"/>
              </a:defRPr>
            </a:defPPr>
          </a:lstStyle>
          <a:p xmlns:a="http://schemas.openxmlformats.org/drawingml/2006/main">
            <a:pPr algn="ctr">
              <a:defRPr sz="1125" b="1">
                <a:solidFill>
                  <a:srgbClr val="071525"/>
                </a:solidFill>
                <a:latin typeface="Arial Unicode MS"/>
                <a:ea typeface="Arial Unicode MS"/>
                <a:cs typeface="Arial Unicode MS"/>
              </a:defRPr>
            </a:pPr>
            <a:r>
              <a:rPr sz="1125" b="1">
                <a:solidFill>
                  <a:srgbClr val="071525"/>
                </a:solidFill>
                <a:latin typeface="Arial Unicode MS"/>
                <a:ea typeface="Arial Unicode MS"/>
                <a:cs typeface="Arial Unicode MS"/>
              </a:rPr>
              <a:t>消费为 GAS</a:t>
            </a:r>
          </a:p>
        </p:txBody>
      </p:sp>
      <p:sp>
        <p:nvSpPr>
          <p:cNvPr id="19" name="">
            <a:extLst xmlns:a="http://schemas.openxmlformats.org/drawingml/2006/main">
              <a:ext uri="{FF2B5EF4-FFF2-40B4-BE49-F238E27FC236}">
                <a16:creationId xmlns:a16="http://schemas.microsoft.com/office/drawing/2014/main" id="{EF468A24-CE7E-41A2-9A08-E0D20251357A}"/>
              </a:ext>
            </a:extLst>
          </p:cNvPr>
          <p:cNvSpPr>
            <a:spLocks xmlns:a="http://schemas.openxmlformats.org/drawingml/2006/main" noGrp="1"/>
          </p:cNvSpPr>
          <p:nvPr/>
        </p:nvSpPr>
        <p:spPr>
          <a:xfrm xmlns:a="http://schemas.openxmlformats.org/drawingml/2006/main">
            <a:off x="4953000" y="4552950"/>
            <a:ext cx="2095500" cy="342900"/>
          </a:xfrm>
          <a:prstGeom xmlns:a="http://schemas.openxmlformats.org/drawingml/2006/main" prst="roundRect">
            <a:avLst>
              <a:gd name="adj" fmla="val 22222"/>
            </a:avLst>
          </a:prstGeom>
          <a:solidFill xmlns:a="http://schemas.openxmlformats.org/drawingml/2006/main">
            <a:srgbClr val="4DE3D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8202271-E473-4EE2-802C-521B728D5235}"/>
              </a:ext>
            </a:extLst>
          </p:cNvPr>
          <p:cNvSpPr>
            <a:spLocks xmlns:a="http://schemas.openxmlformats.org/drawingml/2006/main" noGrp="1"/>
          </p:cNvSpPr>
          <p:nvPr/>
        </p:nvSpPr>
        <p:spPr>
          <a:xfrm xmlns:a="http://schemas.openxmlformats.org/drawingml/2006/main">
            <a:off x="5029200" y="457200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071525"/>
                </a:solidFill>
                <a:latin typeface="Arial Unicode MS"/>
                <a:ea typeface="Arial Unicode MS"/>
                <a:cs typeface="Arial Unicode MS"/>
              </a:defRPr>
            </a:defPPr>
          </a:lstStyle>
          <a:p xmlns:a="http://schemas.openxmlformats.org/drawingml/2006/main">
            <a:pPr algn="ctr">
              <a:defRPr sz="1125" b="1">
                <a:solidFill>
                  <a:srgbClr val="071525"/>
                </a:solidFill>
                <a:latin typeface="Arial Unicode MS"/>
                <a:ea typeface="Arial Unicode MS"/>
                <a:cs typeface="Arial Unicode MS"/>
              </a:defRPr>
            </a:pPr>
            <a:r>
              <a:rPr sz="1125" b="1">
                <a:solidFill>
                  <a:srgbClr val="071525"/>
                </a:solidFill>
                <a:latin typeface="Arial Unicode MS"/>
                <a:ea typeface="Arial Unicode MS"/>
                <a:cs typeface="Arial Unicode MS"/>
              </a:rPr>
              <a:t>兑换为 FLON</a:t>
            </a:r>
          </a:p>
        </p:txBody>
      </p:sp>
      <p:sp>
        <p:nvSpPr>
          <p:cNvPr id="21" name="">
            <a:extLst xmlns:a="http://schemas.openxmlformats.org/drawingml/2006/main">
              <a:ext uri="{FF2B5EF4-FFF2-40B4-BE49-F238E27FC236}">
                <a16:creationId xmlns:a16="http://schemas.microsoft.com/office/drawing/2014/main" id="{52761CFF-510A-4B87-8EB0-9E7304D80699}"/>
              </a:ext>
            </a:extLst>
          </p:cNvPr>
          <p:cNvSpPr>
            <a:spLocks xmlns:a="http://schemas.openxmlformats.org/drawingml/2006/main" noGrp="1"/>
          </p:cNvSpPr>
          <p:nvPr/>
        </p:nvSpPr>
        <p:spPr>
          <a:xfrm xmlns:a="http://schemas.openxmlformats.org/drawingml/2006/main">
            <a:off x="762000" y="5191125"/>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兑换必须同时扣除 ELON 负债，并从 flon.gas 转出等额 FLON</a:t>
            </a:r>
          </a:p>
        </p:txBody>
      </p:sp>
      <p:sp>
        <p:nvSpPr>
          <p:cNvPr id="22" name="">
            <a:extLst xmlns:a="http://schemas.openxmlformats.org/drawingml/2006/main">
              <a:ext uri="{FF2B5EF4-FFF2-40B4-BE49-F238E27FC236}">
                <a16:creationId xmlns:a16="http://schemas.microsoft.com/office/drawing/2014/main" id="{54EC6D7A-A949-4C4C-AE60-80CE56CAEFCC}"/>
              </a:ext>
            </a:extLst>
          </p:cNvPr>
          <p:cNvSpPr>
            <a:spLocks xmlns:a="http://schemas.openxmlformats.org/drawingml/2006/main" noGrp="1"/>
          </p:cNvSpPr>
          <p:nvPr/>
        </p:nvSpPr>
        <p:spPr>
          <a:xfrm xmlns:a="http://schemas.openxmlformats.org/drawingml/2006/main">
            <a:off x="8096250" y="4762500"/>
            <a:ext cx="3238500" cy="1047750"/>
          </a:xfrm>
          <a:prstGeom xmlns:a="http://schemas.openxmlformats.org/drawingml/2006/main" prst="roundRect">
            <a:avLst>
              <a:gd name="adj" fmla="val 7273"/>
            </a:avLst>
          </a:prstGeom>
          <a:solidFill xmlns:a="http://schemas.openxmlformats.org/drawingml/2006/main">
            <a:srgbClr val="0B2035"/>
          </a:solidFill>
          <a:ln xmlns:a="http://schemas.openxmlformats.org/drawingml/2006/main" w="9525">
            <a:solidFill>
              <a:srgbClr val="FF7A6E"/>
            </a:solidFill>
            <a:prstDash val="solid"/>
          </a:ln>
        </p:spPr>
      </p:sp>
      <p:sp>
        <p:nvSpPr>
          <p:cNvPr id="23" name="">
            <a:extLst xmlns:a="http://schemas.openxmlformats.org/drawingml/2006/main">
              <a:ext uri="{FF2B5EF4-FFF2-40B4-BE49-F238E27FC236}">
                <a16:creationId xmlns:a16="http://schemas.microsoft.com/office/drawing/2014/main" id="{F4E692A9-92F0-49EC-B3A1-14C708E1BDE4}"/>
              </a:ext>
            </a:extLst>
          </p:cNvPr>
          <p:cNvSpPr>
            <a:spLocks xmlns:a="http://schemas.openxmlformats.org/drawingml/2006/main" noGrp="1"/>
          </p:cNvSpPr>
          <p:nvPr/>
        </p:nvSpPr>
        <p:spPr>
          <a:xfrm xmlns:a="http://schemas.openxmlformats.org/drawingml/2006/main">
            <a:off x="8286750" y="495300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F7A6E"/>
                </a:solidFill>
                <a:latin typeface="Arial Unicode MS"/>
                <a:ea typeface="Arial Unicode MS"/>
                <a:cs typeface="Arial Unicode MS"/>
              </a:defRPr>
            </a:defPPr>
          </a:lstStyle>
          <a:p xmlns:a="http://schemas.openxmlformats.org/drawingml/2006/main">
            <a:pPr algn="ctr">
              <a:defRPr sz="1575" b="1">
                <a:solidFill>
                  <a:srgbClr val="FF7A6E"/>
                </a:solidFill>
                <a:latin typeface="Arial Unicode MS"/>
                <a:ea typeface="Arial Unicode MS"/>
                <a:cs typeface="Arial Unicode MS"/>
              </a:defRPr>
            </a:pPr>
            <a:r>
              <a:rPr sz="1575" b="1">
                <a:solidFill>
                  <a:srgbClr val="FF7A6E"/>
                </a:solidFill>
                <a:latin typeface="Arial Unicode MS"/>
                <a:ea typeface="Arial Unicode MS"/>
                <a:cs typeface="Arial Unicode MS"/>
              </a:rPr>
              <a:t>储备 ≥ 未兑换 ELON 负债</a:t>
            </a:r>
          </a:p>
        </p:txBody>
      </p:sp>
    </p:spTree>
    <p:extLst>
      <p:ext uri="{BB962C8B-B14F-4D97-AF65-F5344CB8AC3E}">
        <p14:creationId xmlns:p14="http://schemas.microsoft.com/office/powerpoint/2010/main" val="1262370398"/>
      </p:ext>
    </p:extLst>
  </p:cSld>
</p:sld>
</file>

<file path=ppt/slides/slide12.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215FCD7-3178-4E3D-998F-B998C6ECE5E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7DCFECB-52EA-4BC2-8D01-D277B956E97E}"/>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11 奖励分配</a:t>
            </a:r>
          </a:p>
        </p:txBody>
      </p:sp>
      <p:sp>
        <p:nvSpPr>
          <p:cNvPr id="3" name="">
            <a:extLst xmlns:a="http://schemas.openxmlformats.org/drawingml/2006/main">
              <a:ext uri="{FF2B5EF4-FFF2-40B4-BE49-F238E27FC236}">
                <a16:creationId xmlns:a16="http://schemas.microsoft.com/office/drawing/2014/main" id="{862B29BD-2366-4934-998B-042F5A4A3BE8}"/>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按目标席位归一化释放奖励</a:t>
            </a:r>
          </a:p>
        </p:txBody>
      </p:sp>
      <p:sp>
        <p:nvSpPr>
          <p:cNvPr id="4" name="">
            <a:extLst xmlns:a="http://schemas.openxmlformats.org/drawingml/2006/main">
              <a:ext uri="{FF2B5EF4-FFF2-40B4-BE49-F238E27FC236}">
                <a16:creationId xmlns:a16="http://schemas.microsoft.com/office/drawing/2014/main" id="{20A0DFC8-FF05-4CEC-97F2-E0682B2BF548}"/>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C92DB85-20C9-4156-9DA7-26F131A02144}"/>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12</a:t>
            </a:r>
          </a:p>
        </p:txBody>
      </p:sp>
      <p:sp>
        <p:nvSpPr>
          <p:cNvPr id="6" name="">
            <a:extLst xmlns:a="http://schemas.openxmlformats.org/drawingml/2006/main">
              <a:ext uri="{FF2B5EF4-FFF2-40B4-BE49-F238E27FC236}">
                <a16:creationId xmlns:a16="http://schemas.microsoft.com/office/drawing/2014/main" id="{5D48C89E-01BD-47A3-B7C9-60D5FC8CC417}"/>
              </a:ext>
            </a:extLst>
          </p:cNvPr>
          <p:cNvSpPr>
            <a:spLocks xmlns:a="http://schemas.openxmlformats.org/drawingml/2006/main" noGrp="1"/>
          </p:cNvSpPr>
          <p:nvPr/>
        </p:nvSpPr>
        <p:spPr>
          <a:xfrm xmlns:a="http://schemas.openxmlformats.org/drawingml/2006/main">
            <a:off x="666750" y="161925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4800" b="1">
                <a:solidFill>
                  <a:srgbClr val="4DE3D1"/>
                </a:solidFill>
                <a:latin typeface="Arial Unicode MS"/>
                <a:ea typeface="Arial Unicode MS"/>
                <a:cs typeface="Arial Unicode MS"/>
              </a:defRPr>
            </a:defPPr>
          </a:lstStyle>
          <a:p xmlns:a="http://schemas.openxmlformats.org/drawingml/2006/main">
            <a:pPr algn="ctr">
              <a:defRPr sz="4800" b="1">
                <a:solidFill>
                  <a:srgbClr val="4DE3D1"/>
                </a:solidFill>
                <a:latin typeface="Arial Unicode MS"/>
                <a:ea typeface="Arial Unicode MS"/>
                <a:cs typeface="Arial Unicode MS"/>
              </a:defRPr>
            </a:pPr>
            <a:r>
              <a:rPr sz="4800" b="1">
                <a:solidFill>
                  <a:srgbClr val="4DE3D1"/>
                </a:solidFill>
                <a:latin typeface="Arial Unicode MS"/>
                <a:ea typeface="Arial Unicode MS"/>
                <a:cs typeface="Arial Unicode MS"/>
              </a:rPr>
              <a:t>10%</a:t>
            </a:r>
          </a:p>
        </p:txBody>
      </p:sp>
      <p:sp>
        <p:nvSpPr>
          <p:cNvPr id="7" name="">
            <a:extLst xmlns:a="http://schemas.openxmlformats.org/drawingml/2006/main">
              <a:ext uri="{FF2B5EF4-FFF2-40B4-BE49-F238E27FC236}">
                <a16:creationId xmlns:a16="http://schemas.microsoft.com/office/drawing/2014/main" id="{0B3B11FE-70F9-46AF-B011-64A995916154}"/>
              </a:ext>
            </a:extLst>
          </p:cNvPr>
          <p:cNvSpPr>
            <a:spLocks xmlns:a="http://schemas.openxmlformats.org/drawingml/2006/main" noGrp="1"/>
          </p:cNvSpPr>
          <p:nvPr/>
        </p:nvSpPr>
        <p:spPr>
          <a:xfrm xmlns:a="http://schemas.openxmlformats.org/drawingml/2006/main">
            <a:off x="666750" y="25431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425" b="0">
                <a:solidFill>
                  <a:srgbClr val="D7E7F2"/>
                </a:solidFill>
                <a:latin typeface="Arial Unicode MS"/>
                <a:ea typeface="Arial Unicode MS"/>
                <a:cs typeface="Arial Unicode MS"/>
              </a:defRPr>
            </a:defPPr>
          </a:lstStyle>
          <a:p xmlns:a="http://schemas.openxmlformats.org/drawingml/2006/main">
            <a:pPr algn="ctr">
              <a:defRPr sz="1425" b="0">
                <a:solidFill>
                  <a:srgbClr val="D7E7F2"/>
                </a:solidFill>
                <a:latin typeface="Arial Unicode MS"/>
                <a:ea typeface="Arial Unicode MS"/>
                <a:cs typeface="Arial Unicode MS"/>
              </a:defRPr>
            </a:pPr>
            <a:r>
              <a:rPr sz="1425" b="0">
                <a:solidFill>
                  <a:srgbClr val="D7E7F2"/>
                </a:solidFill>
                <a:latin typeface="Arial Unicode MS"/>
                <a:ea typeface="Arial Unicode MS"/>
                <a:cs typeface="Arial Unicode MS"/>
              </a:rPr>
              <a:t>节点奖励上限（21 + 30）</a:t>
            </a:r>
          </a:p>
        </p:txBody>
      </p:sp>
      <p:sp>
        <p:nvSpPr>
          <p:cNvPr id="8" name="">
            <a:extLst xmlns:a="http://schemas.openxmlformats.org/drawingml/2006/main">
              <a:ext uri="{FF2B5EF4-FFF2-40B4-BE49-F238E27FC236}">
                <a16:creationId xmlns:a16="http://schemas.microsoft.com/office/drawing/2014/main" id="{437AB5DB-A269-4E73-BB4E-EF8F42C2110C}"/>
              </a:ext>
            </a:extLst>
          </p:cNvPr>
          <p:cNvSpPr>
            <a:spLocks xmlns:a="http://schemas.openxmlformats.org/drawingml/2006/main" noGrp="1"/>
          </p:cNvSpPr>
          <p:nvPr/>
        </p:nvSpPr>
        <p:spPr>
          <a:xfrm xmlns:a="http://schemas.openxmlformats.org/drawingml/2006/main">
            <a:off x="666750" y="352425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4800" b="1">
                <a:solidFill>
                  <a:srgbClr val="F1B84B"/>
                </a:solidFill>
                <a:latin typeface="Arial Unicode MS"/>
                <a:ea typeface="Arial Unicode MS"/>
                <a:cs typeface="Arial Unicode MS"/>
              </a:defRPr>
            </a:defPPr>
          </a:lstStyle>
          <a:p xmlns:a="http://schemas.openxmlformats.org/drawingml/2006/main">
            <a:pPr algn="ctr">
              <a:defRPr sz="4800" b="1">
                <a:solidFill>
                  <a:srgbClr val="F1B84B"/>
                </a:solidFill>
                <a:latin typeface="Arial Unicode MS"/>
                <a:ea typeface="Arial Unicode MS"/>
                <a:cs typeface="Arial Unicode MS"/>
              </a:defRPr>
            </a:pPr>
            <a:r>
              <a:rPr sz="4800" b="1">
                <a:solidFill>
                  <a:srgbClr val="F1B84B"/>
                </a:solidFill>
                <a:latin typeface="Arial Unicode MS"/>
                <a:ea typeface="Arial Unicode MS"/>
                <a:cs typeface="Arial Unicode MS"/>
              </a:rPr>
              <a:t>90%</a:t>
            </a:r>
          </a:p>
        </p:txBody>
      </p:sp>
      <p:sp>
        <p:nvSpPr>
          <p:cNvPr id="9" name="">
            <a:extLst xmlns:a="http://schemas.openxmlformats.org/drawingml/2006/main">
              <a:ext uri="{FF2B5EF4-FFF2-40B4-BE49-F238E27FC236}">
                <a16:creationId xmlns:a16="http://schemas.microsoft.com/office/drawing/2014/main" id="{11959AEF-BA29-472C-A249-AFB7C671788B}"/>
              </a:ext>
            </a:extLst>
          </p:cNvPr>
          <p:cNvSpPr>
            <a:spLocks xmlns:a="http://schemas.openxmlformats.org/drawingml/2006/main" noGrp="1"/>
          </p:cNvSpPr>
          <p:nvPr/>
        </p:nvSpPr>
        <p:spPr>
          <a:xfrm xmlns:a="http://schemas.openxmlformats.org/drawingml/2006/main">
            <a:off x="666750" y="44481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425" b="0">
                <a:solidFill>
                  <a:srgbClr val="D7E7F2"/>
                </a:solidFill>
                <a:latin typeface="Arial Unicode MS"/>
                <a:ea typeface="Arial Unicode MS"/>
                <a:cs typeface="Arial Unicode MS"/>
              </a:defRPr>
            </a:defPPr>
          </a:lstStyle>
          <a:p xmlns:a="http://schemas.openxmlformats.org/drawingml/2006/main">
            <a:pPr algn="ctr">
              <a:defRPr sz="1425" b="0">
                <a:solidFill>
                  <a:srgbClr val="D7E7F2"/>
                </a:solidFill>
                <a:latin typeface="Arial Unicode MS"/>
                <a:ea typeface="Arial Unicode MS"/>
                <a:cs typeface="Arial Unicode MS"/>
              </a:defRPr>
            </a:pPr>
            <a:r>
              <a:rPr sz="1425" b="0">
                <a:solidFill>
                  <a:srgbClr val="D7E7F2"/>
                </a:solidFill>
                <a:latin typeface="Arial Unicode MS"/>
                <a:ea typeface="Arial Unicode MS"/>
                <a:cs typeface="Arial Unicode MS"/>
              </a:rPr>
              <a:t>DAO 基础锁仓</a:t>
            </a:r>
          </a:p>
        </p:txBody>
      </p:sp>
      <p:sp>
        <p:nvSpPr>
          <p:cNvPr id="10" name="">
            <a:extLst xmlns:a="http://schemas.openxmlformats.org/drawingml/2006/main">
              <a:ext uri="{FF2B5EF4-FFF2-40B4-BE49-F238E27FC236}">
                <a16:creationId xmlns:a16="http://schemas.microsoft.com/office/drawing/2014/main" id="{8090603C-41F1-486A-821E-FFB8CA76DADC}"/>
              </a:ext>
            </a:extLst>
          </p:cNvPr>
          <p:cNvSpPr>
            <a:spLocks xmlns:a="http://schemas.openxmlformats.org/drawingml/2006/main" noGrp="1"/>
          </p:cNvSpPr>
          <p:nvPr/>
        </p:nvSpPr>
        <p:spPr>
          <a:xfrm xmlns:a="http://schemas.openxmlformats.org/drawingml/2006/main">
            <a:off x="3429000" y="1666875"/>
            <a:ext cx="7810500" cy="514350"/>
          </a:xfrm>
          <a:prstGeom xmlns:a="http://schemas.openxmlformats.org/drawingml/2006/main" prst="roundRect">
            <a:avLst>
              <a:gd name="adj" fmla="val 14815"/>
            </a:avLst>
          </a:prstGeom>
          <a:solidFill xmlns:a="http://schemas.openxmlformats.org/drawingml/2006/main">
            <a:srgbClr val="0B203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121C228-06E1-4A19-BA3B-0CF2918CB56B}"/>
              </a:ext>
            </a:extLst>
          </p:cNvPr>
          <p:cNvSpPr>
            <a:spLocks xmlns:a="http://schemas.openxmlformats.org/drawingml/2006/main" noGrp="1"/>
          </p:cNvSpPr>
          <p:nvPr/>
        </p:nvSpPr>
        <p:spPr>
          <a:xfrm xmlns:a="http://schemas.openxmlformats.org/drawingml/2006/main">
            <a:off x="3429000" y="1666875"/>
            <a:ext cx="1562100" cy="514350"/>
          </a:xfrm>
          <a:prstGeom xmlns:a="http://schemas.openxmlformats.org/drawingml/2006/main" prst="roundRect">
            <a:avLst>
              <a:gd name="adj" fmla="val 14815"/>
            </a:avLst>
          </a:prstGeom>
          <a:solidFill xmlns:a="http://schemas.openxmlformats.org/drawingml/2006/main">
            <a:srgbClr val="4DE3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2454DB0-2042-4078-82B6-E64F0F910CB8}"/>
              </a:ext>
            </a:extLst>
          </p:cNvPr>
          <p:cNvSpPr>
            <a:spLocks xmlns:a="http://schemas.openxmlformats.org/drawingml/2006/main" noGrp="1"/>
          </p:cNvSpPr>
          <p:nvPr/>
        </p:nvSpPr>
        <p:spPr>
          <a:xfrm xmlns:a="http://schemas.openxmlformats.org/drawingml/2006/main">
            <a:off x="4991100" y="1666875"/>
            <a:ext cx="2343150" cy="51435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F74184-CF0B-4A8E-B00F-7DE7EEB5BA8A}"/>
              </a:ext>
            </a:extLst>
          </p:cNvPr>
          <p:cNvSpPr>
            <a:spLocks xmlns:a="http://schemas.openxmlformats.org/drawingml/2006/main" noGrp="1"/>
          </p:cNvSpPr>
          <p:nvPr/>
        </p:nvSpPr>
        <p:spPr>
          <a:xfrm xmlns:a="http://schemas.openxmlformats.org/drawingml/2006/main">
            <a:off x="7334250" y="1666875"/>
            <a:ext cx="3124200" cy="514350"/>
          </a:xfrm>
          <a:prstGeom xmlns:a="http://schemas.openxmlformats.org/drawingml/2006/main" prst="rect">
            <a:avLst/>
          </a:prstGeom>
          <a:solidFill xmlns:a="http://schemas.openxmlformats.org/drawingml/2006/main">
            <a:srgbClr val="9FF3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09D287-C74A-4E49-A2B1-659DE30BEA20}"/>
              </a:ext>
            </a:extLst>
          </p:cNvPr>
          <p:cNvSpPr>
            <a:spLocks xmlns:a="http://schemas.openxmlformats.org/drawingml/2006/main" noGrp="1"/>
          </p:cNvSpPr>
          <p:nvPr/>
        </p:nvSpPr>
        <p:spPr>
          <a:xfrm xmlns:a="http://schemas.openxmlformats.org/drawingml/2006/main">
            <a:off x="10458450" y="1666875"/>
            <a:ext cx="781050" cy="514350"/>
          </a:xfrm>
          <a:prstGeom xmlns:a="http://schemas.openxmlformats.org/drawingml/2006/main" prst="roundRect">
            <a:avLst>
              <a:gd name="adj" fmla="val 14815"/>
            </a:avLst>
          </a:prstGeom>
          <a:solidFill xmlns:a="http://schemas.openxmlformats.org/drawingml/2006/main">
            <a:srgbClr val="F1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4BF2DF0-C391-4B17-BC7B-6E0967E571C6}"/>
              </a:ext>
            </a:extLst>
          </p:cNvPr>
          <p:cNvSpPr>
            <a:spLocks xmlns:a="http://schemas.openxmlformats.org/drawingml/2006/main" noGrp="1"/>
          </p:cNvSpPr>
          <p:nvPr/>
        </p:nvSpPr>
        <p:spPr>
          <a:xfrm xmlns:a="http://schemas.openxmlformats.org/drawingml/2006/main">
            <a:off x="3524250" y="2667000"/>
            <a:ext cx="114300" cy="457200"/>
          </a:xfrm>
          <a:prstGeom xmlns:a="http://schemas.openxmlformats.org/drawingml/2006/main" prst="roundRect">
            <a:avLst>
              <a:gd name="adj" fmla="val 50000"/>
            </a:avLst>
          </a:prstGeom>
          <a:solidFill xmlns:a="http://schemas.openxmlformats.org/drawingml/2006/main">
            <a:srgbClr val="4DE3D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1BF92B6-92C9-40D1-941E-B7F92C03DD72}"/>
              </a:ext>
            </a:extLst>
          </p:cNvPr>
          <p:cNvSpPr>
            <a:spLocks xmlns:a="http://schemas.openxmlformats.org/drawingml/2006/main" noGrp="1"/>
          </p:cNvSpPr>
          <p:nvPr/>
        </p:nvSpPr>
        <p:spPr>
          <a:xfrm xmlns:a="http://schemas.openxmlformats.org/drawingml/2006/main">
            <a:off x="3857625" y="26670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00" b="1">
                <a:solidFill>
                  <a:srgbClr val="4DE3D1"/>
                </a:solidFill>
                <a:latin typeface="Arial Unicode MS"/>
                <a:ea typeface="Arial Unicode MS"/>
                <a:cs typeface="Arial Unicode MS"/>
              </a:defRPr>
            </a:defPPr>
          </a:lstStyle>
          <a:p xmlns:a="http://schemas.openxmlformats.org/drawingml/2006/main">
            <a:pPr algn="l">
              <a:defRPr sz="1800" b="1">
                <a:solidFill>
                  <a:srgbClr val="4DE3D1"/>
                </a:solidFill>
                <a:latin typeface="Arial Unicode MS"/>
                <a:ea typeface="Arial Unicode MS"/>
                <a:cs typeface="Arial Unicode MS"/>
              </a:defRPr>
            </a:pPr>
            <a:r>
              <a:rPr sz="1800" b="1">
                <a:solidFill>
                  <a:srgbClr val="4DE3D1"/>
                </a:solidFill>
                <a:latin typeface="Arial Unicode MS"/>
                <a:ea typeface="Arial Unicode MS"/>
                <a:cs typeface="Arial Unicode MS"/>
              </a:rPr>
              <a:t>2%</a:t>
            </a:r>
          </a:p>
        </p:txBody>
      </p:sp>
      <p:sp>
        <p:nvSpPr>
          <p:cNvPr id="17" name="">
            <a:extLst xmlns:a="http://schemas.openxmlformats.org/drawingml/2006/main">
              <a:ext uri="{FF2B5EF4-FFF2-40B4-BE49-F238E27FC236}">
                <a16:creationId xmlns:a16="http://schemas.microsoft.com/office/drawing/2014/main" id="{B399752E-B15A-4A5A-991B-3128746C8B50}"/>
              </a:ext>
            </a:extLst>
          </p:cNvPr>
          <p:cNvSpPr>
            <a:spLocks xmlns:a="http://schemas.openxmlformats.org/drawingml/2006/main" noGrp="1"/>
          </p:cNvSpPr>
          <p:nvPr/>
        </p:nvSpPr>
        <p:spPr>
          <a:xfrm xmlns:a="http://schemas.openxmlformats.org/drawingml/2006/main">
            <a:off x="4953000" y="26670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D7E7F2"/>
                </a:solidFill>
                <a:latin typeface="Arial Unicode MS"/>
                <a:ea typeface="Arial Unicode MS"/>
                <a:cs typeface="Arial Unicode MS"/>
              </a:defRPr>
            </a:defPPr>
          </a:lstStyle>
          <a:p xmlns:a="http://schemas.openxmlformats.org/drawingml/2006/main">
            <a:pPr algn="l">
              <a:defRPr sz="1500" b="0">
                <a:solidFill>
                  <a:srgbClr val="D7E7F2"/>
                </a:solidFill>
                <a:latin typeface="Arial Unicode MS"/>
                <a:ea typeface="Arial Unicode MS"/>
                <a:cs typeface="Arial Unicode MS"/>
              </a:defRPr>
            </a:pPr>
            <a:r>
              <a:rPr sz="1500" b="0">
                <a:solidFill>
                  <a:srgbClr val="D7E7F2"/>
                </a:solidFill>
                <a:latin typeface="Arial Unicode MS"/>
                <a:ea typeface="Arial Unicode MS"/>
                <a:cs typeface="Arial Unicode MS"/>
              </a:rPr>
              <a:t>Active BP 基础服务</a:t>
            </a:r>
          </a:p>
        </p:txBody>
      </p:sp>
      <p:sp>
        <p:nvSpPr>
          <p:cNvPr id="18" name="">
            <a:extLst xmlns:a="http://schemas.openxmlformats.org/drawingml/2006/main">
              <a:ext uri="{FF2B5EF4-FFF2-40B4-BE49-F238E27FC236}">
                <a16:creationId xmlns:a16="http://schemas.microsoft.com/office/drawing/2014/main" id="{EE0E88F4-D203-4BBC-919D-8073F88B23B2}"/>
              </a:ext>
            </a:extLst>
          </p:cNvPr>
          <p:cNvSpPr>
            <a:spLocks xmlns:a="http://schemas.openxmlformats.org/drawingml/2006/main" noGrp="1"/>
          </p:cNvSpPr>
          <p:nvPr/>
        </p:nvSpPr>
        <p:spPr>
          <a:xfrm xmlns:a="http://schemas.openxmlformats.org/drawingml/2006/main">
            <a:off x="3524250" y="3352800"/>
            <a:ext cx="114300" cy="457200"/>
          </a:xfrm>
          <a:prstGeom xmlns:a="http://schemas.openxmlformats.org/drawingml/2006/main" prst="roundRect">
            <a:avLst>
              <a:gd name="adj" fmla="val 50000"/>
            </a:avLst>
          </a:prstGeom>
          <a:solidFill xmlns:a="http://schemas.openxmlformats.org/drawingml/2006/main">
            <a:srgbClr val="176B8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97B33DB-0773-4831-A4B1-699D2DA974B4}"/>
              </a:ext>
            </a:extLst>
          </p:cNvPr>
          <p:cNvSpPr>
            <a:spLocks xmlns:a="http://schemas.openxmlformats.org/drawingml/2006/main" noGrp="1"/>
          </p:cNvSpPr>
          <p:nvPr/>
        </p:nvSpPr>
        <p:spPr>
          <a:xfrm xmlns:a="http://schemas.openxmlformats.org/drawingml/2006/main">
            <a:off x="3857625" y="33528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00" b="1">
                <a:solidFill>
                  <a:srgbClr val="176B87"/>
                </a:solidFill>
                <a:latin typeface="Arial Unicode MS"/>
                <a:ea typeface="Arial Unicode MS"/>
                <a:cs typeface="Arial Unicode MS"/>
              </a:defRPr>
            </a:defPPr>
          </a:lstStyle>
          <a:p xmlns:a="http://schemas.openxmlformats.org/drawingml/2006/main">
            <a:pPr algn="l">
              <a:defRPr sz="1800" b="1">
                <a:solidFill>
                  <a:srgbClr val="176B87"/>
                </a:solidFill>
                <a:latin typeface="Arial Unicode MS"/>
                <a:ea typeface="Arial Unicode MS"/>
                <a:cs typeface="Arial Unicode MS"/>
              </a:defRPr>
            </a:pPr>
            <a:r>
              <a:rPr sz="1800" b="1">
                <a:solidFill>
                  <a:srgbClr val="176B87"/>
                </a:solidFill>
                <a:latin typeface="Arial Unicode MS"/>
                <a:ea typeface="Arial Unicode MS"/>
                <a:cs typeface="Arial Unicode MS"/>
              </a:rPr>
              <a:t>3%</a:t>
            </a:r>
          </a:p>
        </p:txBody>
      </p:sp>
      <p:sp>
        <p:nvSpPr>
          <p:cNvPr id="20" name="">
            <a:extLst xmlns:a="http://schemas.openxmlformats.org/drawingml/2006/main">
              <a:ext uri="{FF2B5EF4-FFF2-40B4-BE49-F238E27FC236}">
                <a16:creationId xmlns:a16="http://schemas.microsoft.com/office/drawing/2014/main" id="{A9A469AB-5D17-4F90-A469-15A3AC6CEE77}"/>
              </a:ext>
            </a:extLst>
          </p:cNvPr>
          <p:cNvSpPr>
            <a:spLocks xmlns:a="http://schemas.openxmlformats.org/drawingml/2006/main" noGrp="1"/>
          </p:cNvSpPr>
          <p:nvPr/>
        </p:nvSpPr>
        <p:spPr>
          <a:xfrm xmlns:a="http://schemas.openxmlformats.org/drawingml/2006/main">
            <a:off x="4953000" y="33528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D7E7F2"/>
                </a:solidFill>
                <a:latin typeface="Arial Unicode MS"/>
                <a:ea typeface="Arial Unicode MS"/>
                <a:cs typeface="Arial Unicode MS"/>
              </a:defRPr>
            </a:defPPr>
          </a:lstStyle>
          <a:p xmlns:a="http://schemas.openxmlformats.org/drawingml/2006/main">
            <a:pPr algn="l">
              <a:defRPr sz="1500" b="0">
                <a:solidFill>
                  <a:srgbClr val="D7E7F2"/>
                </a:solidFill>
                <a:latin typeface="Arial Unicode MS"/>
                <a:ea typeface="Arial Unicode MS"/>
                <a:cs typeface="Arial Unicode MS"/>
              </a:defRPr>
            </a:pPr>
            <a:r>
              <a:rPr sz="1500" b="0">
                <a:solidFill>
                  <a:srgbClr val="D7E7F2"/>
                </a:solidFill>
                <a:latin typeface="Arial Unicode MS"/>
                <a:ea typeface="Arial Unicode MS"/>
                <a:cs typeface="Arial Unicode MS"/>
              </a:rPr>
              <a:t>Active BP 出块绩效</a:t>
            </a:r>
          </a:p>
        </p:txBody>
      </p:sp>
      <p:sp>
        <p:nvSpPr>
          <p:cNvPr id="21" name="">
            <a:extLst xmlns:a="http://schemas.openxmlformats.org/drawingml/2006/main">
              <a:ext uri="{FF2B5EF4-FFF2-40B4-BE49-F238E27FC236}">
                <a16:creationId xmlns:a16="http://schemas.microsoft.com/office/drawing/2014/main" id="{F987821E-9DD8-4DEC-88E5-3B844BE8D450}"/>
              </a:ext>
            </a:extLst>
          </p:cNvPr>
          <p:cNvSpPr>
            <a:spLocks xmlns:a="http://schemas.openxmlformats.org/drawingml/2006/main" noGrp="1"/>
          </p:cNvSpPr>
          <p:nvPr/>
        </p:nvSpPr>
        <p:spPr>
          <a:xfrm xmlns:a="http://schemas.openxmlformats.org/drawingml/2006/main">
            <a:off x="3524250" y="4038600"/>
            <a:ext cx="114300" cy="457200"/>
          </a:xfrm>
          <a:prstGeom xmlns:a="http://schemas.openxmlformats.org/drawingml/2006/main" prst="roundRect">
            <a:avLst>
              <a:gd name="adj" fmla="val 50000"/>
            </a:avLst>
          </a:prstGeom>
          <a:solidFill xmlns:a="http://schemas.openxmlformats.org/drawingml/2006/main">
            <a:srgbClr val="9FF3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C396A76-C297-459B-8016-831887B807B1}"/>
              </a:ext>
            </a:extLst>
          </p:cNvPr>
          <p:cNvSpPr>
            <a:spLocks xmlns:a="http://schemas.openxmlformats.org/drawingml/2006/main" noGrp="1"/>
          </p:cNvSpPr>
          <p:nvPr/>
        </p:nvSpPr>
        <p:spPr>
          <a:xfrm xmlns:a="http://schemas.openxmlformats.org/drawingml/2006/main">
            <a:off x="3857625" y="40386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00" b="1">
                <a:solidFill>
                  <a:srgbClr val="9FF3E8"/>
                </a:solidFill>
                <a:latin typeface="Arial Unicode MS"/>
                <a:ea typeface="Arial Unicode MS"/>
                <a:cs typeface="Arial Unicode MS"/>
              </a:defRPr>
            </a:defPPr>
          </a:lstStyle>
          <a:p xmlns:a="http://schemas.openxmlformats.org/drawingml/2006/main">
            <a:pPr algn="l">
              <a:defRPr sz="1800" b="1">
                <a:solidFill>
                  <a:srgbClr val="9FF3E8"/>
                </a:solidFill>
                <a:latin typeface="Arial Unicode MS"/>
                <a:ea typeface="Arial Unicode MS"/>
                <a:cs typeface="Arial Unicode MS"/>
              </a:defRPr>
            </a:pPr>
            <a:r>
              <a:rPr sz="1800" b="1">
                <a:solidFill>
                  <a:srgbClr val="9FF3E8"/>
                </a:solidFill>
                <a:latin typeface="Arial Unicode MS"/>
                <a:ea typeface="Arial Unicode MS"/>
                <a:cs typeface="Arial Unicode MS"/>
              </a:rPr>
              <a:t>4%</a:t>
            </a:r>
          </a:p>
        </p:txBody>
      </p:sp>
      <p:sp>
        <p:nvSpPr>
          <p:cNvPr id="23" name="">
            <a:extLst xmlns:a="http://schemas.openxmlformats.org/drawingml/2006/main">
              <a:ext uri="{FF2B5EF4-FFF2-40B4-BE49-F238E27FC236}">
                <a16:creationId xmlns:a16="http://schemas.microsoft.com/office/drawing/2014/main" id="{4CF98A0B-23BE-4A86-823E-478E5229AD69}"/>
              </a:ext>
            </a:extLst>
          </p:cNvPr>
          <p:cNvSpPr>
            <a:spLocks xmlns:a="http://schemas.openxmlformats.org/drawingml/2006/main" noGrp="1"/>
          </p:cNvSpPr>
          <p:nvPr/>
        </p:nvSpPr>
        <p:spPr>
          <a:xfrm xmlns:a="http://schemas.openxmlformats.org/drawingml/2006/main">
            <a:off x="4953000" y="40386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D7E7F2"/>
                </a:solidFill>
                <a:latin typeface="Arial Unicode MS"/>
                <a:ea typeface="Arial Unicode MS"/>
                <a:cs typeface="Arial Unicode MS"/>
              </a:defRPr>
            </a:defPPr>
          </a:lstStyle>
          <a:p xmlns:a="http://schemas.openxmlformats.org/drawingml/2006/main">
            <a:pPr algn="l">
              <a:defRPr sz="1500" b="0">
                <a:solidFill>
                  <a:srgbClr val="D7E7F2"/>
                </a:solidFill>
                <a:latin typeface="Arial Unicode MS"/>
                <a:ea typeface="Arial Unicode MS"/>
                <a:cs typeface="Arial Unicode MS"/>
              </a:defRPr>
            </a:pPr>
            <a:r>
              <a:rPr sz="1500" b="0">
                <a:solidFill>
                  <a:srgbClr val="D7E7F2"/>
                </a:solidFill>
                <a:latin typeface="Arial Unicode MS"/>
                <a:ea typeface="Arial Unicode MS"/>
                <a:cs typeface="Arial Unicode MS"/>
              </a:rPr>
              <a:t>Active BP 投票人</a:t>
            </a:r>
          </a:p>
        </p:txBody>
      </p:sp>
      <p:sp>
        <p:nvSpPr>
          <p:cNvPr id="24" name="">
            <a:extLst xmlns:a="http://schemas.openxmlformats.org/drawingml/2006/main">
              <a:ext uri="{FF2B5EF4-FFF2-40B4-BE49-F238E27FC236}">
                <a16:creationId xmlns:a16="http://schemas.microsoft.com/office/drawing/2014/main" id="{62F529C6-EE2E-42B6-8DBB-70B8336C29E6}"/>
              </a:ext>
            </a:extLst>
          </p:cNvPr>
          <p:cNvSpPr>
            <a:spLocks xmlns:a="http://schemas.openxmlformats.org/drawingml/2006/main" noGrp="1"/>
          </p:cNvSpPr>
          <p:nvPr/>
        </p:nvSpPr>
        <p:spPr>
          <a:xfrm xmlns:a="http://schemas.openxmlformats.org/drawingml/2006/main">
            <a:off x="3524250" y="4724400"/>
            <a:ext cx="114300" cy="457200"/>
          </a:xfrm>
          <a:prstGeom xmlns:a="http://schemas.openxmlformats.org/drawingml/2006/main" prst="roundRect">
            <a:avLst>
              <a:gd name="adj" fmla="val 50000"/>
            </a:avLst>
          </a:prstGeom>
          <a:solidFill xmlns:a="http://schemas.openxmlformats.org/drawingml/2006/main">
            <a:srgbClr val="F1B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354F584-EA1F-450F-B1B5-6ABE48E56B5B}"/>
              </a:ext>
            </a:extLst>
          </p:cNvPr>
          <p:cNvSpPr>
            <a:spLocks xmlns:a="http://schemas.openxmlformats.org/drawingml/2006/main" noGrp="1"/>
          </p:cNvSpPr>
          <p:nvPr/>
        </p:nvSpPr>
        <p:spPr>
          <a:xfrm xmlns:a="http://schemas.openxmlformats.org/drawingml/2006/main">
            <a:off x="3857625" y="47244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00" b="1">
                <a:solidFill>
                  <a:srgbClr val="F1B84B"/>
                </a:solidFill>
                <a:latin typeface="Arial Unicode MS"/>
                <a:ea typeface="Arial Unicode MS"/>
                <a:cs typeface="Arial Unicode MS"/>
              </a:defRPr>
            </a:defPPr>
          </a:lstStyle>
          <a:p xmlns:a="http://schemas.openxmlformats.org/drawingml/2006/main">
            <a:pPr algn="l">
              <a:defRPr sz="1800" b="1">
                <a:solidFill>
                  <a:srgbClr val="F1B84B"/>
                </a:solidFill>
                <a:latin typeface="Arial Unicode MS"/>
                <a:ea typeface="Arial Unicode MS"/>
                <a:cs typeface="Arial Unicode MS"/>
              </a:defRPr>
            </a:pPr>
            <a:r>
              <a:rPr sz="1800" b="1">
                <a:solidFill>
                  <a:srgbClr val="F1B84B"/>
                </a:solidFill>
                <a:latin typeface="Arial Unicode MS"/>
                <a:ea typeface="Arial Unicode MS"/>
                <a:cs typeface="Arial Unicode MS"/>
              </a:rPr>
              <a:t>1%</a:t>
            </a:r>
          </a:p>
        </p:txBody>
      </p:sp>
      <p:sp>
        <p:nvSpPr>
          <p:cNvPr id="26" name="">
            <a:extLst xmlns:a="http://schemas.openxmlformats.org/drawingml/2006/main">
              <a:ext uri="{FF2B5EF4-FFF2-40B4-BE49-F238E27FC236}">
                <a16:creationId xmlns:a16="http://schemas.microsoft.com/office/drawing/2014/main" id="{0DE49CD7-EA48-4A48-9C72-2511FC51AA21}"/>
              </a:ext>
            </a:extLst>
          </p:cNvPr>
          <p:cNvSpPr>
            <a:spLocks xmlns:a="http://schemas.openxmlformats.org/drawingml/2006/main" noGrp="1"/>
          </p:cNvSpPr>
          <p:nvPr/>
        </p:nvSpPr>
        <p:spPr>
          <a:xfrm xmlns:a="http://schemas.openxmlformats.org/drawingml/2006/main">
            <a:off x="4953000" y="47244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1">
                <a:solidFill>
                  <a:srgbClr val="D7E7F2"/>
                </a:solidFill>
                <a:latin typeface="Arial Unicode MS"/>
                <a:ea typeface="Arial Unicode MS"/>
                <a:cs typeface="Arial Unicode MS"/>
              </a:defRPr>
            </a:defPPr>
          </a:lstStyle>
          <a:p xmlns:a="http://schemas.openxmlformats.org/drawingml/2006/main">
            <a:pPr algn="l">
              <a:defRPr sz="1500" b="1">
                <a:solidFill>
                  <a:srgbClr val="D7E7F2"/>
                </a:solidFill>
                <a:latin typeface="Arial Unicode MS"/>
                <a:ea typeface="Arial Unicode MS"/>
                <a:cs typeface="Arial Unicode MS"/>
              </a:defRPr>
            </a:pPr>
            <a:r>
              <a:rPr sz="1500" b="1">
                <a:solidFill>
                  <a:srgbClr val="D7E7F2"/>
                </a:solidFill>
                <a:latin typeface="Arial Unicode MS"/>
                <a:ea typeface="Arial Unicode MS"/>
                <a:cs typeface="Arial Unicode MS"/>
              </a:rPr>
              <a:t>Qualified Standby</a:t>
            </a:r>
          </a:p>
        </p:txBody>
      </p:sp>
      <p:sp>
        <p:nvSpPr>
          <p:cNvPr id="27" name="">
            <a:extLst xmlns:a="http://schemas.openxmlformats.org/drawingml/2006/main">
              <a:ext uri="{FF2B5EF4-FFF2-40B4-BE49-F238E27FC236}">
                <a16:creationId xmlns:a16="http://schemas.microsoft.com/office/drawing/2014/main" id="{EF7656F5-9E4B-4D86-A072-33AD3AFC9B5F}"/>
              </a:ext>
            </a:extLst>
          </p:cNvPr>
          <p:cNvSpPr>
            <a:spLocks xmlns:a="http://schemas.openxmlformats.org/drawingml/2006/main" noGrp="1"/>
          </p:cNvSpPr>
          <p:nvPr/>
        </p:nvSpPr>
        <p:spPr>
          <a:xfrm xmlns:a="http://schemas.openxmlformats.org/drawingml/2006/main">
            <a:off x="9048750" y="2876550"/>
            <a:ext cx="2143125" cy="1809750"/>
          </a:xfrm>
          <a:prstGeom xmlns:a="http://schemas.openxmlformats.org/drawingml/2006/main" prst="roundRect">
            <a:avLst>
              <a:gd name="adj" fmla="val 4211"/>
            </a:avLst>
          </a:prstGeom>
          <a:solidFill xmlns:a="http://schemas.openxmlformats.org/drawingml/2006/main">
            <a:srgbClr val="0B2035"/>
          </a:solidFill>
          <a:ln xmlns:a="http://schemas.openxmlformats.org/drawingml/2006/main" w="9525">
            <a:solidFill>
              <a:srgbClr val="F1B84B"/>
            </a:solidFill>
            <a:prstDash val="solid"/>
          </a:ln>
        </p:spPr>
      </p:sp>
      <p:sp>
        <p:nvSpPr>
          <p:cNvPr id="28" name="">
            <a:extLst xmlns:a="http://schemas.openxmlformats.org/drawingml/2006/main">
              <a:ext uri="{FF2B5EF4-FFF2-40B4-BE49-F238E27FC236}">
                <a16:creationId xmlns:a16="http://schemas.microsoft.com/office/drawing/2014/main" id="{509F74F6-B327-4D3B-A63A-CE7FC59DC94A}"/>
              </a:ext>
            </a:extLst>
          </p:cNvPr>
          <p:cNvSpPr>
            <a:spLocks xmlns:a="http://schemas.openxmlformats.org/drawingml/2006/main" noGrp="1"/>
          </p:cNvSpPr>
          <p:nvPr/>
        </p:nvSpPr>
        <p:spPr>
          <a:xfrm xmlns:a="http://schemas.openxmlformats.org/drawingml/2006/main">
            <a:off x="9258300" y="30480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00" b="1">
                <a:solidFill>
                  <a:srgbClr val="F7FBFF"/>
                </a:solidFill>
                <a:latin typeface="Arial Unicode MS"/>
                <a:ea typeface="Arial Unicode MS"/>
                <a:cs typeface="Arial Unicode MS"/>
              </a:defRPr>
            </a:defPPr>
          </a:lstStyle>
          <a:p xmlns:a="http://schemas.openxmlformats.org/drawingml/2006/main">
            <a:pPr algn="ctr">
              <a:defRPr sz="1500" b="1">
                <a:solidFill>
                  <a:srgbClr val="F7FBFF"/>
                </a:solidFill>
                <a:latin typeface="Arial Unicode MS"/>
                <a:ea typeface="Arial Unicode MS"/>
                <a:cs typeface="Arial Unicode MS"/>
              </a:defRPr>
            </a:pPr>
            <a:r>
              <a:rPr sz="1500" b="1">
                <a:solidFill>
                  <a:srgbClr val="F7FBFF"/>
                </a:solidFill>
                <a:latin typeface="Arial Unicode MS"/>
                <a:ea typeface="Arial Unicode MS"/>
                <a:cs typeface="Arial Unicode MS"/>
              </a:rPr>
              <a:t>早期 3 + 30</a:t>
            </a:r>
          </a:p>
        </p:txBody>
      </p:sp>
      <p:sp>
        <p:nvSpPr>
          <p:cNvPr id="29" name="">
            <a:extLst xmlns:a="http://schemas.openxmlformats.org/drawingml/2006/main">
              <a:ext uri="{FF2B5EF4-FFF2-40B4-BE49-F238E27FC236}">
                <a16:creationId xmlns:a16="http://schemas.microsoft.com/office/drawing/2014/main" id="{444E0BA0-04BF-4ACD-A115-33298553772D}"/>
              </a:ext>
            </a:extLst>
          </p:cNvPr>
          <p:cNvSpPr>
            <a:spLocks xmlns:a="http://schemas.openxmlformats.org/drawingml/2006/main" noGrp="1"/>
          </p:cNvSpPr>
          <p:nvPr/>
        </p:nvSpPr>
        <p:spPr>
          <a:xfrm xmlns:a="http://schemas.openxmlformats.org/drawingml/2006/main">
            <a:off x="9239250" y="3524250"/>
            <a:ext cx="1762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实际释放 2.285714%</a:t>
            </a:r>
          </a:p>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其余 7.714286%</a:t>
            </a:r>
          </a:p>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转 DAO 锁仓余额</a:t>
            </a:r>
          </a:p>
        </p:txBody>
      </p:sp>
      <p:sp>
        <p:nvSpPr>
          <p:cNvPr id="30" name="">
            <a:extLst xmlns:a="http://schemas.openxmlformats.org/drawingml/2006/main">
              <a:ext uri="{FF2B5EF4-FFF2-40B4-BE49-F238E27FC236}">
                <a16:creationId xmlns:a16="http://schemas.microsoft.com/office/drawing/2014/main" id="{1C92CD31-DEA9-4F21-82B2-19C14800E050}"/>
              </a:ext>
            </a:extLst>
          </p:cNvPr>
          <p:cNvSpPr>
            <a:spLocks xmlns:a="http://schemas.openxmlformats.org/drawingml/2006/main" noGrp="1"/>
          </p:cNvSpPr>
          <p:nvPr/>
        </p:nvSpPr>
        <p:spPr>
          <a:xfrm xmlns:a="http://schemas.openxmlformats.org/drawingml/2006/main">
            <a:off x="3429000" y="571500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FF7A6E"/>
                </a:solidFill>
                <a:latin typeface="Arial Unicode MS"/>
                <a:ea typeface="Arial Unicode MS"/>
                <a:cs typeface="Arial Unicode MS"/>
              </a:defRPr>
            </a:defPPr>
          </a:lstStyle>
          <a:p xmlns:a="http://schemas.openxmlformats.org/drawingml/2006/main">
            <a:pPr algn="l">
              <a:defRPr sz="1050" b="0">
                <a:solidFill>
                  <a:srgbClr val="FF7A6E"/>
                </a:solidFill>
                <a:latin typeface="Arial Unicode MS"/>
                <a:ea typeface="Arial Unicode MS"/>
                <a:cs typeface="Arial Unicode MS"/>
              </a:defRPr>
            </a:pPr>
            <a:r>
              <a:rPr sz="1050" b="0">
                <a:solidFill>
                  <a:srgbClr val="FF7A6E"/>
                </a:solidFill>
                <a:latin typeface="Arial Unicode MS"/>
                <a:ea typeface="Arial Unicode MS"/>
                <a:cs typeface="Arial Unicode MS"/>
              </a:rPr>
              <a:t>Active 奖励 × N/21；Standby 奖励 × S/30。空缺、未达标与整数余数均转 DAO 锁仓。</a:t>
            </a:r>
          </a:p>
        </p:txBody>
      </p:sp>
    </p:spTree>
    <p:extLst>
      <p:ext uri="{BB962C8B-B14F-4D97-AF65-F5344CB8AC3E}">
        <p14:creationId xmlns:p14="http://schemas.microsoft.com/office/powerpoint/2010/main" val="1380621053"/>
      </p:ext>
    </p:extLst>
  </p:cSld>
</p:sld>
</file>

<file path=ppt/slides/slide13.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27E981D-B9C4-4CD7-BDC3-C7478E20239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837205-B7C6-40D8-8F4A-186C1B8F60BB}"/>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12 动态奖励</a:t>
            </a:r>
          </a:p>
        </p:txBody>
      </p:sp>
      <p:sp>
        <p:nvSpPr>
          <p:cNvPr id="3" name="">
            <a:extLst xmlns:a="http://schemas.openxmlformats.org/drawingml/2006/main">
              <a:ext uri="{FF2B5EF4-FFF2-40B4-BE49-F238E27FC236}">
                <a16:creationId xmlns:a16="http://schemas.microsoft.com/office/drawing/2014/main" id="{9148D680-C21B-4753-8C9A-EB37EF9F0E22}"/>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当前投票人分享奖励算法</a:t>
            </a:r>
          </a:p>
        </p:txBody>
      </p:sp>
      <p:sp>
        <p:nvSpPr>
          <p:cNvPr id="4" name="">
            <a:extLst xmlns:a="http://schemas.openxmlformats.org/drawingml/2006/main">
              <a:ext uri="{FF2B5EF4-FFF2-40B4-BE49-F238E27FC236}">
                <a16:creationId xmlns:a16="http://schemas.microsoft.com/office/drawing/2014/main" id="{6E383B39-E6E1-424A-A00A-058A554DFE0B}"/>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AAE0BF1-2942-47B9-A64E-1F1EA916893D}"/>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13</a:t>
            </a:r>
          </a:p>
        </p:txBody>
      </p:sp>
      <p:sp>
        <p:nvSpPr>
          <p:cNvPr id="6" name="">
            <a:extLst xmlns:a="http://schemas.openxmlformats.org/drawingml/2006/main">
              <a:ext uri="{FF2B5EF4-FFF2-40B4-BE49-F238E27FC236}">
                <a16:creationId xmlns:a16="http://schemas.microsoft.com/office/drawing/2014/main" id="{B657B1F7-B97D-4C4C-B870-F74927702D3D}"/>
              </a:ext>
            </a:extLst>
          </p:cNvPr>
          <p:cNvSpPr>
            <a:spLocks xmlns:a="http://schemas.openxmlformats.org/drawingml/2006/main" noGrp="1"/>
          </p:cNvSpPr>
          <p:nvPr/>
        </p:nvSpPr>
        <p:spPr>
          <a:xfrm xmlns:a="http://schemas.openxmlformats.org/drawingml/2006/main">
            <a:off x="666750" y="157162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a:solidFill>
                  <a:srgbClr val="F7FBFF"/>
                </a:solidFill>
                <a:latin typeface="Arial Unicode MS"/>
                <a:ea typeface="Arial Unicode MS"/>
                <a:cs typeface="Arial Unicode MS"/>
              </a:defRPr>
            </a:defPPr>
          </a:lstStyle>
          <a:p xmlns:a="http://schemas.openxmlformats.org/drawingml/2006/main">
            <a:pPr algn="l">
              <a:defRPr sz="1725" b="1">
                <a:solidFill>
                  <a:srgbClr val="F7FBFF"/>
                </a:solidFill>
                <a:latin typeface="Arial Unicode MS"/>
                <a:ea typeface="Arial Unicode MS"/>
                <a:cs typeface="Arial Unicode MS"/>
              </a:defRPr>
            </a:pPr>
            <a:r>
              <a:rPr sz="1725" b="1">
                <a:solidFill>
                  <a:srgbClr val="F7FBFF"/>
                </a:solidFill>
                <a:latin typeface="Arial Unicode MS"/>
                <a:ea typeface="Arial Unicode MS"/>
                <a:cs typeface="Arial Unicode MS"/>
              </a:rPr>
              <a:t>BP 奖励拆分</a:t>
            </a:r>
          </a:p>
        </p:txBody>
      </p:sp>
      <p:sp>
        <p:nvSpPr>
          <p:cNvPr id="7" name="">
            <a:extLst xmlns:a="http://schemas.openxmlformats.org/drawingml/2006/main">
              <a:ext uri="{FF2B5EF4-FFF2-40B4-BE49-F238E27FC236}">
                <a16:creationId xmlns:a16="http://schemas.microsoft.com/office/drawing/2014/main" id="{B51D362F-013C-48E4-AB61-B8650526CA3F}"/>
              </a:ext>
            </a:extLst>
          </p:cNvPr>
          <p:cNvSpPr>
            <a:spLocks xmlns:a="http://schemas.openxmlformats.org/drawingml/2006/main" noGrp="1"/>
          </p:cNvSpPr>
          <p:nvPr/>
        </p:nvSpPr>
        <p:spPr>
          <a:xfrm xmlns:a="http://schemas.openxmlformats.org/drawingml/2006/main">
            <a:off x="666750" y="1971675"/>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shared = BP 待领奖励 × reward_shared_ratio / 10,000</a:t>
            </a:r>
          </a:p>
        </p:txBody>
      </p:sp>
      <p:sp>
        <p:nvSpPr>
          <p:cNvPr id="8" name="">
            <a:extLst xmlns:a="http://schemas.openxmlformats.org/drawingml/2006/main">
              <a:ext uri="{FF2B5EF4-FFF2-40B4-BE49-F238E27FC236}">
                <a16:creationId xmlns:a16="http://schemas.microsoft.com/office/drawing/2014/main" id="{299FF4A8-7DF6-4229-BE8B-097FDB062C15}"/>
              </a:ext>
            </a:extLst>
          </p:cNvPr>
          <p:cNvSpPr>
            <a:spLocks xmlns:a="http://schemas.openxmlformats.org/drawingml/2006/main" noGrp="1"/>
          </p:cNvSpPr>
          <p:nvPr/>
        </p:nvSpPr>
        <p:spPr>
          <a:xfrm xmlns:a="http://schemas.openxmlformats.org/drawingml/2006/main">
            <a:off x="666750" y="2371725"/>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BP 实得 = BP 待领奖励 - shared</a:t>
            </a:r>
          </a:p>
        </p:txBody>
      </p:sp>
      <p:sp>
        <p:nvSpPr>
          <p:cNvPr id="9" name="">
            <a:extLst xmlns:a="http://schemas.openxmlformats.org/drawingml/2006/main">
              <a:ext uri="{FF2B5EF4-FFF2-40B4-BE49-F238E27FC236}">
                <a16:creationId xmlns:a16="http://schemas.microsoft.com/office/drawing/2014/main" id="{FC3A0EFC-1DD5-4AFE-90F0-DC0C888B0F14}"/>
              </a:ext>
            </a:extLst>
          </p:cNvPr>
          <p:cNvSpPr>
            <a:spLocks xmlns:a="http://schemas.openxmlformats.org/drawingml/2006/main" noGrp="1"/>
          </p:cNvSpPr>
          <p:nvPr/>
        </p:nvSpPr>
        <p:spPr>
          <a:xfrm xmlns:a="http://schemas.openxmlformats.org/drawingml/2006/main">
            <a:off x="666750" y="2933700"/>
            <a:ext cx="10572750" cy="781050"/>
          </a:xfrm>
          <a:prstGeom xmlns:a="http://schemas.openxmlformats.org/drawingml/2006/main" prst="roundRect">
            <a:avLst>
              <a:gd name="adj" fmla="val 9756"/>
            </a:avLst>
          </a:prstGeom>
          <a:solidFill xmlns:a="http://schemas.openxmlformats.org/drawingml/2006/main">
            <a:srgbClr val="0B2035"/>
          </a:solidFill>
          <a:ln xmlns:a="http://schemas.openxmlformats.org/drawingml/2006/main" w="9525">
            <a:solidFill>
              <a:srgbClr val="4DE3D1"/>
            </a:solidFill>
            <a:prstDash val="solid"/>
          </a:ln>
        </p:spPr>
      </p:sp>
      <p:sp>
        <p:nvSpPr>
          <p:cNvPr id="10" name="">
            <a:extLst xmlns:a="http://schemas.openxmlformats.org/drawingml/2006/main">
              <a:ext uri="{FF2B5EF4-FFF2-40B4-BE49-F238E27FC236}">
                <a16:creationId xmlns:a16="http://schemas.microsoft.com/office/drawing/2014/main" id="{1251E5E0-137D-46BC-BB7C-40BB54E8136D}"/>
              </a:ext>
            </a:extLst>
          </p:cNvPr>
          <p:cNvSpPr>
            <a:spLocks xmlns:a="http://schemas.openxmlformats.org/drawingml/2006/main" noGrp="1"/>
          </p:cNvSpPr>
          <p:nvPr/>
        </p:nvSpPr>
        <p:spPr>
          <a:xfrm xmlns:a="http://schemas.openxmlformats.org/drawingml/2006/main">
            <a:off x="876300" y="3067050"/>
            <a:ext cx="1014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725" b="1">
                <a:solidFill>
                  <a:srgbClr val="F7FBFF"/>
                </a:solidFill>
                <a:latin typeface="Arial Unicode MS"/>
                <a:ea typeface="Arial Unicode MS"/>
                <a:cs typeface="Arial Unicode MS"/>
              </a:defRPr>
            </a:defPPr>
          </a:lstStyle>
          <a:p xmlns:a="http://schemas.openxmlformats.org/drawingml/2006/main">
            <a:pPr algn="ctr">
              <a:defRPr sz="1725" b="1">
                <a:solidFill>
                  <a:srgbClr val="F7FBFF"/>
                </a:solidFill>
                <a:latin typeface="Arial Unicode MS"/>
                <a:ea typeface="Arial Unicode MS"/>
                <a:cs typeface="Arial Unicode MS"/>
              </a:defRPr>
            </a:pPr>
            <a:r>
              <a:rPr sz="1725" b="1">
                <a:solidFill>
                  <a:srgbClr val="F7FBFF"/>
                </a:solidFill>
                <a:latin typeface="Arial Unicode MS"/>
                <a:ea typeface="Arial Unicode MS"/>
                <a:cs typeface="Arial Unicode MS"/>
              </a:rPr>
              <a:t>用户从单个 BP 获得的奖励 ≈ BP 共享奖励 × 用户分配权重 / BP 总权重</a:t>
            </a:r>
          </a:p>
        </p:txBody>
      </p:sp>
      <p:sp>
        <p:nvSpPr>
          <p:cNvPr id="11" name="">
            <a:extLst xmlns:a="http://schemas.openxmlformats.org/drawingml/2006/main">
              <a:ext uri="{FF2B5EF4-FFF2-40B4-BE49-F238E27FC236}">
                <a16:creationId xmlns:a16="http://schemas.microsoft.com/office/drawing/2014/main" id="{E7CC9113-78DF-49A2-9996-A6C98EFDFE6A}"/>
              </a:ext>
            </a:extLst>
          </p:cNvPr>
          <p:cNvSpPr>
            <a:spLocks xmlns:a="http://schemas.openxmlformats.org/drawingml/2006/main" noGrp="1"/>
          </p:cNvSpPr>
          <p:nvPr/>
        </p:nvSpPr>
        <p:spPr>
          <a:xfrm xmlns:a="http://schemas.openxmlformats.org/drawingml/2006/main">
            <a:off x="666750" y="4095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a:solidFill>
                  <a:srgbClr val="4DE3D1"/>
                </a:solidFill>
                <a:latin typeface="Arial Unicode MS"/>
                <a:ea typeface="Arial Unicode MS"/>
                <a:cs typeface="Arial Unicode MS"/>
              </a:defRPr>
            </a:defPPr>
          </a:lstStyle>
          <a:p xmlns:a="http://schemas.openxmlformats.org/drawingml/2006/main">
            <a:pPr algn="l">
              <a:defRPr sz="1725" b="1">
                <a:solidFill>
                  <a:srgbClr val="4DE3D1"/>
                </a:solidFill>
                <a:latin typeface="Arial Unicode MS"/>
                <a:ea typeface="Arial Unicode MS"/>
                <a:cs typeface="Arial Unicode MS"/>
              </a:defRPr>
            </a:pPr>
            <a:r>
              <a:rPr sz="1725" b="1">
                <a:solidFill>
                  <a:srgbClr val="4DE3D1"/>
                </a:solidFill>
                <a:latin typeface="Arial Unicode MS"/>
                <a:ea typeface="Arial Unicode MS"/>
                <a:cs typeface="Arial Unicode MS"/>
              </a:rPr>
              <a:t>累计每票奖励指数</a:t>
            </a:r>
          </a:p>
        </p:txBody>
      </p:sp>
      <p:sp>
        <p:nvSpPr>
          <p:cNvPr id="12" name="">
            <a:extLst xmlns:a="http://schemas.openxmlformats.org/drawingml/2006/main">
              <a:ext uri="{FF2B5EF4-FFF2-40B4-BE49-F238E27FC236}">
                <a16:creationId xmlns:a16="http://schemas.microsoft.com/office/drawing/2014/main" id="{0D5F425E-E960-4B79-B88E-DEA32862CBFF}"/>
              </a:ext>
            </a:extLst>
          </p:cNvPr>
          <p:cNvSpPr>
            <a:spLocks xmlns:a="http://schemas.openxmlformats.org/drawingml/2006/main" noGrp="1"/>
          </p:cNvSpPr>
          <p:nvPr/>
        </p:nvSpPr>
        <p:spPr>
          <a:xfrm xmlns:a="http://schemas.openxmlformats.org/drawingml/2006/main">
            <a:off x="666750" y="44958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D7E7F2"/>
                </a:solidFill>
                <a:latin typeface="Arial Unicode MS"/>
                <a:ea typeface="Arial Unicode MS"/>
                <a:cs typeface="Arial Unicode MS"/>
              </a:defRPr>
            </a:defPPr>
          </a:lstStyle>
          <a:p xmlns:a="http://schemas.openxmlformats.org/drawingml/2006/main">
            <a:pPr algn="l">
              <a:defRPr sz="1500" b="0">
                <a:solidFill>
                  <a:srgbClr val="D7E7F2"/>
                </a:solidFill>
                <a:latin typeface="Arial Unicode MS"/>
                <a:ea typeface="Arial Unicode MS"/>
                <a:cs typeface="Arial Unicode MS"/>
              </a:defRPr>
            </a:pPr>
            <a:r>
              <a:rPr sz="1500" b="0">
                <a:solidFill>
                  <a:srgbClr val="D7E7F2"/>
                </a:solidFill>
                <a:latin typeface="Arial Unicode MS"/>
                <a:ea typeface="Arial Unicode MS"/>
                <a:cs typeface="Arial Unicode MS"/>
              </a:rPr>
              <a:t>index += shared × 10¹⁸ / BP 总权重</a:t>
            </a:r>
          </a:p>
        </p:txBody>
      </p:sp>
      <p:sp>
        <p:nvSpPr>
          <p:cNvPr id="13" name="">
            <a:extLst xmlns:a="http://schemas.openxmlformats.org/drawingml/2006/main">
              <a:ext uri="{FF2B5EF4-FFF2-40B4-BE49-F238E27FC236}">
                <a16:creationId xmlns:a16="http://schemas.microsoft.com/office/drawing/2014/main" id="{AF60F315-23E2-41B7-8F9A-D6BD8769945A}"/>
              </a:ext>
            </a:extLst>
          </p:cNvPr>
          <p:cNvSpPr>
            <a:spLocks xmlns:a="http://schemas.openxmlformats.org/drawingml/2006/main" noGrp="1"/>
          </p:cNvSpPr>
          <p:nvPr/>
        </p:nvSpPr>
        <p:spPr>
          <a:xfrm xmlns:a="http://schemas.openxmlformats.org/drawingml/2006/main">
            <a:off x="666750" y="49339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D7E7F2"/>
                </a:solidFill>
                <a:latin typeface="Arial Unicode MS"/>
                <a:ea typeface="Arial Unicode MS"/>
                <a:cs typeface="Arial Unicode MS"/>
              </a:defRPr>
            </a:defPPr>
          </a:lstStyle>
          <a:p xmlns:a="http://schemas.openxmlformats.org/drawingml/2006/main">
            <a:pPr algn="l">
              <a:defRPr sz="1500" b="0">
                <a:solidFill>
                  <a:srgbClr val="D7E7F2"/>
                </a:solidFill>
                <a:latin typeface="Arial Unicode MS"/>
                <a:ea typeface="Arial Unicode MS"/>
                <a:cs typeface="Arial Unicode MS"/>
              </a:defRPr>
            </a:pPr>
            <a:r>
              <a:rPr sz="1500" b="0">
                <a:solidFill>
                  <a:srgbClr val="D7E7F2"/>
                </a:solidFill>
                <a:latin typeface="Arial Unicode MS"/>
                <a:ea typeface="Arial Unicode MS"/>
                <a:cs typeface="Arial Unicode MS"/>
              </a:rPr>
              <a:t>用户奖励 = 旧权重 × (当前 index - 上次 index) / 10¹⁸</a:t>
            </a:r>
          </a:p>
        </p:txBody>
      </p:sp>
      <p:sp>
        <p:nvSpPr>
          <p:cNvPr id="14" name="">
            <a:extLst xmlns:a="http://schemas.openxmlformats.org/drawingml/2006/main">
              <a:ext uri="{FF2B5EF4-FFF2-40B4-BE49-F238E27FC236}">
                <a16:creationId xmlns:a16="http://schemas.microsoft.com/office/drawing/2014/main" id="{754FD2CD-72B8-4C19-B855-EAC09AFC05FE}"/>
              </a:ext>
            </a:extLst>
          </p:cNvPr>
          <p:cNvSpPr>
            <a:spLocks xmlns:a="http://schemas.openxmlformats.org/drawingml/2006/main" noGrp="1"/>
          </p:cNvSpPr>
          <p:nvPr/>
        </p:nvSpPr>
        <p:spPr>
          <a:xfrm xmlns:a="http://schemas.openxmlformats.org/drawingml/2006/main">
            <a:off x="7524750" y="4191000"/>
            <a:ext cx="3714750" cy="1162050"/>
          </a:xfrm>
          <a:prstGeom xmlns:a="http://schemas.openxmlformats.org/drawingml/2006/main" prst="roundRect">
            <a:avLst>
              <a:gd name="adj" fmla="val 6557"/>
            </a:avLst>
          </a:prstGeom>
          <a:solidFill xmlns:a="http://schemas.openxmlformats.org/drawingml/2006/main">
            <a:srgbClr val="176B8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9529C55-C102-41AF-A847-1C7C1EC30463}"/>
              </a:ext>
            </a:extLst>
          </p:cNvPr>
          <p:cNvSpPr>
            <a:spLocks xmlns:a="http://schemas.openxmlformats.org/drawingml/2006/main" noGrp="1"/>
          </p:cNvSpPr>
          <p:nvPr/>
        </p:nvSpPr>
        <p:spPr>
          <a:xfrm xmlns:a="http://schemas.openxmlformats.org/drawingml/2006/main">
            <a:off x="7734300" y="429577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350" b="1">
                <a:solidFill>
                  <a:srgbClr val="F7FBFF"/>
                </a:solidFill>
                <a:latin typeface="Arial Unicode MS"/>
                <a:ea typeface="Arial Unicode MS"/>
                <a:cs typeface="Arial Unicode MS"/>
              </a:defRPr>
            </a:defPPr>
          </a:lstStyle>
          <a:p xmlns:a="http://schemas.openxmlformats.org/drawingml/2006/main">
            <a:pPr algn="ctr">
              <a:defRPr sz="1350" b="1">
                <a:solidFill>
                  <a:srgbClr val="F7FBFF"/>
                </a:solidFill>
                <a:latin typeface="Arial Unicode MS"/>
                <a:ea typeface="Arial Unicode MS"/>
                <a:cs typeface="Arial Unicode MS"/>
              </a:defRPr>
            </a:pPr>
            <a:r>
              <a:rPr sz="1350" b="1">
                <a:solidFill>
                  <a:srgbClr val="F7FBFF"/>
                </a:solidFill>
                <a:latin typeface="Arial Unicode MS"/>
                <a:ea typeface="Arial Unicode MS"/>
                <a:cs typeface="Arial Unicode MS"/>
              </a:rPr>
              <a:t>选择 N 个 BP</a:t>
            </a:r>
          </a:p>
        </p:txBody>
      </p:sp>
      <p:sp>
        <p:nvSpPr>
          <p:cNvPr id="16" name="">
            <a:extLst xmlns:a="http://schemas.openxmlformats.org/drawingml/2006/main">
              <a:ext uri="{FF2B5EF4-FFF2-40B4-BE49-F238E27FC236}">
                <a16:creationId xmlns:a16="http://schemas.microsoft.com/office/drawing/2014/main" id="{83C5DC25-AB73-461D-8F50-1A5E8EC29605}"/>
              </a:ext>
            </a:extLst>
          </p:cNvPr>
          <p:cNvSpPr>
            <a:spLocks xmlns:a="http://schemas.openxmlformats.org/drawingml/2006/main" noGrp="1"/>
          </p:cNvSpPr>
          <p:nvPr/>
        </p:nvSpPr>
        <p:spPr>
          <a:xfrm xmlns:a="http://schemas.openxmlformats.org/drawingml/2006/main">
            <a:off x="7734300" y="4638675"/>
            <a:ext cx="3295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350" b="0">
                <a:solidFill>
                  <a:srgbClr val="F7FBFF"/>
                </a:solidFill>
                <a:latin typeface="Arial Unicode MS"/>
                <a:ea typeface="Arial Unicode MS"/>
                <a:cs typeface="Arial Unicode MS"/>
              </a:defRPr>
            </a:defPPr>
          </a:lstStyle>
          <a:p xmlns:a="http://schemas.openxmlformats.org/drawingml/2006/main">
            <a:pPr algn="ctr">
              <a:defRPr sz="1350" b="0">
                <a:solidFill>
                  <a:srgbClr val="F7FBFF"/>
                </a:solidFill>
                <a:latin typeface="Arial Unicode MS"/>
                <a:ea typeface="Arial Unicode MS"/>
                <a:cs typeface="Arial Unicode MS"/>
              </a:defRPr>
            </a:pPr>
            <a:r>
              <a:rPr sz="1350" b="0">
                <a:solidFill>
                  <a:srgbClr val="F7FBFF"/>
                </a:solidFill>
                <a:latin typeface="Arial Unicode MS"/>
                <a:ea typeface="Arial Unicode MS"/>
                <a:cs typeface="Arial Unicode MS"/>
              </a:rPr>
              <a:t>每个 BP 权重 = floor(GLON / N)</a:t>
            </a:r>
          </a:p>
          <a:p xmlns:a="http://schemas.openxmlformats.org/drawingml/2006/main">
            <a:pPr algn="ctr">
              <a:defRPr sz="1350" b="0">
                <a:solidFill>
                  <a:srgbClr val="F7FBFF"/>
                </a:solidFill>
                <a:latin typeface="Arial Unicode MS"/>
                <a:ea typeface="Arial Unicode MS"/>
                <a:cs typeface="Arial Unicode MS"/>
              </a:defRPr>
            </a:pPr>
            <a:r>
              <a:rPr sz="1350" b="0">
                <a:solidFill>
                  <a:srgbClr val="F7FBFF"/>
                </a:solidFill>
                <a:latin typeface="Arial Unicode MS"/>
                <a:ea typeface="Arial Unicode MS"/>
                <a:cs typeface="Arial Unicode MS"/>
              </a:rPr>
              <a:t>余数暂不参与排名和奖励</a:t>
            </a:r>
          </a:p>
        </p:txBody>
      </p:sp>
      <p:sp>
        <p:nvSpPr>
          <p:cNvPr id="17" name="">
            <a:extLst xmlns:a="http://schemas.openxmlformats.org/drawingml/2006/main">
              <a:ext uri="{FF2B5EF4-FFF2-40B4-BE49-F238E27FC236}">
                <a16:creationId xmlns:a16="http://schemas.microsoft.com/office/drawing/2014/main" id="{DA795735-836E-4F96-873C-8BA141794596}"/>
              </a:ext>
            </a:extLst>
          </p:cNvPr>
          <p:cNvSpPr>
            <a:spLocks xmlns:a="http://schemas.openxmlformats.org/drawingml/2006/main" noGrp="1"/>
          </p:cNvSpPr>
          <p:nvPr/>
        </p:nvSpPr>
        <p:spPr>
          <a:xfrm xmlns:a="http://schemas.openxmlformats.org/drawingml/2006/main">
            <a:off x="666750" y="575310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F1B84B"/>
                </a:solidFill>
                <a:latin typeface="Arial Unicode MS"/>
                <a:ea typeface="Arial Unicode MS"/>
                <a:cs typeface="Arial Unicode MS"/>
              </a:defRPr>
            </a:defPPr>
          </a:lstStyle>
          <a:p xmlns:a="http://schemas.openxmlformats.org/drawingml/2006/main">
            <a:pPr algn="l">
              <a:defRPr sz="1050" b="0">
                <a:solidFill>
                  <a:srgbClr val="F1B84B"/>
                </a:solidFill>
                <a:latin typeface="Arial Unicode MS"/>
                <a:ea typeface="Arial Unicode MS"/>
                <a:cs typeface="Arial Unicode MS"/>
              </a:defRPr>
            </a:pPr>
            <a:r>
              <a:rPr sz="1050" b="0">
                <a:solidFill>
                  <a:srgbClr val="F1B84B"/>
                </a:solidFill>
                <a:latin typeface="Arial Unicode MS"/>
                <a:ea typeface="Arial Unicode MS"/>
                <a:cs typeface="Arial Unicode MS"/>
              </a:rPr>
              <a:t>收益率不同的原因：BP 出块奖励、分享比例、BP 总票权和整数舍入均不同。</a:t>
            </a:r>
          </a:p>
        </p:txBody>
      </p:sp>
    </p:spTree>
    <p:extLst>
      <p:ext uri="{BB962C8B-B14F-4D97-AF65-F5344CB8AC3E}">
        <p14:creationId xmlns:p14="http://schemas.microsoft.com/office/powerpoint/2010/main" val="1840549608"/>
      </p:ext>
    </p:extLst>
  </p:cSld>
</p:sld>
</file>

<file path=ppt/slides/slide14.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9765E9A-BD07-453F-9B27-80BBC28558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C88A63-B93A-4080-9571-BBA11EAC54F4}"/>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13 奖励检查点</a:t>
            </a:r>
          </a:p>
        </p:txBody>
      </p:sp>
      <p:sp>
        <p:nvSpPr>
          <p:cNvPr id="3" name="">
            <a:extLst xmlns:a="http://schemas.openxmlformats.org/drawingml/2006/main">
              <a:ext uri="{FF2B5EF4-FFF2-40B4-BE49-F238E27FC236}">
                <a16:creationId xmlns:a16="http://schemas.microsoft.com/office/drawing/2014/main" id="{8B018345-6EF1-49B4-9453-0D67522E09F9}"/>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动态加票、换票与撤票</a:t>
            </a:r>
          </a:p>
        </p:txBody>
      </p:sp>
      <p:sp>
        <p:nvSpPr>
          <p:cNvPr id="4" name="">
            <a:extLst xmlns:a="http://schemas.openxmlformats.org/drawingml/2006/main">
              <a:ext uri="{FF2B5EF4-FFF2-40B4-BE49-F238E27FC236}">
                <a16:creationId xmlns:a16="http://schemas.microsoft.com/office/drawing/2014/main" id="{B4961C4E-DC94-435A-9A09-155CA37D2DB6}"/>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A1B0F2C-BA39-49A9-AA0D-320E39184D67}"/>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14</a:t>
            </a:r>
          </a:p>
        </p:txBody>
      </p:sp>
      <p:sp>
        <p:nvSpPr>
          <p:cNvPr id="6" name="">
            <a:extLst xmlns:a="http://schemas.openxmlformats.org/drawingml/2006/main">
              <a:ext uri="{FF2B5EF4-FFF2-40B4-BE49-F238E27FC236}">
                <a16:creationId xmlns:a16="http://schemas.microsoft.com/office/drawing/2014/main" id="{0DA1001C-F67E-43E7-BFCF-2486640B97E1}"/>
              </a:ext>
            </a:extLst>
          </p:cNvPr>
          <p:cNvSpPr>
            <a:spLocks xmlns:a="http://schemas.openxmlformats.org/drawingml/2006/main" noGrp="1"/>
          </p:cNvSpPr>
          <p:nvPr/>
        </p:nvSpPr>
        <p:spPr>
          <a:xfrm xmlns:a="http://schemas.openxmlformats.org/drawingml/2006/main">
            <a:off x="666750" y="15525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8FA9BB"/>
                </a:solidFill>
                <a:latin typeface="Arial Unicode MS"/>
                <a:ea typeface="Arial Unicode MS"/>
                <a:cs typeface="Arial Unicode MS"/>
              </a:defRPr>
            </a:defPPr>
          </a:lstStyle>
          <a:p xmlns:a="http://schemas.openxmlformats.org/drawingml/2006/main">
            <a:pPr algn="l">
              <a:defRPr sz="1200" b="1">
                <a:solidFill>
                  <a:srgbClr val="8FA9BB"/>
                </a:solidFill>
                <a:latin typeface="Arial Unicode MS"/>
                <a:ea typeface="Arial Unicode MS"/>
                <a:cs typeface="Arial Unicode MS"/>
              </a:defRPr>
            </a:pPr>
            <a:r>
              <a:rPr sz="1200" b="1">
                <a:solidFill>
                  <a:srgbClr val="8FA9BB"/>
                </a:solidFill>
                <a:latin typeface="Arial Unicode MS"/>
                <a:ea typeface="Arial Unicode MS"/>
                <a:cs typeface="Arial Unicode MS"/>
              </a:rPr>
              <a:t>动作</a:t>
            </a:r>
          </a:p>
        </p:txBody>
      </p:sp>
      <p:sp>
        <p:nvSpPr>
          <p:cNvPr id="7" name="">
            <a:extLst xmlns:a="http://schemas.openxmlformats.org/drawingml/2006/main">
              <a:ext uri="{FF2B5EF4-FFF2-40B4-BE49-F238E27FC236}">
                <a16:creationId xmlns:a16="http://schemas.microsoft.com/office/drawing/2014/main" id="{2FA71D33-B9D6-47E4-A02F-3DE0A7F31137}"/>
              </a:ext>
            </a:extLst>
          </p:cNvPr>
          <p:cNvSpPr>
            <a:spLocks xmlns:a="http://schemas.openxmlformats.org/drawingml/2006/main" noGrp="1"/>
          </p:cNvSpPr>
          <p:nvPr/>
        </p:nvSpPr>
        <p:spPr>
          <a:xfrm xmlns:a="http://schemas.openxmlformats.org/drawingml/2006/main">
            <a:off x="2714625" y="15525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8FA9BB"/>
                </a:solidFill>
                <a:latin typeface="Arial Unicode MS"/>
                <a:ea typeface="Arial Unicode MS"/>
                <a:cs typeface="Arial Unicode MS"/>
              </a:defRPr>
            </a:defPPr>
          </a:lstStyle>
          <a:p xmlns:a="http://schemas.openxmlformats.org/drawingml/2006/main">
            <a:pPr algn="l">
              <a:defRPr sz="1200" b="1">
                <a:solidFill>
                  <a:srgbClr val="8FA9BB"/>
                </a:solidFill>
                <a:latin typeface="Arial Unicode MS"/>
                <a:ea typeface="Arial Unicode MS"/>
                <a:cs typeface="Arial Unicode MS"/>
              </a:defRPr>
            </a:pPr>
            <a:r>
              <a:rPr sz="1200" b="1">
                <a:solidFill>
                  <a:srgbClr val="8FA9BB"/>
                </a:solidFill>
                <a:latin typeface="Arial Unicode MS"/>
                <a:ea typeface="Arial Unicode MS"/>
                <a:cs typeface="Arial Unicode MS"/>
              </a:rPr>
              <a:t>切换前</a:t>
            </a:r>
          </a:p>
        </p:txBody>
      </p:sp>
      <p:sp>
        <p:nvSpPr>
          <p:cNvPr id="8" name="">
            <a:extLst xmlns:a="http://schemas.openxmlformats.org/drawingml/2006/main">
              <a:ext uri="{FF2B5EF4-FFF2-40B4-BE49-F238E27FC236}">
                <a16:creationId xmlns:a16="http://schemas.microsoft.com/office/drawing/2014/main" id="{2D4619AD-E946-4342-A8CE-FE04A9CABA82}"/>
              </a:ext>
            </a:extLst>
          </p:cNvPr>
          <p:cNvSpPr>
            <a:spLocks xmlns:a="http://schemas.openxmlformats.org/drawingml/2006/main" noGrp="1"/>
          </p:cNvSpPr>
          <p:nvPr/>
        </p:nvSpPr>
        <p:spPr>
          <a:xfrm xmlns:a="http://schemas.openxmlformats.org/drawingml/2006/main">
            <a:off x="6096000" y="15525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8FA9BB"/>
                </a:solidFill>
                <a:latin typeface="Arial Unicode MS"/>
                <a:ea typeface="Arial Unicode MS"/>
                <a:cs typeface="Arial Unicode MS"/>
              </a:defRPr>
            </a:defPPr>
          </a:lstStyle>
          <a:p xmlns:a="http://schemas.openxmlformats.org/drawingml/2006/main">
            <a:pPr algn="l">
              <a:defRPr sz="1200" b="1">
                <a:solidFill>
                  <a:srgbClr val="8FA9BB"/>
                </a:solidFill>
                <a:latin typeface="Arial Unicode MS"/>
                <a:ea typeface="Arial Unicode MS"/>
                <a:cs typeface="Arial Unicode MS"/>
              </a:defRPr>
            </a:pPr>
            <a:r>
              <a:rPr sz="1200" b="1">
                <a:solidFill>
                  <a:srgbClr val="8FA9BB"/>
                </a:solidFill>
                <a:latin typeface="Arial Unicode MS"/>
                <a:ea typeface="Arial Unicode MS"/>
                <a:cs typeface="Arial Unicode MS"/>
              </a:rPr>
              <a:t>切换后</a:t>
            </a:r>
          </a:p>
        </p:txBody>
      </p:sp>
      <p:sp>
        <p:nvSpPr>
          <p:cNvPr id="9" name="">
            <a:extLst xmlns:a="http://schemas.openxmlformats.org/drawingml/2006/main">
              <a:ext uri="{FF2B5EF4-FFF2-40B4-BE49-F238E27FC236}">
                <a16:creationId xmlns:a16="http://schemas.microsoft.com/office/drawing/2014/main" id="{4D9C3C67-91DB-4BA0-8A52-E37F57919A62}"/>
              </a:ext>
            </a:extLst>
          </p:cNvPr>
          <p:cNvSpPr>
            <a:spLocks xmlns:a="http://schemas.openxmlformats.org/drawingml/2006/main" noGrp="1"/>
          </p:cNvSpPr>
          <p:nvPr/>
        </p:nvSpPr>
        <p:spPr>
          <a:xfrm xmlns:a="http://schemas.openxmlformats.org/drawingml/2006/main">
            <a:off x="666750" y="1943100"/>
            <a:ext cx="10477500" cy="647700"/>
          </a:xfrm>
          <a:prstGeom xmlns:a="http://schemas.openxmlformats.org/drawingml/2006/main" prst="roundRect">
            <a:avLst>
              <a:gd name="adj" fmla="val 11765"/>
            </a:avLst>
          </a:prstGeom>
          <a:solidFill xmlns:a="http://schemas.openxmlformats.org/drawingml/2006/main">
            <a:srgbClr val="0B203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615CDC3-1EFE-41B7-B28B-5F9BAB8F0E6F}"/>
              </a:ext>
            </a:extLst>
          </p:cNvPr>
          <p:cNvSpPr>
            <a:spLocks xmlns:a="http://schemas.openxmlformats.org/drawingml/2006/main" noGrp="1"/>
          </p:cNvSpPr>
          <p:nvPr/>
        </p:nvSpPr>
        <p:spPr>
          <a:xfrm xmlns:a="http://schemas.openxmlformats.org/drawingml/2006/main">
            <a:off x="666750" y="1943100"/>
            <a:ext cx="76200" cy="647700"/>
          </a:xfrm>
          <a:prstGeom xmlns:a="http://schemas.openxmlformats.org/drawingml/2006/main" prst="roundRect">
            <a:avLst>
              <a:gd name="adj" fmla="val 50000"/>
            </a:avLst>
          </a:prstGeom>
          <a:solidFill xmlns:a="http://schemas.openxmlformats.org/drawingml/2006/main">
            <a:srgbClr val="4DE3D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A1399E3-0AF2-4919-83AD-48C5BC7559C7}"/>
              </a:ext>
            </a:extLst>
          </p:cNvPr>
          <p:cNvSpPr>
            <a:spLocks xmlns:a="http://schemas.openxmlformats.org/drawingml/2006/main" noGrp="1"/>
          </p:cNvSpPr>
          <p:nvPr/>
        </p:nvSpPr>
        <p:spPr>
          <a:xfrm xmlns:a="http://schemas.openxmlformats.org/drawingml/2006/main">
            <a:off x="904875" y="2019300"/>
            <a:ext cx="161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1">
                <a:solidFill>
                  <a:srgbClr val="4DE3D1"/>
                </a:solidFill>
                <a:latin typeface="Arial Unicode MS"/>
                <a:ea typeface="Arial Unicode MS"/>
                <a:cs typeface="Arial Unicode MS"/>
              </a:defRPr>
            </a:defPPr>
          </a:lstStyle>
          <a:p xmlns:a="http://schemas.openxmlformats.org/drawingml/2006/main">
            <a:pPr algn="l">
              <a:defRPr sz="1500" b="1">
                <a:solidFill>
                  <a:srgbClr val="4DE3D1"/>
                </a:solidFill>
                <a:latin typeface="Arial Unicode MS"/>
                <a:ea typeface="Arial Unicode MS"/>
                <a:cs typeface="Arial Unicode MS"/>
              </a:defRPr>
            </a:pPr>
            <a:r>
              <a:rPr sz="1500" b="1">
                <a:solidFill>
                  <a:srgbClr val="4DE3D1"/>
                </a:solidFill>
                <a:latin typeface="Arial Unicode MS"/>
                <a:ea typeface="Arial Unicode MS"/>
                <a:cs typeface="Arial Unicode MS"/>
              </a:rPr>
              <a:t>增加质押</a:t>
            </a:r>
          </a:p>
        </p:txBody>
      </p:sp>
      <p:sp>
        <p:nvSpPr>
          <p:cNvPr id="12" name="">
            <a:extLst xmlns:a="http://schemas.openxmlformats.org/drawingml/2006/main">
              <a:ext uri="{FF2B5EF4-FFF2-40B4-BE49-F238E27FC236}">
                <a16:creationId xmlns:a16="http://schemas.microsoft.com/office/drawing/2014/main" id="{4D904252-E2E1-4B6D-9A10-A7D5FBB91D8D}"/>
              </a:ext>
            </a:extLst>
          </p:cNvPr>
          <p:cNvSpPr>
            <a:spLocks xmlns:a="http://schemas.openxmlformats.org/drawingml/2006/main" noGrp="1"/>
          </p:cNvSpPr>
          <p:nvPr/>
        </p:nvSpPr>
        <p:spPr>
          <a:xfrm xmlns:a="http://schemas.openxmlformats.org/drawingml/2006/main">
            <a:off x="2714625" y="2019300"/>
            <a:ext cx="309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先按旧权重结算</a:t>
            </a:r>
          </a:p>
        </p:txBody>
      </p:sp>
      <p:sp>
        <p:nvSpPr>
          <p:cNvPr id="13" name="">
            <a:extLst xmlns:a="http://schemas.openxmlformats.org/drawingml/2006/main">
              <a:ext uri="{FF2B5EF4-FFF2-40B4-BE49-F238E27FC236}">
                <a16:creationId xmlns:a16="http://schemas.microsoft.com/office/drawing/2014/main" id="{7402E4D4-19EA-42F0-BF0C-3A3216C8674A}"/>
              </a:ext>
            </a:extLst>
          </p:cNvPr>
          <p:cNvSpPr>
            <a:spLocks xmlns:a="http://schemas.openxmlformats.org/drawingml/2006/main" noGrp="1"/>
          </p:cNvSpPr>
          <p:nvPr/>
        </p:nvSpPr>
        <p:spPr>
          <a:xfrm xmlns:a="http://schemas.openxmlformats.org/drawingml/2006/main">
            <a:off x="6096000" y="2019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铸造 GLON，按新总量重新平均分票</a:t>
            </a:r>
          </a:p>
        </p:txBody>
      </p:sp>
      <p:sp>
        <p:nvSpPr>
          <p:cNvPr id="14" name="">
            <a:extLst xmlns:a="http://schemas.openxmlformats.org/drawingml/2006/main">
              <a:ext uri="{FF2B5EF4-FFF2-40B4-BE49-F238E27FC236}">
                <a16:creationId xmlns:a16="http://schemas.microsoft.com/office/drawing/2014/main" id="{3C2F7127-FD90-4D1E-B2D2-40EEDD687FA1}"/>
              </a:ext>
            </a:extLst>
          </p:cNvPr>
          <p:cNvSpPr>
            <a:spLocks xmlns:a="http://schemas.openxmlformats.org/drawingml/2006/main" noGrp="1"/>
          </p:cNvSpPr>
          <p:nvPr/>
        </p:nvSpPr>
        <p:spPr>
          <a:xfrm xmlns:a="http://schemas.openxmlformats.org/drawingml/2006/main">
            <a:off x="666750" y="2762250"/>
            <a:ext cx="10477500" cy="647700"/>
          </a:xfrm>
          <a:prstGeom xmlns:a="http://schemas.openxmlformats.org/drawingml/2006/main" prst="roundRect">
            <a:avLst>
              <a:gd name="adj" fmla="val 11765"/>
            </a:avLst>
          </a:prstGeom>
          <a:solidFill xmlns:a="http://schemas.openxmlformats.org/drawingml/2006/main">
            <a:srgbClr val="0B20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C7EFB16-2BAC-4B96-B9C3-FEC6A6376222}"/>
              </a:ext>
            </a:extLst>
          </p:cNvPr>
          <p:cNvSpPr>
            <a:spLocks xmlns:a="http://schemas.openxmlformats.org/drawingml/2006/main" noGrp="1"/>
          </p:cNvSpPr>
          <p:nvPr/>
        </p:nvSpPr>
        <p:spPr>
          <a:xfrm xmlns:a="http://schemas.openxmlformats.org/drawingml/2006/main">
            <a:off x="666750" y="2762250"/>
            <a:ext cx="76200" cy="647700"/>
          </a:xfrm>
          <a:prstGeom xmlns:a="http://schemas.openxmlformats.org/drawingml/2006/main" prst="roundRect">
            <a:avLst>
              <a:gd name="adj" fmla="val 50000"/>
            </a:avLst>
          </a:prstGeom>
          <a:solidFill xmlns:a="http://schemas.openxmlformats.org/drawingml/2006/main">
            <a:srgbClr val="F1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F06C2A7-B7A7-4161-A2C4-F51CC595F7AD}"/>
              </a:ext>
            </a:extLst>
          </p:cNvPr>
          <p:cNvSpPr>
            <a:spLocks xmlns:a="http://schemas.openxmlformats.org/drawingml/2006/main" noGrp="1"/>
          </p:cNvSpPr>
          <p:nvPr/>
        </p:nvSpPr>
        <p:spPr>
          <a:xfrm xmlns:a="http://schemas.openxmlformats.org/drawingml/2006/main">
            <a:off x="904875" y="2838450"/>
            <a:ext cx="161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1">
                <a:solidFill>
                  <a:srgbClr val="F1B84B"/>
                </a:solidFill>
                <a:latin typeface="Arial Unicode MS"/>
                <a:ea typeface="Arial Unicode MS"/>
                <a:cs typeface="Arial Unicode MS"/>
              </a:defRPr>
            </a:defPPr>
          </a:lstStyle>
          <a:p xmlns:a="http://schemas.openxmlformats.org/drawingml/2006/main">
            <a:pPr algn="l">
              <a:defRPr sz="1500" b="1">
                <a:solidFill>
                  <a:srgbClr val="F1B84B"/>
                </a:solidFill>
                <a:latin typeface="Arial Unicode MS"/>
                <a:ea typeface="Arial Unicode MS"/>
                <a:cs typeface="Arial Unicode MS"/>
              </a:defRPr>
            </a:pPr>
            <a:r>
              <a:rPr sz="1500" b="1">
                <a:solidFill>
                  <a:srgbClr val="F1B84B"/>
                </a:solidFill>
                <a:latin typeface="Arial Unicode MS"/>
                <a:ea typeface="Arial Unicode MS"/>
                <a:cs typeface="Arial Unicode MS"/>
              </a:rPr>
              <a:t>更换 BP</a:t>
            </a:r>
          </a:p>
        </p:txBody>
      </p:sp>
      <p:sp>
        <p:nvSpPr>
          <p:cNvPr id="17" name="">
            <a:extLst xmlns:a="http://schemas.openxmlformats.org/drawingml/2006/main">
              <a:ext uri="{FF2B5EF4-FFF2-40B4-BE49-F238E27FC236}">
                <a16:creationId xmlns:a16="http://schemas.microsoft.com/office/drawing/2014/main" id="{0C90E108-E914-4C46-B3AC-B8D5DD15DCF7}"/>
              </a:ext>
            </a:extLst>
          </p:cNvPr>
          <p:cNvSpPr>
            <a:spLocks xmlns:a="http://schemas.openxmlformats.org/drawingml/2006/main" noGrp="1"/>
          </p:cNvSpPr>
          <p:nvPr/>
        </p:nvSpPr>
        <p:spPr>
          <a:xfrm xmlns:a="http://schemas.openxmlformats.org/drawingml/2006/main">
            <a:off x="2714625" y="2838450"/>
            <a:ext cx="309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移除 BP 结清旧奖励</a:t>
            </a:r>
          </a:p>
        </p:txBody>
      </p:sp>
      <p:sp>
        <p:nvSpPr>
          <p:cNvPr id="18" name="">
            <a:extLst xmlns:a="http://schemas.openxmlformats.org/drawingml/2006/main">
              <a:ext uri="{FF2B5EF4-FFF2-40B4-BE49-F238E27FC236}">
                <a16:creationId xmlns:a16="http://schemas.microsoft.com/office/drawing/2014/main" id="{C0AEB828-2FAE-46EF-B053-C210F7C4A17F}"/>
              </a:ext>
            </a:extLst>
          </p:cNvPr>
          <p:cNvSpPr>
            <a:spLocks xmlns:a="http://schemas.openxmlformats.org/drawingml/2006/main" noGrp="1"/>
          </p:cNvSpPr>
          <p:nvPr/>
        </p:nvSpPr>
        <p:spPr>
          <a:xfrm xmlns:a="http://schemas.openxmlformats.org/drawingml/2006/main">
            <a:off x="6096000" y="28384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保留 BP 调整权重；新增 BP 从当前指数开始</a:t>
            </a:r>
          </a:p>
        </p:txBody>
      </p:sp>
      <p:sp>
        <p:nvSpPr>
          <p:cNvPr id="19" name="">
            <a:extLst xmlns:a="http://schemas.openxmlformats.org/drawingml/2006/main">
              <a:ext uri="{FF2B5EF4-FFF2-40B4-BE49-F238E27FC236}">
                <a16:creationId xmlns:a16="http://schemas.microsoft.com/office/drawing/2014/main" id="{A6C22DEA-9182-4D91-84D5-FCAF669D15C1}"/>
              </a:ext>
            </a:extLst>
          </p:cNvPr>
          <p:cNvSpPr>
            <a:spLocks xmlns:a="http://schemas.openxmlformats.org/drawingml/2006/main" noGrp="1"/>
          </p:cNvSpPr>
          <p:nvPr/>
        </p:nvSpPr>
        <p:spPr>
          <a:xfrm xmlns:a="http://schemas.openxmlformats.org/drawingml/2006/main">
            <a:off x="666750" y="3581400"/>
            <a:ext cx="10477500" cy="647700"/>
          </a:xfrm>
          <a:prstGeom xmlns:a="http://schemas.openxmlformats.org/drawingml/2006/main" prst="roundRect">
            <a:avLst>
              <a:gd name="adj" fmla="val 11765"/>
            </a:avLst>
          </a:prstGeom>
          <a:solidFill xmlns:a="http://schemas.openxmlformats.org/drawingml/2006/main">
            <a:srgbClr val="0B203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066185E-36C8-4013-B4F5-7690CA701877}"/>
              </a:ext>
            </a:extLst>
          </p:cNvPr>
          <p:cNvSpPr>
            <a:spLocks xmlns:a="http://schemas.openxmlformats.org/drawingml/2006/main" noGrp="1"/>
          </p:cNvSpPr>
          <p:nvPr/>
        </p:nvSpPr>
        <p:spPr>
          <a:xfrm xmlns:a="http://schemas.openxmlformats.org/drawingml/2006/main">
            <a:off x="666750" y="3581400"/>
            <a:ext cx="76200" cy="647700"/>
          </a:xfrm>
          <a:prstGeom xmlns:a="http://schemas.openxmlformats.org/drawingml/2006/main" prst="roundRect">
            <a:avLst>
              <a:gd name="adj" fmla="val 50000"/>
            </a:avLst>
          </a:prstGeom>
          <a:solidFill xmlns:a="http://schemas.openxmlformats.org/drawingml/2006/main">
            <a:srgbClr val="FF7A6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A3A8FC3-D7F6-4528-BCFB-DC5A1D91B95D}"/>
              </a:ext>
            </a:extLst>
          </p:cNvPr>
          <p:cNvSpPr>
            <a:spLocks xmlns:a="http://schemas.openxmlformats.org/drawingml/2006/main" noGrp="1"/>
          </p:cNvSpPr>
          <p:nvPr/>
        </p:nvSpPr>
        <p:spPr>
          <a:xfrm xmlns:a="http://schemas.openxmlformats.org/drawingml/2006/main">
            <a:off x="904875" y="3657600"/>
            <a:ext cx="161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1">
                <a:solidFill>
                  <a:srgbClr val="FF7A6E"/>
                </a:solidFill>
                <a:latin typeface="Arial Unicode MS"/>
                <a:ea typeface="Arial Unicode MS"/>
                <a:cs typeface="Arial Unicode MS"/>
              </a:defRPr>
            </a:defPPr>
          </a:lstStyle>
          <a:p xmlns:a="http://schemas.openxmlformats.org/drawingml/2006/main">
            <a:pPr algn="l">
              <a:defRPr sz="1500" b="1">
                <a:solidFill>
                  <a:srgbClr val="FF7A6E"/>
                </a:solidFill>
                <a:latin typeface="Arial Unicode MS"/>
                <a:ea typeface="Arial Unicode MS"/>
                <a:cs typeface="Arial Unicode MS"/>
              </a:defRPr>
            </a:pPr>
            <a:r>
              <a:rPr sz="1500" b="1">
                <a:solidFill>
                  <a:srgbClr val="FF7A6E"/>
                </a:solidFill>
                <a:latin typeface="Arial Unicode MS"/>
                <a:ea typeface="Arial Unicode MS"/>
                <a:cs typeface="Arial Unicode MS"/>
              </a:rPr>
              <a:t>部分撤票</a:t>
            </a:r>
          </a:p>
        </p:txBody>
      </p:sp>
      <p:sp>
        <p:nvSpPr>
          <p:cNvPr id="22" name="">
            <a:extLst xmlns:a="http://schemas.openxmlformats.org/drawingml/2006/main">
              <a:ext uri="{FF2B5EF4-FFF2-40B4-BE49-F238E27FC236}">
                <a16:creationId xmlns:a16="http://schemas.microsoft.com/office/drawing/2014/main" id="{E1649F19-C429-433E-B8D0-7F75719A60D0}"/>
              </a:ext>
            </a:extLst>
          </p:cNvPr>
          <p:cNvSpPr>
            <a:spLocks xmlns:a="http://schemas.openxmlformats.org/drawingml/2006/main" noGrp="1"/>
          </p:cNvSpPr>
          <p:nvPr/>
        </p:nvSpPr>
        <p:spPr>
          <a:xfrm xmlns:a="http://schemas.openxmlformats.org/drawingml/2006/main">
            <a:off x="2714625" y="3657600"/>
            <a:ext cx="309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先按撤票前权重结算</a:t>
            </a:r>
          </a:p>
        </p:txBody>
      </p:sp>
      <p:sp>
        <p:nvSpPr>
          <p:cNvPr id="23" name="">
            <a:extLst xmlns:a="http://schemas.openxmlformats.org/drawingml/2006/main">
              <a:ext uri="{FF2B5EF4-FFF2-40B4-BE49-F238E27FC236}">
                <a16:creationId xmlns:a16="http://schemas.microsoft.com/office/drawing/2014/main" id="{F2411D24-0879-4AB5-AD68-60D01F37752D}"/>
              </a:ext>
            </a:extLst>
          </p:cNvPr>
          <p:cNvSpPr>
            <a:spLocks xmlns:a="http://schemas.openxmlformats.org/drawingml/2006/main" noGrp="1"/>
          </p:cNvSpPr>
          <p:nvPr/>
        </p:nvSpPr>
        <p:spPr>
          <a:xfrm xmlns:a="http://schemas.openxmlformats.org/drawingml/2006/main">
            <a:off x="6096000" y="36576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销毁 GLON，后续奖励按剩余权重计算</a:t>
            </a:r>
          </a:p>
        </p:txBody>
      </p:sp>
      <p:sp>
        <p:nvSpPr>
          <p:cNvPr id="24" name="">
            <a:extLst xmlns:a="http://schemas.openxmlformats.org/drawingml/2006/main">
              <a:ext uri="{FF2B5EF4-FFF2-40B4-BE49-F238E27FC236}">
                <a16:creationId xmlns:a16="http://schemas.microsoft.com/office/drawing/2014/main" id="{BF2D14AC-590B-4169-8A8F-EC385BE7705E}"/>
              </a:ext>
            </a:extLst>
          </p:cNvPr>
          <p:cNvSpPr>
            <a:spLocks xmlns:a="http://schemas.openxmlformats.org/drawingml/2006/main" noGrp="1"/>
          </p:cNvSpPr>
          <p:nvPr/>
        </p:nvSpPr>
        <p:spPr>
          <a:xfrm xmlns:a="http://schemas.openxmlformats.org/drawingml/2006/main">
            <a:off x="666750" y="4400550"/>
            <a:ext cx="10477500" cy="647700"/>
          </a:xfrm>
          <a:prstGeom xmlns:a="http://schemas.openxmlformats.org/drawingml/2006/main" prst="roundRect">
            <a:avLst>
              <a:gd name="adj" fmla="val 11765"/>
            </a:avLst>
          </a:prstGeom>
          <a:solidFill xmlns:a="http://schemas.openxmlformats.org/drawingml/2006/main">
            <a:srgbClr val="0B203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5434EC1-2A45-430B-BE1D-77AA87FC0B78}"/>
              </a:ext>
            </a:extLst>
          </p:cNvPr>
          <p:cNvSpPr>
            <a:spLocks xmlns:a="http://schemas.openxmlformats.org/drawingml/2006/main" noGrp="1"/>
          </p:cNvSpPr>
          <p:nvPr/>
        </p:nvSpPr>
        <p:spPr>
          <a:xfrm xmlns:a="http://schemas.openxmlformats.org/drawingml/2006/main">
            <a:off x="666750" y="4400550"/>
            <a:ext cx="76200" cy="647700"/>
          </a:xfrm>
          <a:prstGeom xmlns:a="http://schemas.openxmlformats.org/drawingml/2006/main" prst="roundRect">
            <a:avLst>
              <a:gd name="adj" fmla="val 50000"/>
            </a:avLst>
          </a:prstGeom>
          <a:solidFill xmlns:a="http://schemas.openxmlformats.org/drawingml/2006/main">
            <a:srgbClr val="FF7A6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B8642E3-0B9E-49D0-BEB4-95353029FC36}"/>
              </a:ext>
            </a:extLst>
          </p:cNvPr>
          <p:cNvSpPr>
            <a:spLocks xmlns:a="http://schemas.openxmlformats.org/drawingml/2006/main" noGrp="1"/>
          </p:cNvSpPr>
          <p:nvPr/>
        </p:nvSpPr>
        <p:spPr>
          <a:xfrm xmlns:a="http://schemas.openxmlformats.org/drawingml/2006/main">
            <a:off x="904875" y="4476750"/>
            <a:ext cx="161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1">
                <a:solidFill>
                  <a:srgbClr val="FF7A6E"/>
                </a:solidFill>
                <a:latin typeface="Arial Unicode MS"/>
                <a:ea typeface="Arial Unicode MS"/>
                <a:cs typeface="Arial Unicode MS"/>
              </a:defRPr>
            </a:defPPr>
          </a:lstStyle>
          <a:p xmlns:a="http://schemas.openxmlformats.org/drawingml/2006/main">
            <a:pPr algn="l">
              <a:defRPr sz="1500" b="1">
                <a:solidFill>
                  <a:srgbClr val="FF7A6E"/>
                </a:solidFill>
                <a:latin typeface="Arial Unicode MS"/>
                <a:ea typeface="Arial Unicode MS"/>
                <a:cs typeface="Arial Unicode MS"/>
              </a:defRPr>
            </a:pPr>
            <a:r>
              <a:rPr sz="1500" b="1">
                <a:solidFill>
                  <a:srgbClr val="FF7A6E"/>
                </a:solidFill>
                <a:latin typeface="Arial Unicode MS"/>
                <a:ea typeface="Arial Unicode MS"/>
                <a:cs typeface="Arial Unicode MS"/>
              </a:rPr>
              <a:t>全部撤票</a:t>
            </a:r>
          </a:p>
        </p:txBody>
      </p:sp>
      <p:sp>
        <p:nvSpPr>
          <p:cNvPr id="27" name="">
            <a:extLst xmlns:a="http://schemas.openxmlformats.org/drawingml/2006/main">
              <a:ext uri="{FF2B5EF4-FFF2-40B4-BE49-F238E27FC236}">
                <a16:creationId xmlns:a16="http://schemas.microsoft.com/office/drawing/2014/main" id="{CD9F0147-7BD2-4209-AFC2-F8B6C5CD40CD}"/>
              </a:ext>
            </a:extLst>
          </p:cNvPr>
          <p:cNvSpPr>
            <a:spLocks xmlns:a="http://schemas.openxmlformats.org/drawingml/2006/main" noGrp="1"/>
          </p:cNvSpPr>
          <p:nvPr/>
        </p:nvSpPr>
        <p:spPr>
          <a:xfrm xmlns:a="http://schemas.openxmlformats.org/drawingml/2006/main">
            <a:off x="2714625" y="4476750"/>
            <a:ext cx="309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结清已入池奖励</a:t>
            </a:r>
          </a:p>
        </p:txBody>
      </p:sp>
      <p:sp>
        <p:nvSpPr>
          <p:cNvPr id="28" name="">
            <a:extLst xmlns:a="http://schemas.openxmlformats.org/drawingml/2006/main">
              <a:ext uri="{FF2B5EF4-FFF2-40B4-BE49-F238E27FC236}">
                <a16:creationId xmlns:a16="http://schemas.microsoft.com/office/drawing/2014/main" id="{1165A6F4-2BBD-4BC3-B5D3-9432C2669077}"/>
              </a:ext>
            </a:extLst>
          </p:cNvPr>
          <p:cNvSpPr>
            <a:spLocks xmlns:a="http://schemas.openxmlformats.org/drawingml/2006/main" noGrp="1"/>
          </p:cNvSpPr>
          <p:nvPr/>
        </p:nvSpPr>
        <p:spPr>
          <a:xfrm xmlns:a="http://schemas.openxmlformats.org/drawingml/2006/main">
            <a:off x="6096000" y="44767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票权立即归零；FLON 进入退款冷却期</a:t>
            </a:r>
          </a:p>
        </p:txBody>
      </p:sp>
      <p:sp>
        <p:nvSpPr>
          <p:cNvPr id="29" name="">
            <a:extLst xmlns:a="http://schemas.openxmlformats.org/drawingml/2006/main">
              <a:ext uri="{FF2B5EF4-FFF2-40B4-BE49-F238E27FC236}">
                <a16:creationId xmlns:a16="http://schemas.microsoft.com/office/drawing/2014/main" id="{0F52DE81-AA53-49AB-BEF1-0AEB978C53F9}"/>
              </a:ext>
            </a:extLst>
          </p:cNvPr>
          <p:cNvSpPr>
            <a:spLocks xmlns:a="http://schemas.openxmlformats.org/drawingml/2006/main" noGrp="1"/>
          </p:cNvSpPr>
          <p:nvPr/>
        </p:nvSpPr>
        <p:spPr>
          <a:xfrm xmlns:a="http://schemas.openxmlformats.org/drawingml/2006/main">
            <a:off x="666750" y="5429250"/>
            <a:ext cx="10477500" cy="628650"/>
          </a:xfrm>
          <a:prstGeom xmlns:a="http://schemas.openxmlformats.org/drawingml/2006/main" prst="roundRect">
            <a:avLst>
              <a:gd name="adj" fmla="val 12121"/>
            </a:avLst>
          </a:prstGeom>
          <a:solidFill xmlns:a="http://schemas.openxmlformats.org/drawingml/2006/main">
            <a:srgbClr val="176B8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93D625C-6829-4D02-B867-1A61187F203B}"/>
              </a:ext>
            </a:extLst>
          </p:cNvPr>
          <p:cNvSpPr>
            <a:spLocks xmlns:a="http://schemas.openxmlformats.org/drawingml/2006/main" noGrp="1"/>
          </p:cNvSpPr>
          <p:nvPr/>
        </p:nvSpPr>
        <p:spPr>
          <a:xfrm xmlns:a="http://schemas.openxmlformats.org/drawingml/2006/main">
            <a:off x="876300" y="5524500"/>
            <a:ext cx="10048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425" b="1">
                <a:solidFill>
                  <a:srgbClr val="F7FBFF"/>
                </a:solidFill>
                <a:latin typeface="Arial Unicode MS"/>
                <a:ea typeface="Arial Unicode MS"/>
                <a:cs typeface="Arial Unicode MS"/>
              </a:defRPr>
            </a:defPPr>
          </a:lstStyle>
          <a:p xmlns:a="http://schemas.openxmlformats.org/drawingml/2006/main">
            <a:pPr algn="ctr">
              <a:defRPr sz="1425" b="1">
                <a:solidFill>
                  <a:srgbClr val="F7FBFF"/>
                </a:solidFill>
                <a:latin typeface="Arial Unicode MS"/>
                <a:ea typeface="Arial Unicode MS"/>
                <a:cs typeface="Arial Unicode MS"/>
              </a:defRPr>
            </a:pPr>
            <a:r>
              <a:rPr sz="1425" b="1">
                <a:solidFill>
                  <a:srgbClr val="F7FBFF"/>
                </a:solidFill>
                <a:latin typeface="Arial Unicode MS"/>
                <a:ea typeface="Arial Unicode MS"/>
                <a:cs typeface="Arial Unicode MS"/>
              </a:rPr>
              <a:t>检查点保证已经进入 voter.reward 的奖励归旧权重；新增票权只分享后续入池奖励。</a:t>
            </a:r>
          </a:p>
        </p:txBody>
      </p:sp>
    </p:spTree>
    <p:extLst>
      <p:ext uri="{BB962C8B-B14F-4D97-AF65-F5344CB8AC3E}">
        <p14:creationId xmlns:p14="http://schemas.microsoft.com/office/powerpoint/2010/main" val="72778103"/>
      </p:ext>
    </p:extLst>
  </p:cSld>
</p:sld>
</file>

<file path=ppt/slides/slide15.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12D29EE-8E1B-46F0-B3E2-4700C003E21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F45B96-2923-49BF-B398-D540CC2B7A1F}"/>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14 奖励结算</a:t>
            </a:r>
          </a:p>
        </p:txBody>
      </p:sp>
      <p:sp>
        <p:nvSpPr>
          <p:cNvPr id="3" name="">
            <a:extLst xmlns:a="http://schemas.openxmlformats.org/drawingml/2006/main">
              <a:ext uri="{FF2B5EF4-FFF2-40B4-BE49-F238E27FC236}">
                <a16:creationId xmlns:a16="http://schemas.microsoft.com/office/drawing/2014/main" id="{5151429B-060E-4FB4-876B-D68D04977A09}"/>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当前领取时点偏差与改进</a:t>
            </a:r>
          </a:p>
        </p:txBody>
      </p:sp>
      <p:sp>
        <p:nvSpPr>
          <p:cNvPr id="4" name="">
            <a:extLst xmlns:a="http://schemas.openxmlformats.org/drawingml/2006/main">
              <a:ext uri="{FF2B5EF4-FFF2-40B4-BE49-F238E27FC236}">
                <a16:creationId xmlns:a16="http://schemas.microsoft.com/office/drawing/2014/main" id="{8EBA8DE4-93DC-4D61-9ADB-F458E226B224}"/>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164FFF7-4CEE-4EF6-ABE9-75646E24AA7D}"/>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15</a:t>
            </a:r>
          </a:p>
        </p:txBody>
      </p:sp>
      <p:sp>
        <p:nvSpPr>
          <p:cNvPr id="6" name="">
            <a:extLst xmlns:a="http://schemas.openxmlformats.org/drawingml/2006/main">
              <a:ext uri="{FF2B5EF4-FFF2-40B4-BE49-F238E27FC236}">
                <a16:creationId xmlns:a16="http://schemas.microsoft.com/office/drawing/2014/main" id="{18EA5781-5210-47B3-9165-878B45DB8DCA}"/>
              </a:ext>
            </a:extLst>
          </p:cNvPr>
          <p:cNvSpPr>
            <a:spLocks xmlns:a="http://schemas.openxmlformats.org/drawingml/2006/main" noGrp="1"/>
          </p:cNvSpPr>
          <p:nvPr/>
        </p:nvSpPr>
        <p:spPr>
          <a:xfrm xmlns:a="http://schemas.openxmlformats.org/drawingml/2006/main">
            <a:off x="666750" y="15811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950" b="1">
                <a:solidFill>
                  <a:srgbClr val="FF7A6E"/>
                </a:solidFill>
                <a:latin typeface="Arial Unicode MS"/>
                <a:ea typeface="Arial Unicode MS"/>
                <a:cs typeface="Arial Unicode MS"/>
              </a:defRPr>
            </a:defPPr>
          </a:lstStyle>
          <a:p xmlns:a="http://schemas.openxmlformats.org/drawingml/2006/main">
            <a:pPr algn="l">
              <a:defRPr sz="1950" b="1">
                <a:solidFill>
                  <a:srgbClr val="FF7A6E"/>
                </a:solidFill>
                <a:latin typeface="Arial Unicode MS"/>
                <a:ea typeface="Arial Unicode MS"/>
                <a:cs typeface="Arial Unicode MS"/>
              </a:defRPr>
            </a:pPr>
            <a:r>
              <a:rPr sz="1950" b="1">
                <a:solidFill>
                  <a:srgbClr val="FF7A6E"/>
                </a:solidFill>
                <a:latin typeface="Arial Unicode MS"/>
                <a:ea typeface="Arial Unicode MS"/>
                <a:cs typeface="Arial Unicode MS"/>
              </a:rPr>
              <a:t>当前代码</a:t>
            </a:r>
          </a:p>
        </p:txBody>
      </p:sp>
      <p:sp>
        <p:nvSpPr>
          <p:cNvPr id="7" name="">
            <a:extLst xmlns:a="http://schemas.openxmlformats.org/drawingml/2006/main">
              <a:ext uri="{FF2B5EF4-FFF2-40B4-BE49-F238E27FC236}">
                <a16:creationId xmlns:a16="http://schemas.microsoft.com/office/drawing/2014/main" id="{A837DCEF-FB3F-4387-8FEE-37DE40B40CF7}"/>
              </a:ext>
            </a:extLst>
          </p:cNvPr>
          <p:cNvSpPr>
            <a:spLocks xmlns:a="http://schemas.openxmlformats.org/drawingml/2006/main" noGrp="1"/>
          </p:cNvSpPr>
          <p:nvPr/>
        </p:nvSpPr>
        <p:spPr>
          <a:xfrm xmlns:a="http://schemas.openxmlformats.org/drawingml/2006/main">
            <a:off x="6667500" y="15811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950" b="1">
                <a:solidFill>
                  <a:srgbClr val="4DE3D1"/>
                </a:solidFill>
                <a:latin typeface="Arial Unicode MS"/>
                <a:ea typeface="Arial Unicode MS"/>
                <a:cs typeface="Arial Unicode MS"/>
              </a:defRPr>
            </a:defPPr>
          </a:lstStyle>
          <a:p xmlns:a="http://schemas.openxmlformats.org/drawingml/2006/main">
            <a:pPr algn="l">
              <a:defRPr sz="1950" b="1">
                <a:solidFill>
                  <a:srgbClr val="4DE3D1"/>
                </a:solidFill>
                <a:latin typeface="Arial Unicode MS"/>
                <a:ea typeface="Arial Unicode MS"/>
                <a:cs typeface="Arial Unicode MS"/>
              </a:defRPr>
            </a:pPr>
            <a:r>
              <a:rPr sz="1950" b="1">
                <a:solidFill>
                  <a:srgbClr val="4DE3D1"/>
                </a:solidFill>
                <a:latin typeface="Arial Unicode MS"/>
                <a:ea typeface="Arial Unicode MS"/>
                <a:cs typeface="Arial Unicode MS"/>
              </a:rPr>
              <a:t>目标方案</a:t>
            </a:r>
          </a:p>
        </p:txBody>
      </p:sp>
      <p:sp>
        <p:nvSpPr>
          <p:cNvPr id="8" name="">
            <a:extLst xmlns:a="http://schemas.openxmlformats.org/drawingml/2006/main">
              <a:ext uri="{FF2B5EF4-FFF2-40B4-BE49-F238E27FC236}">
                <a16:creationId xmlns:a16="http://schemas.microsoft.com/office/drawing/2014/main" id="{7DE52205-C0F9-4831-9878-3049E9AE0669}"/>
              </a:ext>
            </a:extLst>
          </p:cNvPr>
          <p:cNvSpPr>
            <a:spLocks xmlns:a="http://schemas.openxmlformats.org/drawingml/2006/main" noGrp="1"/>
          </p:cNvSpPr>
          <p:nvPr/>
        </p:nvSpPr>
        <p:spPr>
          <a:xfrm xmlns:a="http://schemas.openxmlformats.org/drawingml/2006/main">
            <a:off x="666750" y="2095500"/>
            <a:ext cx="4476750" cy="2571750"/>
          </a:xfrm>
          <a:prstGeom xmlns:a="http://schemas.openxmlformats.org/drawingml/2006/main" prst="roundRect">
            <a:avLst>
              <a:gd name="adj" fmla="val 2963"/>
            </a:avLst>
          </a:prstGeom>
          <a:solidFill xmlns:a="http://schemas.openxmlformats.org/drawingml/2006/main">
            <a:srgbClr val="0B2035"/>
          </a:solidFill>
          <a:ln xmlns:a="http://schemas.openxmlformats.org/drawingml/2006/main" w="9525">
            <a:solidFill>
              <a:srgbClr val="FF7A6E"/>
            </a:solidFill>
            <a:prstDash val="solid"/>
          </a:ln>
        </p:spPr>
      </p:sp>
      <p:sp>
        <p:nvSpPr>
          <p:cNvPr id="9" name="">
            <a:extLst xmlns:a="http://schemas.openxmlformats.org/drawingml/2006/main">
              <a:ext uri="{FF2B5EF4-FFF2-40B4-BE49-F238E27FC236}">
                <a16:creationId xmlns:a16="http://schemas.microsoft.com/office/drawing/2014/main" id="{A64E1B8B-94B3-4C67-AAAC-FB8561AC01C8}"/>
              </a:ext>
            </a:extLst>
          </p:cNvPr>
          <p:cNvSpPr>
            <a:spLocks xmlns:a="http://schemas.openxmlformats.org/drawingml/2006/main" noGrp="1"/>
          </p:cNvSpPr>
          <p:nvPr/>
        </p:nvSpPr>
        <p:spPr>
          <a:xfrm xmlns:a="http://schemas.openxmlformats.org/drawingml/2006/main">
            <a:off x="933450" y="2314575"/>
            <a:ext cx="39433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0">
                <a:solidFill>
                  <a:srgbClr val="D7E7F2"/>
                </a:solidFill>
                <a:latin typeface="Arial Unicode MS"/>
                <a:ea typeface="Arial Unicode MS"/>
                <a:cs typeface="Arial Unicode MS"/>
              </a:defRPr>
            </a:defPPr>
          </a:lstStyle>
          <a:p xmlns:a="http://schemas.openxmlformats.org/drawingml/2006/main">
            <a:pPr algn="ctr">
              <a:defRPr sz="1575" b="0">
                <a:solidFill>
                  <a:srgbClr val="D7E7F2"/>
                </a:solidFill>
                <a:latin typeface="Arial Unicode MS"/>
                <a:ea typeface="Arial Unicode MS"/>
                <a:cs typeface="Arial Unicode MS"/>
              </a:defRPr>
            </a:pPr>
            <a:r>
              <a:rPr sz="1575" b="0">
                <a:solidFill>
                  <a:srgbClr val="D7E7F2"/>
                </a:solidFill>
                <a:latin typeface="Arial Unicode MS"/>
                <a:ea typeface="Arial Unicode MS"/>
                <a:cs typeface="Arial Unicode MS"/>
              </a:rPr>
              <a:t>区块奖励先记入 BP 账本</a:t>
            </a:r>
          </a:p>
          <a:p xmlns:a="http://schemas.openxmlformats.org/drawingml/2006/main">
            <a:r>
              <a:t/>
            </a:r>
          </a:p>
          <a:p xmlns:a="http://schemas.openxmlformats.org/drawingml/2006/main">
            <a:pPr algn="ctr">
              <a:defRPr sz="1575" b="0">
                <a:solidFill>
                  <a:srgbClr val="D7E7F2"/>
                </a:solidFill>
                <a:latin typeface="Arial Unicode MS"/>
                <a:ea typeface="Arial Unicode MS"/>
                <a:cs typeface="Arial Unicode MS"/>
              </a:defRPr>
            </a:pPr>
            <a:r>
              <a:rPr sz="1575" b="0">
                <a:solidFill>
                  <a:srgbClr val="D7E7F2"/>
                </a:solidFill>
                <a:latin typeface="Arial Unicode MS"/>
                <a:ea typeface="Arial Unicode MS"/>
                <a:cs typeface="Arial Unicode MS"/>
              </a:rPr>
              <a:t>BP 主动领取时才把 shared 奖励</a:t>
            </a:r>
          </a:p>
          <a:p xmlns:a="http://schemas.openxmlformats.org/drawingml/2006/main">
            <a:pPr algn="ctr">
              <a:defRPr sz="1575" b="0">
                <a:solidFill>
                  <a:srgbClr val="D7E7F2"/>
                </a:solidFill>
                <a:latin typeface="Arial Unicode MS"/>
                <a:ea typeface="Arial Unicode MS"/>
                <a:cs typeface="Arial Unicode MS"/>
              </a:defRPr>
            </a:pPr>
            <a:r>
              <a:rPr sz="1575" b="0">
                <a:solidFill>
                  <a:srgbClr val="D7E7F2"/>
                </a:solidFill>
                <a:latin typeface="Arial Unicode MS"/>
                <a:ea typeface="Arial Unicode MS"/>
                <a:cs typeface="Arial Unicode MS"/>
              </a:rPr>
              <a:t>转入 voter.reward</a:t>
            </a:r>
          </a:p>
          <a:p xmlns:a="http://schemas.openxmlformats.org/drawingml/2006/main">
            <a:r>
              <a:t/>
            </a:r>
          </a:p>
          <a:p xmlns:a="http://schemas.openxmlformats.org/drawingml/2006/main">
            <a:pPr algn="ctr">
              <a:defRPr sz="1575" b="0">
                <a:solidFill>
                  <a:srgbClr val="D7E7F2"/>
                </a:solidFill>
                <a:latin typeface="Arial Unicode MS"/>
                <a:ea typeface="Arial Unicode MS"/>
                <a:cs typeface="Arial Unicode MS"/>
              </a:defRPr>
            </a:pPr>
            <a:r>
              <a:rPr sz="1575" b="0">
                <a:solidFill>
                  <a:srgbClr val="D7E7F2"/>
                </a:solidFill>
                <a:latin typeface="Arial Unicode MS"/>
                <a:ea typeface="Arial Unicode MS"/>
                <a:cs typeface="Arial Unicode MS"/>
              </a:rPr>
              <a:t>分配使用领取时的当前票权</a:t>
            </a:r>
          </a:p>
        </p:txBody>
      </p:sp>
      <p:sp>
        <p:nvSpPr>
          <p:cNvPr id="10" name="">
            <a:extLst xmlns:a="http://schemas.openxmlformats.org/drawingml/2006/main">
              <a:ext uri="{FF2B5EF4-FFF2-40B4-BE49-F238E27FC236}">
                <a16:creationId xmlns:a16="http://schemas.microsoft.com/office/drawing/2014/main" id="{5F02A027-F249-4CAC-A7DD-A73906D00FD0}"/>
              </a:ext>
            </a:extLst>
          </p:cNvPr>
          <p:cNvSpPr>
            <a:spLocks xmlns:a="http://schemas.openxmlformats.org/drawingml/2006/main" noGrp="1"/>
          </p:cNvSpPr>
          <p:nvPr/>
        </p:nvSpPr>
        <p:spPr>
          <a:xfrm xmlns:a="http://schemas.openxmlformats.org/drawingml/2006/main">
            <a:off x="6667500" y="2095500"/>
            <a:ext cx="4476750" cy="2571750"/>
          </a:xfrm>
          <a:prstGeom xmlns:a="http://schemas.openxmlformats.org/drawingml/2006/main" prst="roundRect">
            <a:avLst>
              <a:gd name="adj" fmla="val 2963"/>
            </a:avLst>
          </a:prstGeom>
          <a:solidFill xmlns:a="http://schemas.openxmlformats.org/drawingml/2006/main">
            <a:srgbClr val="0B2035"/>
          </a:solidFill>
          <a:ln xmlns:a="http://schemas.openxmlformats.org/drawingml/2006/main" w="9525">
            <a:solidFill>
              <a:srgbClr val="4DE3D1"/>
            </a:solidFill>
            <a:prstDash val="solid"/>
          </a:ln>
        </p:spPr>
      </p:sp>
      <p:sp>
        <p:nvSpPr>
          <p:cNvPr id="11" name="">
            <a:extLst xmlns:a="http://schemas.openxmlformats.org/drawingml/2006/main">
              <a:ext uri="{FF2B5EF4-FFF2-40B4-BE49-F238E27FC236}">
                <a16:creationId xmlns:a16="http://schemas.microsoft.com/office/drawing/2014/main" id="{E4B08E34-56FA-493C-BAA7-C1CFDFDDCFD9}"/>
              </a:ext>
            </a:extLst>
          </p:cNvPr>
          <p:cNvSpPr>
            <a:spLocks xmlns:a="http://schemas.openxmlformats.org/drawingml/2006/main" noGrp="1"/>
          </p:cNvSpPr>
          <p:nvPr/>
        </p:nvSpPr>
        <p:spPr>
          <a:xfrm xmlns:a="http://schemas.openxmlformats.org/drawingml/2006/main">
            <a:off x="6934200" y="2314575"/>
            <a:ext cx="39433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0">
                <a:solidFill>
                  <a:srgbClr val="D7E7F2"/>
                </a:solidFill>
                <a:latin typeface="Arial Unicode MS"/>
                <a:ea typeface="Arial Unicode MS"/>
                <a:cs typeface="Arial Unicode MS"/>
              </a:defRPr>
            </a:defPPr>
          </a:lstStyle>
          <a:p xmlns:a="http://schemas.openxmlformats.org/drawingml/2006/main">
            <a:pPr algn="ctr">
              <a:defRPr sz="1575" b="0">
                <a:solidFill>
                  <a:srgbClr val="D7E7F2"/>
                </a:solidFill>
                <a:latin typeface="Arial Unicode MS"/>
                <a:ea typeface="Arial Unicode MS"/>
                <a:cs typeface="Arial Unicode MS"/>
              </a:defRPr>
            </a:pPr>
            <a:r>
              <a:rPr sz="1575" b="0">
                <a:solidFill>
                  <a:srgbClr val="D7E7F2"/>
                </a:solidFill>
                <a:latin typeface="Arial Unicode MS"/>
                <a:ea typeface="Arial Unicode MS"/>
                <a:cs typeface="Arial Unicode MS"/>
              </a:rPr>
              <a:t>每个 epoch 固化 BP 奖励</a:t>
            </a:r>
          </a:p>
          <a:p xmlns:a="http://schemas.openxmlformats.org/drawingml/2006/main">
            <a:r>
              <a:t/>
            </a:r>
          </a:p>
          <a:p xmlns:a="http://schemas.openxmlformats.org/drawingml/2006/main">
            <a:pPr algn="ctr">
              <a:defRPr sz="1575" b="0">
                <a:solidFill>
                  <a:srgbClr val="D7E7F2"/>
                </a:solidFill>
                <a:latin typeface="Arial Unicode MS"/>
                <a:ea typeface="Arial Unicode MS"/>
                <a:cs typeface="Arial Unicode MS"/>
              </a:defRPr>
            </a:pPr>
            <a:r>
              <a:rPr sz="1575" b="0">
                <a:solidFill>
                  <a:srgbClr val="D7E7F2"/>
                </a:solidFill>
                <a:latin typeface="Arial Unicode MS"/>
                <a:ea typeface="Arial Unicode MS"/>
                <a:cs typeface="Arial Unicode MS"/>
              </a:rPr>
              <a:t>使用 epoch 票权快照更新</a:t>
            </a:r>
          </a:p>
          <a:p xmlns:a="http://schemas.openxmlformats.org/drawingml/2006/main">
            <a:pPr algn="ctr">
              <a:defRPr sz="1575" b="0">
                <a:solidFill>
                  <a:srgbClr val="D7E7F2"/>
                </a:solidFill>
                <a:latin typeface="Arial Unicode MS"/>
                <a:ea typeface="Arial Unicode MS"/>
                <a:cs typeface="Arial Unicode MS"/>
              </a:defRPr>
            </a:pPr>
            <a:r>
              <a:rPr sz="1575" b="0">
                <a:solidFill>
                  <a:srgbClr val="D7E7F2"/>
                </a:solidFill>
                <a:latin typeface="Arial Unicode MS"/>
                <a:ea typeface="Arial Unicode MS"/>
                <a:cs typeface="Arial Unicode MS"/>
              </a:rPr>
              <a:t>每票奖励指数</a:t>
            </a:r>
          </a:p>
          <a:p xmlns:a="http://schemas.openxmlformats.org/drawingml/2006/main">
            <a:r>
              <a:t/>
            </a:r>
          </a:p>
          <a:p xmlns:a="http://schemas.openxmlformats.org/drawingml/2006/main">
            <a:pPr algn="ctr">
              <a:defRPr sz="1575" b="0">
                <a:solidFill>
                  <a:srgbClr val="D7E7F2"/>
                </a:solidFill>
                <a:latin typeface="Arial Unicode MS"/>
                <a:ea typeface="Arial Unicode MS"/>
                <a:cs typeface="Arial Unicode MS"/>
              </a:defRPr>
            </a:pPr>
            <a:r>
              <a:rPr sz="1575" b="0">
                <a:solidFill>
                  <a:srgbClr val="D7E7F2"/>
                </a:solidFill>
                <a:latin typeface="Arial Unicode MS"/>
                <a:ea typeface="Arial Unicode MS"/>
                <a:cs typeface="Arial Unicode MS"/>
              </a:rPr>
              <a:t>claim 只提现，不决定奖励归属</a:t>
            </a:r>
          </a:p>
        </p:txBody>
      </p:sp>
      <p:sp>
        <p:nvSpPr>
          <p:cNvPr id="12" name="">
            <a:extLst xmlns:a="http://schemas.openxmlformats.org/drawingml/2006/main">
              <a:ext uri="{FF2B5EF4-FFF2-40B4-BE49-F238E27FC236}">
                <a16:creationId xmlns:a16="http://schemas.microsoft.com/office/drawing/2014/main" id="{34189943-B291-4996-BEE3-B430375093DD}"/>
              </a:ext>
            </a:extLst>
          </p:cNvPr>
          <p:cNvSpPr>
            <a:spLocks xmlns:a="http://schemas.openxmlformats.org/drawingml/2006/main" noGrp="1"/>
          </p:cNvSpPr>
          <p:nvPr/>
        </p:nvSpPr>
        <p:spPr>
          <a:xfrm xmlns:a="http://schemas.openxmlformats.org/drawingml/2006/main">
            <a:off x="666750" y="5048250"/>
            <a:ext cx="10477500" cy="742950"/>
          </a:xfrm>
          <a:prstGeom xmlns:a="http://schemas.openxmlformats.org/drawingml/2006/main" prst="roundRect">
            <a:avLst>
              <a:gd name="adj" fmla="val 10256"/>
            </a:avLst>
          </a:prstGeom>
          <a:solidFill xmlns:a="http://schemas.openxmlformats.org/drawingml/2006/main">
            <a:srgbClr val="176B8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453BDAF-7745-4108-A02E-AB65BAA087FC}"/>
              </a:ext>
            </a:extLst>
          </p:cNvPr>
          <p:cNvSpPr>
            <a:spLocks xmlns:a="http://schemas.openxmlformats.org/drawingml/2006/main" noGrp="1"/>
          </p:cNvSpPr>
          <p:nvPr/>
        </p:nvSpPr>
        <p:spPr>
          <a:xfrm xmlns:a="http://schemas.openxmlformats.org/drawingml/2006/main">
            <a:off x="876300" y="5172075"/>
            <a:ext cx="1004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00" b="1">
                <a:solidFill>
                  <a:srgbClr val="F7FBFF"/>
                </a:solidFill>
                <a:latin typeface="Arial Unicode MS"/>
                <a:ea typeface="Arial Unicode MS"/>
                <a:cs typeface="Arial Unicode MS"/>
              </a:defRPr>
            </a:defPPr>
          </a:lstStyle>
          <a:p xmlns:a="http://schemas.openxmlformats.org/drawingml/2006/main">
            <a:pPr algn="ctr">
              <a:defRPr sz="1500" b="1">
                <a:solidFill>
                  <a:srgbClr val="F7FBFF"/>
                </a:solidFill>
                <a:latin typeface="Arial Unicode MS"/>
                <a:ea typeface="Arial Unicode MS"/>
                <a:cs typeface="Arial Unicode MS"/>
              </a:defRPr>
            </a:pPr>
            <a:r>
              <a:rPr sz="1500" b="1">
                <a:solidFill>
                  <a:srgbClr val="F7FBFF"/>
                </a:solidFill>
                <a:latin typeface="Arial Unicode MS"/>
                <a:ea typeface="Arial Unicode MS"/>
                <a:cs typeface="Arial Unicode MS"/>
              </a:rPr>
              <a:t>风险：领取前临时加票可能分享历史奖励；领取前撤票可能失去已贡献期间的奖励。</a:t>
            </a:r>
          </a:p>
        </p:txBody>
      </p:sp>
      <p:sp>
        <p:nvSpPr>
          <p:cNvPr id="14" name="">
            <a:extLst xmlns:a="http://schemas.openxmlformats.org/drawingml/2006/main">
              <a:ext uri="{FF2B5EF4-FFF2-40B4-BE49-F238E27FC236}">
                <a16:creationId xmlns:a16="http://schemas.microsoft.com/office/drawing/2014/main" id="{6E4702B8-234D-4C78-A613-FA62B3632A49}"/>
              </a:ext>
            </a:extLst>
          </p:cNvPr>
          <p:cNvSpPr>
            <a:spLocks xmlns:a="http://schemas.openxmlformats.org/drawingml/2006/main" noGrp="1"/>
          </p:cNvSpPr>
          <p:nvPr/>
        </p:nvSpPr>
        <p:spPr>
          <a:xfrm xmlns:a="http://schemas.openxmlformats.org/drawingml/2006/main">
            <a:off x="666750" y="5953125"/>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F1B84B"/>
                </a:solidFill>
                <a:latin typeface="Arial Unicode MS"/>
                <a:ea typeface="Arial Unicode MS"/>
                <a:cs typeface="Arial Unicode MS"/>
              </a:defRPr>
            </a:defPPr>
          </a:lstStyle>
          <a:p xmlns:a="http://schemas.openxmlformats.org/drawingml/2006/main">
            <a:pPr algn="l">
              <a:defRPr sz="1050" b="0">
                <a:solidFill>
                  <a:srgbClr val="F1B84B"/>
                </a:solidFill>
                <a:latin typeface="Arial Unicode MS"/>
                <a:ea typeface="Arial Unicode MS"/>
                <a:cs typeface="Arial Unicode MS"/>
              </a:defRPr>
            </a:pPr>
            <a:r>
              <a:rPr sz="1050" b="0">
                <a:solidFill>
                  <a:srgbClr val="F1B84B"/>
                </a:solidFill>
                <a:latin typeface="Arial Unicode MS"/>
                <a:ea typeface="Arial Unicode MS"/>
                <a:cs typeface="Arial Unicode MS"/>
              </a:rPr>
              <a:t>FIP-001 应以 epoch 快照结算为规范；累计指数继续负责低成本记账。</a:t>
            </a:r>
          </a:p>
        </p:txBody>
      </p:sp>
    </p:spTree>
    <p:extLst>
      <p:ext uri="{BB962C8B-B14F-4D97-AF65-F5344CB8AC3E}">
        <p14:creationId xmlns:p14="http://schemas.microsoft.com/office/powerpoint/2010/main" val="593730708"/>
      </p:ext>
    </p:extLst>
  </p:cSld>
</p:sld>
</file>

<file path=ppt/slides/slide16.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112DEBAE-FF9F-4CC7-8341-04CCC8C346B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2E0D64D-65D3-4558-8F95-9DB20473D5F8}"/>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15 治理执行</a:t>
            </a:r>
          </a:p>
        </p:txBody>
      </p:sp>
      <p:sp>
        <p:nvSpPr>
          <p:cNvPr id="3" name="">
            <a:extLst xmlns:a="http://schemas.openxmlformats.org/drawingml/2006/main">
              <a:ext uri="{FF2B5EF4-FFF2-40B4-BE49-F238E27FC236}">
                <a16:creationId xmlns:a16="http://schemas.microsoft.com/office/drawing/2014/main" id="{5CE2BD56-C3E0-428B-AD44-C6B32D31E806}"/>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DAO 治理边界</a:t>
            </a:r>
          </a:p>
        </p:txBody>
      </p:sp>
      <p:sp>
        <p:nvSpPr>
          <p:cNvPr id="4" name="">
            <a:extLst xmlns:a="http://schemas.openxmlformats.org/drawingml/2006/main">
              <a:ext uri="{FF2B5EF4-FFF2-40B4-BE49-F238E27FC236}">
                <a16:creationId xmlns:a16="http://schemas.microsoft.com/office/drawing/2014/main" id="{65733D89-FF18-4489-A8A3-021F1DA3C983}"/>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16F7E24-98DD-47C1-9086-16E6E3458A50}"/>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16</a:t>
            </a:r>
          </a:p>
        </p:txBody>
      </p:sp>
      <p:sp>
        <p:nvSpPr>
          <p:cNvPr id="6" name="">
            <a:extLst xmlns:a="http://schemas.openxmlformats.org/drawingml/2006/main">
              <a:ext uri="{FF2B5EF4-FFF2-40B4-BE49-F238E27FC236}">
                <a16:creationId xmlns:a16="http://schemas.microsoft.com/office/drawing/2014/main" id="{2F017046-429C-49DA-B116-46FB78C5E9A7}"/>
              </a:ext>
            </a:extLst>
          </p:cNvPr>
          <p:cNvSpPr>
            <a:spLocks xmlns:a="http://schemas.openxmlformats.org/drawingml/2006/main" noGrp="1"/>
          </p:cNvSpPr>
          <p:nvPr/>
        </p:nvSpPr>
        <p:spPr>
          <a:xfrm xmlns:a="http://schemas.openxmlformats.org/drawingml/2006/main">
            <a:off x="666750" y="1638300"/>
            <a:ext cx="3333750" cy="49530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6BA3583-36E9-4A9C-914C-035D3F2CFDF1}"/>
              </a:ext>
            </a:extLst>
          </p:cNvPr>
          <p:cNvSpPr>
            <a:spLocks xmlns:a="http://schemas.openxmlformats.org/drawingml/2006/main" noGrp="1"/>
          </p:cNvSpPr>
          <p:nvPr/>
        </p:nvSpPr>
        <p:spPr>
          <a:xfrm xmlns:a="http://schemas.openxmlformats.org/drawingml/2006/main">
            <a:off x="762000" y="16954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1">
                <a:solidFill>
                  <a:srgbClr val="F7FBFF"/>
                </a:solidFill>
                <a:latin typeface="Arial Unicode MS"/>
                <a:ea typeface="Arial Unicode MS"/>
                <a:cs typeface="Arial Unicode MS"/>
              </a:defRPr>
            </a:defPPr>
          </a:lstStyle>
          <a:p xmlns:a="http://schemas.openxmlformats.org/drawingml/2006/main">
            <a:pPr algn="ctr">
              <a:defRPr sz="1275" b="1">
                <a:solidFill>
                  <a:srgbClr val="F7FBFF"/>
                </a:solidFill>
                <a:latin typeface="Arial Unicode MS"/>
                <a:ea typeface="Arial Unicode MS"/>
                <a:cs typeface="Arial Unicode MS"/>
              </a:defRPr>
            </a:pPr>
            <a:r>
              <a:rPr sz="1275" b="1">
                <a:solidFill>
                  <a:srgbClr val="F7FBFF"/>
                </a:solidFill>
                <a:latin typeface="Arial Unicode MS"/>
                <a:ea typeface="Arial Unicode MS"/>
                <a:cs typeface="Arial Unicode MS"/>
              </a:rPr>
              <a:t>提案类型</a:t>
            </a:r>
          </a:p>
        </p:txBody>
      </p:sp>
      <p:sp>
        <p:nvSpPr>
          <p:cNvPr id="8" name="">
            <a:extLst xmlns:a="http://schemas.openxmlformats.org/drawingml/2006/main">
              <a:ext uri="{FF2B5EF4-FFF2-40B4-BE49-F238E27FC236}">
                <a16:creationId xmlns:a16="http://schemas.microsoft.com/office/drawing/2014/main" id="{0A9A20FE-C94A-401E-ABE2-0AA31538313F}"/>
              </a:ext>
            </a:extLst>
          </p:cNvPr>
          <p:cNvSpPr>
            <a:spLocks xmlns:a="http://schemas.openxmlformats.org/drawingml/2006/main" noGrp="1"/>
          </p:cNvSpPr>
          <p:nvPr/>
        </p:nvSpPr>
        <p:spPr>
          <a:xfrm xmlns:a="http://schemas.openxmlformats.org/drawingml/2006/main">
            <a:off x="4000500" y="1638300"/>
            <a:ext cx="2286000" cy="49530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7911383-4ABE-4492-99F0-8DB0483C5989}"/>
              </a:ext>
            </a:extLst>
          </p:cNvPr>
          <p:cNvSpPr>
            <a:spLocks xmlns:a="http://schemas.openxmlformats.org/drawingml/2006/main" noGrp="1"/>
          </p:cNvSpPr>
          <p:nvPr/>
        </p:nvSpPr>
        <p:spPr>
          <a:xfrm xmlns:a="http://schemas.openxmlformats.org/drawingml/2006/main">
            <a:off x="4095750" y="16954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1">
                <a:solidFill>
                  <a:srgbClr val="F7FBFF"/>
                </a:solidFill>
                <a:latin typeface="Arial Unicode MS"/>
                <a:ea typeface="Arial Unicode MS"/>
                <a:cs typeface="Arial Unicode MS"/>
              </a:defRPr>
            </a:defPPr>
          </a:lstStyle>
          <a:p xmlns:a="http://schemas.openxmlformats.org/drawingml/2006/main">
            <a:pPr algn="ctr">
              <a:defRPr sz="1275" b="1">
                <a:solidFill>
                  <a:srgbClr val="F7FBFF"/>
                </a:solidFill>
                <a:latin typeface="Arial Unicode MS"/>
                <a:ea typeface="Arial Unicode MS"/>
                <a:cs typeface="Arial Unicode MS"/>
              </a:defRPr>
            </a:pPr>
            <a:r>
              <a:rPr sz="1275" b="1">
                <a:solidFill>
                  <a:srgbClr val="F7FBFF"/>
                </a:solidFill>
                <a:latin typeface="Arial Unicode MS"/>
                <a:ea typeface="Arial Unicode MS"/>
                <a:cs typeface="Arial Unicode MS"/>
              </a:rPr>
              <a:t>通过门槛</a:t>
            </a:r>
          </a:p>
        </p:txBody>
      </p:sp>
      <p:sp>
        <p:nvSpPr>
          <p:cNvPr id="10" name="">
            <a:extLst xmlns:a="http://schemas.openxmlformats.org/drawingml/2006/main">
              <a:ext uri="{FF2B5EF4-FFF2-40B4-BE49-F238E27FC236}">
                <a16:creationId xmlns:a16="http://schemas.microsoft.com/office/drawing/2014/main" id="{5E5D2F10-C2EE-4507-A40F-4445E5CADC1E}"/>
              </a:ext>
            </a:extLst>
          </p:cNvPr>
          <p:cNvSpPr>
            <a:spLocks xmlns:a="http://schemas.openxmlformats.org/drawingml/2006/main" noGrp="1"/>
          </p:cNvSpPr>
          <p:nvPr/>
        </p:nvSpPr>
        <p:spPr>
          <a:xfrm xmlns:a="http://schemas.openxmlformats.org/drawingml/2006/main">
            <a:off x="6286500" y="1638300"/>
            <a:ext cx="2095500" cy="49530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2060F94-6803-43F9-85C7-F1E3723731FF}"/>
              </a:ext>
            </a:extLst>
          </p:cNvPr>
          <p:cNvSpPr>
            <a:spLocks xmlns:a="http://schemas.openxmlformats.org/drawingml/2006/main" noGrp="1"/>
          </p:cNvSpPr>
          <p:nvPr/>
        </p:nvSpPr>
        <p:spPr>
          <a:xfrm xmlns:a="http://schemas.openxmlformats.org/drawingml/2006/main">
            <a:off x="6381750" y="169545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1">
                <a:solidFill>
                  <a:srgbClr val="F7FBFF"/>
                </a:solidFill>
                <a:latin typeface="Arial Unicode MS"/>
                <a:ea typeface="Arial Unicode MS"/>
                <a:cs typeface="Arial Unicode MS"/>
              </a:defRPr>
            </a:defPPr>
          </a:lstStyle>
          <a:p xmlns:a="http://schemas.openxmlformats.org/drawingml/2006/main">
            <a:pPr algn="ctr">
              <a:defRPr sz="1275" b="1">
                <a:solidFill>
                  <a:srgbClr val="F7FBFF"/>
                </a:solidFill>
                <a:latin typeface="Arial Unicode MS"/>
                <a:ea typeface="Arial Unicode MS"/>
                <a:cs typeface="Arial Unicode MS"/>
              </a:defRPr>
            </a:pPr>
            <a:r>
              <a:rPr sz="1275" b="1">
                <a:solidFill>
                  <a:srgbClr val="F7FBFF"/>
                </a:solidFill>
                <a:latin typeface="Arial Unicode MS"/>
                <a:ea typeface="Arial Unicode MS"/>
                <a:cs typeface="Arial Unicode MS"/>
              </a:rPr>
              <a:t>法定人数</a:t>
            </a:r>
          </a:p>
        </p:txBody>
      </p:sp>
      <p:sp>
        <p:nvSpPr>
          <p:cNvPr id="12" name="">
            <a:extLst xmlns:a="http://schemas.openxmlformats.org/drawingml/2006/main">
              <a:ext uri="{FF2B5EF4-FFF2-40B4-BE49-F238E27FC236}">
                <a16:creationId xmlns:a16="http://schemas.microsoft.com/office/drawing/2014/main" id="{F521619A-4E0F-4098-B669-621F41CE661F}"/>
              </a:ext>
            </a:extLst>
          </p:cNvPr>
          <p:cNvSpPr>
            <a:spLocks xmlns:a="http://schemas.openxmlformats.org/drawingml/2006/main" noGrp="1"/>
          </p:cNvSpPr>
          <p:nvPr/>
        </p:nvSpPr>
        <p:spPr>
          <a:xfrm xmlns:a="http://schemas.openxmlformats.org/drawingml/2006/main">
            <a:off x="8382000" y="1638300"/>
            <a:ext cx="2476500" cy="49530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F42E095-0E7B-4A27-9D61-84F989612FDA}"/>
              </a:ext>
            </a:extLst>
          </p:cNvPr>
          <p:cNvSpPr>
            <a:spLocks xmlns:a="http://schemas.openxmlformats.org/drawingml/2006/main" noGrp="1"/>
          </p:cNvSpPr>
          <p:nvPr/>
        </p:nvSpPr>
        <p:spPr>
          <a:xfrm xmlns:a="http://schemas.openxmlformats.org/drawingml/2006/main">
            <a:off x="8477250" y="169545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1">
                <a:solidFill>
                  <a:srgbClr val="F7FBFF"/>
                </a:solidFill>
                <a:latin typeface="Arial Unicode MS"/>
                <a:ea typeface="Arial Unicode MS"/>
                <a:cs typeface="Arial Unicode MS"/>
              </a:defRPr>
            </a:defPPr>
          </a:lstStyle>
          <a:p xmlns:a="http://schemas.openxmlformats.org/drawingml/2006/main">
            <a:pPr algn="ctr">
              <a:defRPr sz="1275" b="1">
                <a:solidFill>
                  <a:srgbClr val="F7FBFF"/>
                </a:solidFill>
                <a:latin typeface="Arial Unicode MS"/>
                <a:ea typeface="Arial Unicode MS"/>
                <a:cs typeface="Arial Unicode MS"/>
              </a:defRPr>
            </a:pPr>
            <a:r>
              <a:rPr sz="1275" b="1">
                <a:solidFill>
                  <a:srgbClr val="F7FBFF"/>
                </a:solidFill>
                <a:latin typeface="Arial Unicode MS"/>
                <a:ea typeface="Arial Unicode MS"/>
                <a:cs typeface="Arial Unicode MS"/>
              </a:rPr>
              <a:t>执行延迟</a:t>
            </a:r>
          </a:p>
        </p:txBody>
      </p:sp>
      <p:sp>
        <p:nvSpPr>
          <p:cNvPr id="14" name="">
            <a:extLst xmlns:a="http://schemas.openxmlformats.org/drawingml/2006/main">
              <a:ext uri="{FF2B5EF4-FFF2-40B4-BE49-F238E27FC236}">
                <a16:creationId xmlns:a16="http://schemas.microsoft.com/office/drawing/2014/main" id="{3279911E-8EC2-4B9A-9246-9016033DCBC1}"/>
              </a:ext>
            </a:extLst>
          </p:cNvPr>
          <p:cNvSpPr>
            <a:spLocks xmlns:a="http://schemas.openxmlformats.org/drawingml/2006/main" noGrp="1"/>
          </p:cNvSpPr>
          <p:nvPr/>
        </p:nvSpPr>
        <p:spPr>
          <a:xfrm xmlns:a="http://schemas.openxmlformats.org/drawingml/2006/main">
            <a:off x="666750" y="2152650"/>
            <a:ext cx="3333750" cy="628650"/>
          </a:xfrm>
          <a:prstGeom xmlns:a="http://schemas.openxmlformats.org/drawingml/2006/main" prst="rect">
            <a:avLst/>
          </a:prstGeom>
          <a:solidFill xmlns:a="http://schemas.openxmlformats.org/drawingml/2006/main">
            <a:srgbClr val="0B2035"/>
          </a:solidFill>
          <a:ln xmlns:a="http://schemas.openxmlformats.org/drawingml/2006/main" w="9525">
            <a:solidFill>
              <a:srgbClr val="27435A"/>
            </a:solidFill>
            <a:prstDash val="solid"/>
          </a:ln>
        </p:spPr>
      </p:sp>
      <p:sp>
        <p:nvSpPr>
          <p:cNvPr id="15" name="">
            <a:extLst xmlns:a="http://schemas.openxmlformats.org/drawingml/2006/main">
              <a:ext uri="{FF2B5EF4-FFF2-40B4-BE49-F238E27FC236}">
                <a16:creationId xmlns:a16="http://schemas.microsoft.com/office/drawing/2014/main" id="{57435968-E8D8-4925-AC6C-6729987FFFCC}"/>
              </a:ext>
            </a:extLst>
          </p:cNvPr>
          <p:cNvSpPr>
            <a:spLocks xmlns:a="http://schemas.openxmlformats.org/drawingml/2006/main" noGrp="1"/>
          </p:cNvSpPr>
          <p:nvPr/>
        </p:nvSpPr>
        <p:spPr>
          <a:xfrm xmlns:a="http://schemas.openxmlformats.org/drawingml/2006/main">
            <a:off x="762000" y="22288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1">
                <a:solidFill>
                  <a:srgbClr val="F7FBFF"/>
                </a:solidFill>
                <a:latin typeface="Arial Unicode MS"/>
                <a:ea typeface="Arial Unicode MS"/>
                <a:cs typeface="Arial Unicode MS"/>
              </a:defRPr>
            </a:defPPr>
          </a:lstStyle>
          <a:p xmlns:a="http://schemas.openxmlformats.org/drawingml/2006/main">
            <a:pPr algn="ctr">
              <a:defRPr sz="1275" b="1">
                <a:solidFill>
                  <a:srgbClr val="F7FBFF"/>
                </a:solidFill>
                <a:latin typeface="Arial Unicode MS"/>
                <a:ea typeface="Arial Unicode MS"/>
                <a:cs typeface="Arial Unicode MS"/>
              </a:defRPr>
            </a:pPr>
            <a:r>
              <a:rPr sz="1275" b="1">
                <a:solidFill>
                  <a:srgbClr val="F7FBFF"/>
                </a:solidFill>
                <a:latin typeface="Arial Unicode MS"/>
                <a:ea typeface="Arial Unicode MS"/>
                <a:cs typeface="Arial Unicode MS"/>
              </a:rPr>
              <a:t>普通参数</a:t>
            </a:r>
          </a:p>
        </p:txBody>
      </p:sp>
      <p:sp>
        <p:nvSpPr>
          <p:cNvPr id="16" name="">
            <a:extLst xmlns:a="http://schemas.openxmlformats.org/drawingml/2006/main">
              <a:ext uri="{FF2B5EF4-FFF2-40B4-BE49-F238E27FC236}">
                <a16:creationId xmlns:a16="http://schemas.microsoft.com/office/drawing/2014/main" id="{04503B3F-1E58-4CBC-BB7D-1A14C716B8E5}"/>
              </a:ext>
            </a:extLst>
          </p:cNvPr>
          <p:cNvSpPr>
            <a:spLocks xmlns:a="http://schemas.openxmlformats.org/drawingml/2006/main" noGrp="1"/>
          </p:cNvSpPr>
          <p:nvPr/>
        </p:nvSpPr>
        <p:spPr>
          <a:xfrm xmlns:a="http://schemas.openxmlformats.org/drawingml/2006/main">
            <a:off x="4000500" y="2152650"/>
            <a:ext cx="2286000" cy="628650"/>
          </a:xfrm>
          <a:prstGeom xmlns:a="http://schemas.openxmlformats.org/drawingml/2006/main" prst="rect">
            <a:avLst/>
          </a:prstGeom>
          <a:solidFill xmlns:a="http://schemas.openxmlformats.org/drawingml/2006/main">
            <a:srgbClr val="0B2035"/>
          </a:solidFill>
          <a:ln xmlns:a="http://schemas.openxmlformats.org/drawingml/2006/main" w="9525">
            <a:solidFill>
              <a:srgbClr val="27435A"/>
            </a:solidFill>
            <a:prstDash val="solid"/>
          </a:ln>
        </p:spPr>
      </p:sp>
      <p:sp>
        <p:nvSpPr>
          <p:cNvPr id="17" name="">
            <a:extLst xmlns:a="http://schemas.openxmlformats.org/drawingml/2006/main">
              <a:ext uri="{FF2B5EF4-FFF2-40B4-BE49-F238E27FC236}">
                <a16:creationId xmlns:a16="http://schemas.microsoft.com/office/drawing/2014/main" id="{91569501-DC85-46DA-829F-A3976EBA37F4}"/>
              </a:ext>
            </a:extLst>
          </p:cNvPr>
          <p:cNvSpPr>
            <a:spLocks xmlns:a="http://schemas.openxmlformats.org/drawingml/2006/main" noGrp="1"/>
          </p:cNvSpPr>
          <p:nvPr/>
        </p:nvSpPr>
        <p:spPr>
          <a:xfrm xmlns:a="http://schemas.openxmlformats.org/drawingml/2006/main">
            <a:off x="4095750" y="22288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&gt; 50%</a:t>
            </a:r>
          </a:p>
        </p:txBody>
      </p:sp>
      <p:sp>
        <p:nvSpPr>
          <p:cNvPr id="18" name="">
            <a:extLst xmlns:a="http://schemas.openxmlformats.org/drawingml/2006/main">
              <a:ext uri="{FF2B5EF4-FFF2-40B4-BE49-F238E27FC236}">
                <a16:creationId xmlns:a16="http://schemas.microsoft.com/office/drawing/2014/main" id="{354FBEDF-2215-49AB-A483-A31129F77B6D}"/>
              </a:ext>
            </a:extLst>
          </p:cNvPr>
          <p:cNvSpPr>
            <a:spLocks xmlns:a="http://schemas.openxmlformats.org/drawingml/2006/main" noGrp="1"/>
          </p:cNvSpPr>
          <p:nvPr/>
        </p:nvSpPr>
        <p:spPr>
          <a:xfrm xmlns:a="http://schemas.openxmlformats.org/drawingml/2006/main">
            <a:off x="6286500" y="2152650"/>
            <a:ext cx="2095500" cy="628650"/>
          </a:xfrm>
          <a:prstGeom xmlns:a="http://schemas.openxmlformats.org/drawingml/2006/main" prst="rect">
            <a:avLst/>
          </a:prstGeom>
          <a:solidFill xmlns:a="http://schemas.openxmlformats.org/drawingml/2006/main">
            <a:srgbClr val="0B2035"/>
          </a:solidFill>
          <a:ln xmlns:a="http://schemas.openxmlformats.org/drawingml/2006/main" w="9525">
            <a:solidFill>
              <a:srgbClr val="27435A"/>
            </a:solidFill>
            <a:prstDash val="solid"/>
          </a:ln>
        </p:spPr>
      </p:sp>
      <p:sp>
        <p:nvSpPr>
          <p:cNvPr id="19" name="">
            <a:extLst xmlns:a="http://schemas.openxmlformats.org/drawingml/2006/main">
              <a:ext uri="{FF2B5EF4-FFF2-40B4-BE49-F238E27FC236}">
                <a16:creationId xmlns:a16="http://schemas.microsoft.com/office/drawing/2014/main" id="{97CC651E-65F2-4B37-967A-3C8AE82C7ECB}"/>
              </a:ext>
            </a:extLst>
          </p:cNvPr>
          <p:cNvSpPr>
            <a:spLocks xmlns:a="http://schemas.openxmlformats.org/drawingml/2006/main" noGrp="1"/>
          </p:cNvSpPr>
          <p:nvPr/>
        </p:nvSpPr>
        <p:spPr>
          <a:xfrm xmlns:a="http://schemas.openxmlformats.org/drawingml/2006/main">
            <a:off x="6381750" y="2228850"/>
            <a:ext cx="190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10%</a:t>
            </a:r>
          </a:p>
        </p:txBody>
      </p:sp>
      <p:sp>
        <p:nvSpPr>
          <p:cNvPr id="20" name="">
            <a:extLst xmlns:a="http://schemas.openxmlformats.org/drawingml/2006/main">
              <a:ext uri="{FF2B5EF4-FFF2-40B4-BE49-F238E27FC236}">
                <a16:creationId xmlns:a16="http://schemas.microsoft.com/office/drawing/2014/main" id="{2188BDFC-8CA3-4AD7-ACAF-B7456F70D549}"/>
              </a:ext>
            </a:extLst>
          </p:cNvPr>
          <p:cNvSpPr>
            <a:spLocks xmlns:a="http://schemas.openxmlformats.org/drawingml/2006/main" noGrp="1"/>
          </p:cNvSpPr>
          <p:nvPr/>
        </p:nvSpPr>
        <p:spPr>
          <a:xfrm xmlns:a="http://schemas.openxmlformats.org/drawingml/2006/main">
            <a:off x="8382000" y="2152650"/>
            <a:ext cx="2476500" cy="628650"/>
          </a:xfrm>
          <a:prstGeom xmlns:a="http://schemas.openxmlformats.org/drawingml/2006/main" prst="rect">
            <a:avLst/>
          </a:prstGeom>
          <a:solidFill xmlns:a="http://schemas.openxmlformats.org/drawingml/2006/main">
            <a:srgbClr val="0B2035"/>
          </a:solidFill>
          <a:ln xmlns:a="http://schemas.openxmlformats.org/drawingml/2006/main" w="9525">
            <a:solidFill>
              <a:srgbClr val="27435A"/>
            </a:solidFill>
            <a:prstDash val="solid"/>
          </a:ln>
        </p:spPr>
      </p:sp>
      <p:sp>
        <p:nvSpPr>
          <p:cNvPr id="21" name="">
            <a:extLst xmlns:a="http://schemas.openxmlformats.org/drawingml/2006/main">
              <a:ext uri="{FF2B5EF4-FFF2-40B4-BE49-F238E27FC236}">
                <a16:creationId xmlns:a16="http://schemas.microsoft.com/office/drawing/2014/main" id="{EBB57844-E694-4556-AB07-EB1010DCB954}"/>
              </a:ext>
            </a:extLst>
          </p:cNvPr>
          <p:cNvSpPr>
            <a:spLocks xmlns:a="http://schemas.openxmlformats.org/drawingml/2006/main" noGrp="1"/>
          </p:cNvSpPr>
          <p:nvPr/>
        </p:nvSpPr>
        <p:spPr>
          <a:xfrm xmlns:a="http://schemas.openxmlformats.org/drawingml/2006/main">
            <a:off x="8477250" y="22288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3 天</a:t>
            </a:r>
          </a:p>
        </p:txBody>
      </p:sp>
      <p:sp>
        <p:nvSpPr>
          <p:cNvPr id="22" name="">
            <a:extLst xmlns:a="http://schemas.openxmlformats.org/drawingml/2006/main">
              <a:ext uri="{FF2B5EF4-FFF2-40B4-BE49-F238E27FC236}">
                <a16:creationId xmlns:a16="http://schemas.microsoft.com/office/drawing/2014/main" id="{3816DF04-7358-41EA-8006-86660D23D6CC}"/>
              </a:ext>
            </a:extLst>
          </p:cNvPr>
          <p:cNvSpPr>
            <a:spLocks xmlns:a="http://schemas.openxmlformats.org/drawingml/2006/main" noGrp="1"/>
          </p:cNvSpPr>
          <p:nvPr/>
        </p:nvSpPr>
        <p:spPr>
          <a:xfrm xmlns:a="http://schemas.openxmlformats.org/drawingml/2006/main">
            <a:off x="666750" y="2800350"/>
            <a:ext cx="3333750" cy="628650"/>
          </a:xfrm>
          <a:prstGeom xmlns:a="http://schemas.openxmlformats.org/drawingml/2006/main" prst="rect">
            <a:avLst/>
          </a:prstGeom>
          <a:solidFill xmlns:a="http://schemas.openxmlformats.org/drawingml/2006/main">
            <a:srgbClr val="071525"/>
          </a:solidFill>
          <a:ln xmlns:a="http://schemas.openxmlformats.org/drawingml/2006/main" w="9525">
            <a:solidFill>
              <a:srgbClr val="27435A"/>
            </a:solidFill>
            <a:prstDash val="solid"/>
          </a:ln>
        </p:spPr>
      </p:sp>
      <p:sp>
        <p:nvSpPr>
          <p:cNvPr id="23" name="">
            <a:extLst xmlns:a="http://schemas.openxmlformats.org/drawingml/2006/main">
              <a:ext uri="{FF2B5EF4-FFF2-40B4-BE49-F238E27FC236}">
                <a16:creationId xmlns:a16="http://schemas.microsoft.com/office/drawing/2014/main" id="{17E37E00-06AA-4FAF-95A6-6916B7B6FBB4}"/>
              </a:ext>
            </a:extLst>
          </p:cNvPr>
          <p:cNvSpPr>
            <a:spLocks xmlns:a="http://schemas.openxmlformats.org/drawingml/2006/main" noGrp="1"/>
          </p:cNvSpPr>
          <p:nvPr/>
        </p:nvSpPr>
        <p:spPr>
          <a:xfrm xmlns:a="http://schemas.openxmlformats.org/drawingml/2006/main">
            <a:off x="762000" y="28765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1">
                <a:solidFill>
                  <a:srgbClr val="F7FBFF"/>
                </a:solidFill>
                <a:latin typeface="Arial Unicode MS"/>
                <a:ea typeface="Arial Unicode MS"/>
                <a:cs typeface="Arial Unicode MS"/>
              </a:defRPr>
            </a:defPPr>
          </a:lstStyle>
          <a:p xmlns:a="http://schemas.openxmlformats.org/drawingml/2006/main">
            <a:pPr algn="ctr">
              <a:defRPr sz="1275" b="1">
                <a:solidFill>
                  <a:srgbClr val="F7FBFF"/>
                </a:solidFill>
                <a:latin typeface="Arial Unicode MS"/>
                <a:ea typeface="Arial Unicode MS"/>
                <a:cs typeface="Arial Unicode MS"/>
              </a:defRPr>
            </a:pPr>
            <a:r>
              <a:rPr sz="1275" b="1">
                <a:solidFill>
                  <a:srgbClr val="F7FBFF"/>
                </a:solidFill>
                <a:latin typeface="Arial Unicode MS"/>
                <a:ea typeface="Arial Unicode MS"/>
                <a:cs typeface="Arial Unicode MS"/>
              </a:rPr>
              <a:t>国库 / 合约升级</a:t>
            </a:r>
          </a:p>
        </p:txBody>
      </p:sp>
      <p:sp>
        <p:nvSpPr>
          <p:cNvPr id="24" name="">
            <a:extLst xmlns:a="http://schemas.openxmlformats.org/drawingml/2006/main">
              <a:ext uri="{FF2B5EF4-FFF2-40B4-BE49-F238E27FC236}">
                <a16:creationId xmlns:a16="http://schemas.microsoft.com/office/drawing/2014/main" id="{D2306EDE-970E-4129-B8C0-57AB9AC74B1F}"/>
              </a:ext>
            </a:extLst>
          </p:cNvPr>
          <p:cNvSpPr>
            <a:spLocks xmlns:a="http://schemas.openxmlformats.org/drawingml/2006/main" noGrp="1"/>
          </p:cNvSpPr>
          <p:nvPr/>
        </p:nvSpPr>
        <p:spPr>
          <a:xfrm xmlns:a="http://schemas.openxmlformats.org/drawingml/2006/main">
            <a:off x="4000500" y="2800350"/>
            <a:ext cx="2286000" cy="628650"/>
          </a:xfrm>
          <a:prstGeom xmlns:a="http://schemas.openxmlformats.org/drawingml/2006/main" prst="rect">
            <a:avLst/>
          </a:prstGeom>
          <a:solidFill xmlns:a="http://schemas.openxmlformats.org/drawingml/2006/main">
            <a:srgbClr val="071525"/>
          </a:solidFill>
          <a:ln xmlns:a="http://schemas.openxmlformats.org/drawingml/2006/main" w="9525">
            <a:solidFill>
              <a:srgbClr val="27435A"/>
            </a:solidFill>
            <a:prstDash val="solid"/>
          </a:ln>
        </p:spPr>
      </p:sp>
      <p:sp>
        <p:nvSpPr>
          <p:cNvPr id="25" name="">
            <a:extLst xmlns:a="http://schemas.openxmlformats.org/drawingml/2006/main">
              <a:ext uri="{FF2B5EF4-FFF2-40B4-BE49-F238E27FC236}">
                <a16:creationId xmlns:a16="http://schemas.microsoft.com/office/drawing/2014/main" id="{F335F9B1-0F3C-4315-9ED7-D52E0F2D6E05}"/>
              </a:ext>
            </a:extLst>
          </p:cNvPr>
          <p:cNvSpPr>
            <a:spLocks xmlns:a="http://schemas.openxmlformats.org/drawingml/2006/main" noGrp="1"/>
          </p:cNvSpPr>
          <p:nvPr/>
        </p:nvSpPr>
        <p:spPr>
          <a:xfrm xmlns:a="http://schemas.openxmlformats.org/drawingml/2006/main">
            <a:off x="4095750" y="28765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 66.7%</a:t>
            </a:r>
          </a:p>
        </p:txBody>
      </p:sp>
      <p:sp>
        <p:nvSpPr>
          <p:cNvPr id="26" name="">
            <a:extLst xmlns:a="http://schemas.openxmlformats.org/drawingml/2006/main">
              <a:ext uri="{FF2B5EF4-FFF2-40B4-BE49-F238E27FC236}">
                <a16:creationId xmlns:a16="http://schemas.microsoft.com/office/drawing/2014/main" id="{C2CD0EA9-71B7-4311-88DE-A62E890266A0}"/>
              </a:ext>
            </a:extLst>
          </p:cNvPr>
          <p:cNvSpPr>
            <a:spLocks xmlns:a="http://schemas.openxmlformats.org/drawingml/2006/main" noGrp="1"/>
          </p:cNvSpPr>
          <p:nvPr/>
        </p:nvSpPr>
        <p:spPr>
          <a:xfrm xmlns:a="http://schemas.openxmlformats.org/drawingml/2006/main">
            <a:off x="6286500" y="2800350"/>
            <a:ext cx="2095500" cy="628650"/>
          </a:xfrm>
          <a:prstGeom xmlns:a="http://schemas.openxmlformats.org/drawingml/2006/main" prst="rect">
            <a:avLst/>
          </a:prstGeom>
          <a:solidFill xmlns:a="http://schemas.openxmlformats.org/drawingml/2006/main">
            <a:srgbClr val="071525"/>
          </a:solidFill>
          <a:ln xmlns:a="http://schemas.openxmlformats.org/drawingml/2006/main" w="9525">
            <a:solidFill>
              <a:srgbClr val="27435A"/>
            </a:solidFill>
            <a:prstDash val="solid"/>
          </a:ln>
        </p:spPr>
      </p:sp>
      <p:sp>
        <p:nvSpPr>
          <p:cNvPr id="27" name="">
            <a:extLst xmlns:a="http://schemas.openxmlformats.org/drawingml/2006/main">
              <a:ext uri="{FF2B5EF4-FFF2-40B4-BE49-F238E27FC236}">
                <a16:creationId xmlns:a16="http://schemas.microsoft.com/office/drawing/2014/main" id="{E0431AE3-6E8D-44A2-9219-23301EED2FB0}"/>
              </a:ext>
            </a:extLst>
          </p:cNvPr>
          <p:cNvSpPr>
            <a:spLocks xmlns:a="http://schemas.openxmlformats.org/drawingml/2006/main" noGrp="1"/>
          </p:cNvSpPr>
          <p:nvPr/>
        </p:nvSpPr>
        <p:spPr>
          <a:xfrm xmlns:a="http://schemas.openxmlformats.org/drawingml/2006/main">
            <a:off x="6381750" y="2876550"/>
            <a:ext cx="190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20%</a:t>
            </a:r>
          </a:p>
        </p:txBody>
      </p:sp>
      <p:sp>
        <p:nvSpPr>
          <p:cNvPr id="28" name="">
            <a:extLst xmlns:a="http://schemas.openxmlformats.org/drawingml/2006/main">
              <a:ext uri="{FF2B5EF4-FFF2-40B4-BE49-F238E27FC236}">
                <a16:creationId xmlns:a16="http://schemas.microsoft.com/office/drawing/2014/main" id="{E492451E-B681-4319-9B44-B2FB7F6AC763}"/>
              </a:ext>
            </a:extLst>
          </p:cNvPr>
          <p:cNvSpPr>
            <a:spLocks xmlns:a="http://schemas.openxmlformats.org/drawingml/2006/main" noGrp="1"/>
          </p:cNvSpPr>
          <p:nvPr/>
        </p:nvSpPr>
        <p:spPr>
          <a:xfrm xmlns:a="http://schemas.openxmlformats.org/drawingml/2006/main">
            <a:off x="8382000" y="2800350"/>
            <a:ext cx="2476500" cy="628650"/>
          </a:xfrm>
          <a:prstGeom xmlns:a="http://schemas.openxmlformats.org/drawingml/2006/main" prst="rect">
            <a:avLst/>
          </a:prstGeom>
          <a:solidFill xmlns:a="http://schemas.openxmlformats.org/drawingml/2006/main">
            <a:srgbClr val="071525"/>
          </a:solidFill>
          <a:ln xmlns:a="http://schemas.openxmlformats.org/drawingml/2006/main" w="9525">
            <a:solidFill>
              <a:srgbClr val="27435A"/>
            </a:solidFill>
            <a:prstDash val="solid"/>
          </a:ln>
        </p:spPr>
      </p:sp>
      <p:sp>
        <p:nvSpPr>
          <p:cNvPr id="29" name="">
            <a:extLst xmlns:a="http://schemas.openxmlformats.org/drawingml/2006/main">
              <a:ext uri="{FF2B5EF4-FFF2-40B4-BE49-F238E27FC236}">
                <a16:creationId xmlns:a16="http://schemas.microsoft.com/office/drawing/2014/main" id="{62EE61FC-3907-40B6-9B36-67CC8FE265A9}"/>
              </a:ext>
            </a:extLst>
          </p:cNvPr>
          <p:cNvSpPr>
            <a:spLocks xmlns:a="http://schemas.openxmlformats.org/drawingml/2006/main" noGrp="1"/>
          </p:cNvSpPr>
          <p:nvPr/>
        </p:nvSpPr>
        <p:spPr>
          <a:xfrm xmlns:a="http://schemas.openxmlformats.org/drawingml/2006/main">
            <a:off x="8477250" y="28765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7 天</a:t>
            </a:r>
          </a:p>
        </p:txBody>
      </p:sp>
      <p:sp>
        <p:nvSpPr>
          <p:cNvPr id="30" name="">
            <a:extLst xmlns:a="http://schemas.openxmlformats.org/drawingml/2006/main">
              <a:ext uri="{FF2B5EF4-FFF2-40B4-BE49-F238E27FC236}">
                <a16:creationId xmlns:a16="http://schemas.microsoft.com/office/drawing/2014/main" id="{A8243931-9BD6-4089-B623-807216A217BF}"/>
              </a:ext>
            </a:extLst>
          </p:cNvPr>
          <p:cNvSpPr>
            <a:spLocks xmlns:a="http://schemas.openxmlformats.org/drawingml/2006/main" noGrp="1"/>
          </p:cNvSpPr>
          <p:nvPr/>
        </p:nvSpPr>
        <p:spPr>
          <a:xfrm xmlns:a="http://schemas.openxmlformats.org/drawingml/2006/main">
            <a:off x="666750" y="3448050"/>
            <a:ext cx="3333750" cy="628650"/>
          </a:xfrm>
          <a:prstGeom xmlns:a="http://schemas.openxmlformats.org/drawingml/2006/main" prst="rect">
            <a:avLst/>
          </a:prstGeom>
          <a:solidFill xmlns:a="http://schemas.openxmlformats.org/drawingml/2006/main">
            <a:srgbClr val="0B2035"/>
          </a:solidFill>
          <a:ln xmlns:a="http://schemas.openxmlformats.org/drawingml/2006/main" w="9525">
            <a:solidFill>
              <a:srgbClr val="27435A"/>
            </a:solidFill>
            <a:prstDash val="solid"/>
          </a:ln>
        </p:spPr>
      </p:sp>
      <p:sp>
        <p:nvSpPr>
          <p:cNvPr id="31" name="">
            <a:extLst xmlns:a="http://schemas.openxmlformats.org/drawingml/2006/main">
              <a:ext uri="{FF2B5EF4-FFF2-40B4-BE49-F238E27FC236}">
                <a16:creationId xmlns:a16="http://schemas.microsoft.com/office/drawing/2014/main" id="{34F5321D-F1CC-4FEC-AEF1-CB498084C134}"/>
              </a:ext>
            </a:extLst>
          </p:cNvPr>
          <p:cNvSpPr>
            <a:spLocks xmlns:a="http://schemas.openxmlformats.org/drawingml/2006/main" noGrp="1"/>
          </p:cNvSpPr>
          <p:nvPr/>
        </p:nvSpPr>
        <p:spPr>
          <a:xfrm xmlns:a="http://schemas.openxmlformats.org/drawingml/2006/main">
            <a:off x="762000" y="35242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1">
                <a:solidFill>
                  <a:srgbClr val="F7FBFF"/>
                </a:solidFill>
                <a:latin typeface="Arial Unicode MS"/>
                <a:ea typeface="Arial Unicode MS"/>
                <a:cs typeface="Arial Unicode MS"/>
              </a:defRPr>
            </a:defPPr>
          </a:lstStyle>
          <a:p xmlns:a="http://schemas.openxmlformats.org/drawingml/2006/main">
            <a:pPr algn="ctr">
              <a:defRPr sz="1275" b="1">
                <a:solidFill>
                  <a:srgbClr val="F7FBFF"/>
                </a:solidFill>
                <a:latin typeface="Arial Unicode MS"/>
                <a:ea typeface="Arial Unicode MS"/>
                <a:cs typeface="Arial Unicode MS"/>
              </a:defRPr>
            </a:pPr>
            <a:r>
              <a:rPr sz="1275" b="1">
                <a:solidFill>
                  <a:srgbClr val="F7FBFF"/>
                </a:solidFill>
                <a:latin typeface="Arial Unicode MS"/>
                <a:ea typeface="Arial Unicode MS"/>
                <a:cs typeface="Arial Unicode MS"/>
              </a:rPr>
              <a:t>紧急暂停</a:t>
            </a:r>
          </a:p>
        </p:txBody>
      </p:sp>
      <p:sp>
        <p:nvSpPr>
          <p:cNvPr id="32" name="">
            <a:extLst xmlns:a="http://schemas.openxmlformats.org/drawingml/2006/main">
              <a:ext uri="{FF2B5EF4-FFF2-40B4-BE49-F238E27FC236}">
                <a16:creationId xmlns:a16="http://schemas.microsoft.com/office/drawing/2014/main" id="{819046F9-E6F5-49FB-A4BF-3B8B08840C82}"/>
              </a:ext>
            </a:extLst>
          </p:cNvPr>
          <p:cNvSpPr>
            <a:spLocks xmlns:a="http://schemas.openxmlformats.org/drawingml/2006/main" noGrp="1"/>
          </p:cNvSpPr>
          <p:nvPr/>
        </p:nvSpPr>
        <p:spPr>
          <a:xfrm xmlns:a="http://schemas.openxmlformats.org/drawingml/2006/main">
            <a:off x="4000500" y="3448050"/>
            <a:ext cx="2286000" cy="628650"/>
          </a:xfrm>
          <a:prstGeom xmlns:a="http://schemas.openxmlformats.org/drawingml/2006/main" prst="rect">
            <a:avLst/>
          </a:prstGeom>
          <a:solidFill xmlns:a="http://schemas.openxmlformats.org/drawingml/2006/main">
            <a:srgbClr val="0B2035"/>
          </a:solidFill>
          <a:ln xmlns:a="http://schemas.openxmlformats.org/drawingml/2006/main" w="9525">
            <a:solidFill>
              <a:srgbClr val="27435A"/>
            </a:solidFill>
            <a:prstDash val="solid"/>
          </a:ln>
        </p:spPr>
      </p:sp>
      <p:sp>
        <p:nvSpPr>
          <p:cNvPr id="33" name="">
            <a:extLst xmlns:a="http://schemas.openxmlformats.org/drawingml/2006/main">
              <a:ext uri="{FF2B5EF4-FFF2-40B4-BE49-F238E27FC236}">
                <a16:creationId xmlns:a16="http://schemas.microsoft.com/office/drawing/2014/main" id="{5A8A3BC5-0134-4A74-9346-20B8FE18BDC3}"/>
              </a:ext>
            </a:extLst>
          </p:cNvPr>
          <p:cNvSpPr>
            <a:spLocks xmlns:a="http://schemas.openxmlformats.org/drawingml/2006/main" noGrp="1"/>
          </p:cNvSpPr>
          <p:nvPr/>
        </p:nvSpPr>
        <p:spPr>
          <a:xfrm xmlns:a="http://schemas.openxmlformats.org/drawingml/2006/main">
            <a:off x="4095750" y="35242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5 / 7 多签</a:t>
            </a:r>
          </a:p>
        </p:txBody>
      </p:sp>
      <p:sp>
        <p:nvSpPr>
          <p:cNvPr id="34" name="">
            <a:extLst xmlns:a="http://schemas.openxmlformats.org/drawingml/2006/main">
              <a:ext uri="{FF2B5EF4-FFF2-40B4-BE49-F238E27FC236}">
                <a16:creationId xmlns:a16="http://schemas.microsoft.com/office/drawing/2014/main" id="{9EAD416C-F6F5-4E39-B6B5-5EE06CECE9AE}"/>
              </a:ext>
            </a:extLst>
          </p:cNvPr>
          <p:cNvSpPr>
            <a:spLocks xmlns:a="http://schemas.openxmlformats.org/drawingml/2006/main" noGrp="1"/>
          </p:cNvSpPr>
          <p:nvPr/>
        </p:nvSpPr>
        <p:spPr>
          <a:xfrm xmlns:a="http://schemas.openxmlformats.org/drawingml/2006/main">
            <a:off x="6286500" y="3448050"/>
            <a:ext cx="2095500" cy="628650"/>
          </a:xfrm>
          <a:prstGeom xmlns:a="http://schemas.openxmlformats.org/drawingml/2006/main" prst="rect">
            <a:avLst/>
          </a:prstGeom>
          <a:solidFill xmlns:a="http://schemas.openxmlformats.org/drawingml/2006/main">
            <a:srgbClr val="0B2035"/>
          </a:solidFill>
          <a:ln xmlns:a="http://schemas.openxmlformats.org/drawingml/2006/main" w="9525">
            <a:solidFill>
              <a:srgbClr val="27435A"/>
            </a:solidFill>
            <a:prstDash val="solid"/>
          </a:ln>
        </p:spPr>
      </p:sp>
      <p:sp>
        <p:nvSpPr>
          <p:cNvPr id="35" name="">
            <a:extLst xmlns:a="http://schemas.openxmlformats.org/drawingml/2006/main">
              <a:ext uri="{FF2B5EF4-FFF2-40B4-BE49-F238E27FC236}">
                <a16:creationId xmlns:a16="http://schemas.microsoft.com/office/drawing/2014/main" id="{031E89EF-5D23-4994-922F-722CF52EC3F8}"/>
              </a:ext>
            </a:extLst>
          </p:cNvPr>
          <p:cNvSpPr>
            <a:spLocks xmlns:a="http://schemas.openxmlformats.org/drawingml/2006/main" noGrp="1"/>
          </p:cNvSpPr>
          <p:nvPr/>
        </p:nvSpPr>
        <p:spPr>
          <a:xfrm xmlns:a="http://schemas.openxmlformats.org/drawingml/2006/main">
            <a:off x="6381750" y="3524250"/>
            <a:ext cx="190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不适用</a:t>
            </a:r>
          </a:p>
        </p:txBody>
      </p:sp>
      <p:sp>
        <p:nvSpPr>
          <p:cNvPr id="36" name="">
            <a:extLst xmlns:a="http://schemas.openxmlformats.org/drawingml/2006/main">
              <a:ext uri="{FF2B5EF4-FFF2-40B4-BE49-F238E27FC236}">
                <a16:creationId xmlns:a16="http://schemas.microsoft.com/office/drawing/2014/main" id="{E05CA57B-31D8-4E22-BB22-CCC6AF1423AC}"/>
              </a:ext>
            </a:extLst>
          </p:cNvPr>
          <p:cNvSpPr>
            <a:spLocks xmlns:a="http://schemas.openxmlformats.org/drawingml/2006/main" noGrp="1"/>
          </p:cNvSpPr>
          <p:nvPr/>
        </p:nvSpPr>
        <p:spPr>
          <a:xfrm xmlns:a="http://schemas.openxmlformats.org/drawingml/2006/main">
            <a:off x="8382000" y="3448050"/>
            <a:ext cx="2476500" cy="628650"/>
          </a:xfrm>
          <a:prstGeom xmlns:a="http://schemas.openxmlformats.org/drawingml/2006/main" prst="rect">
            <a:avLst/>
          </a:prstGeom>
          <a:solidFill xmlns:a="http://schemas.openxmlformats.org/drawingml/2006/main">
            <a:srgbClr val="0B2035"/>
          </a:solidFill>
          <a:ln xmlns:a="http://schemas.openxmlformats.org/drawingml/2006/main" w="9525">
            <a:solidFill>
              <a:srgbClr val="27435A"/>
            </a:solidFill>
            <a:prstDash val="solid"/>
          </a:ln>
        </p:spPr>
      </p:sp>
      <p:sp>
        <p:nvSpPr>
          <p:cNvPr id="37" name="">
            <a:extLst xmlns:a="http://schemas.openxmlformats.org/drawingml/2006/main">
              <a:ext uri="{FF2B5EF4-FFF2-40B4-BE49-F238E27FC236}">
                <a16:creationId xmlns:a16="http://schemas.microsoft.com/office/drawing/2014/main" id="{208A2184-6726-4095-8D09-C4D0006FCC23}"/>
              </a:ext>
            </a:extLst>
          </p:cNvPr>
          <p:cNvSpPr>
            <a:spLocks xmlns:a="http://schemas.openxmlformats.org/drawingml/2006/main" noGrp="1"/>
          </p:cNvSpPr>
          <p:nvPr/>
        </p:nvSpPr>
        <p:spPr>
          <a:xfrm xmlns:a="http://schemas.openxmlformats.org/drawingml/2006/main">
            <a:off x="8477250" y="35242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275" b="0">
                <a:solidFill>
                  <a:srgbClr val="D7E7F2"/>
                </a:solidFill>
                <a:latin typeface="Arial Unicode MS"/>
                <a:ea typeface="Arial Unicode MS"/>
                <a:cs typeface="Arial Unicode MS"/>
              </a:defRPr>
            </a:defPPr>
          </a:lstStyle>
          <a:p xmlns:a="http://schemas.openxmlformats.org/drawingml/2006/main">
            <a:pPr algn="ctr">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立即，7 天失效</a:t>
            </a:r>
          </a:p>
        </p:txBody>
      </p:sp>
      <p:sp>
        <p:nvSpPr>
          <p:cNvPr id="38" name="">
            <a:extLst xmlns:a="http://schemas.openxmlformats.org/drawingml/2006/main">
              <a:ext uri="{FF2B5EF4-FFF2-40B4-BE49-F238E27FC236}">
                <a16:creationId xmlns:a16="http://schemas.microsoft.com/office/drawing/2014/main" id="{B30DA248-FBB3-4A4D-A572-DCB41CF41D54}"/>
              </a:ext>
            </a:extLst>
          </p:cNvPr>
          <p:cNvSpPr>
            <a:spLocks xmlns:a="http://schemas.openxmlformats.org/drawingml/2006/main" noGrp="1"/>
          </p:cNvSpPr>
          <p:nvPr/>
        </p:nvSpPr>
        <p:spPr>
          <a:xfrm xmlns:a="http://schemas.openxmlformats.org/drawingml/2006/main">
            <a:off x="666750" y="45243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75" b="1">
                <a:solidFill>
                  <a:srgbClr val="4DE3D1"/>
                </a:solidFill>
                <a:latin typeface="Arial Unicode MS"/>
                <a:ea typeface="Arial Unicode MS"/>
                <a:cs typeface="Arial Unicode MS"/>
              </a:defRPr>
            </a:defPPr>
          </a:lstStyle>
          <a:p xmlns:a="http://schemas.openxmlformats.org/drawingml/2006/main">
            <a:pPr algn="l">
              <a:defRPr sz="1575" b="1">
                <a:solidFill>
                  <a:srgbClr val="4DE3D1"/>
                </a:solidFill>
                <a:latin typeface="Arial Unicode MS"/>
                <a:ea typeface="Arial Unicode MS"/>
                <a:cs typeface="Arial Unicode MS"/>
              </a:defRPr>
            </a:pPr>
            <a:r>
              <a:rPr sz="1575" b="1">
                <a:solidFill>
                  <a:srgbClr val="4DE3D1"/>
                </a:solidFill>
                <a:latin typeface="Arial Unicode MS"/>
                <a:ea typeface="Arial Unicode MS"/>
                <a:cs typeface="Arial Unicode MS"/>
              </a:rPr>
              <a:t>允许治理</a:t>
            </a:r>
          </a:p>
        </p:txBody>
      </p:sp>
      <p:sp>
        <p:nvSpPr>
          <p:cNvPr id="39" name="">
            <a:extLst xmlns:a="http://schemas.openxmlformats.org/drawingml/2006/main">
              <a:ext uri="{FF2B5EF4-FFF2-40B4-BE49-F238E27FC236}">
                <a16:creationId xmlns:a16="http://schemas.microsoft.com/office/drawing/2014/main" id="{F63D25B9-F6C1-41A2-BBA4-ACCAE8E8ED43}"/>
              </a:ext>
            </a:extLst>
          </p:cNvPr>
          <p:cNvSpPr>
            <a:spLocks xmlns:a="http://schemas.openxmlformats.org/drawingml/2006/main" noGrp="1"/>
          </p:cNvSpPr>
          <p:nvPr/>
        </p:nvSpPr>
        <p:spPr>
          <a:xfrm xmlns:a="http://schemas.openxmlformats.org/drawingml/2006/main">
            <a:off x="666750" y="4905375"/>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Active BP 数量 3–21、DAO 锁仓余额用途、未来排放比例、升级提案</a:t>
            </a:r>
          </a:p>
        </p:txBody>
      </p:sp>
      <p:sp>
        <p:nvSpPr>
          <p:cNvPr id="40" name="">
            <a:extLst xmlns:a="http://schemas.openxmlformats.org/drawingml/2006/main">
              <a:ext uri="{FF2B5EF4-FFF2-40B4-BE49-F238E27FC236}">
                <a16:creationId xmlns:a16="http://schemas.microsoft.com/office/drawing/2014/main" id="{D7311AC1-E561-4CFB-8EC1-3E43B40365D9}"/>
              </a:ext>
            </a:extLst>
          </p:cNvPr>
          <p:cNvSpPr>
            <a:spLocks xmlns:a="http://schemas.openxmlformats.org/drawingml/2006/main" noGrp="1"/>
          </p:cNvSpPr>
          <p:nvPr/>
        </p:nvSpPr>
        <p:spPr>
          <a:xfrm xmlns:a="http://schemas.openxmlformats.org/drawingml/2006/main">
            <a:off x="6191250" y="45243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75" b="1">
                <a:solidFill>
                  <a:srgbClr val="FF7A6E"/>
                </a:solidFill>
                <a:latin typeface="Arial Unicode MS"/>
                <a:ea typeface="Arial Unicode MS"/>
                <a:cs typeface="Arial Unicode MS"/>
              </a:defRPr>
            </a:defPPr>
          </a:lstStyle>
          <a:p xmlns:a="http://schemas.openxmlformats.org/drawingml/2006/main">
            <a:pPr algn="l">
              <a:defRPr sz="1575" b="1">
                <a:solidFill>
                  <a:srgbClr val="FF7A6E"/>
                </a:solidFill>
                <a:latin typeface="Arial Unicode MS"/>
                <a:ea typeface="Arial Unicode MS"/>
                <a:cs typeface="Arial Unicode MS"/>
              </a:defRPr>
            </a:pPr>
            <a:r>
              <a:rPr sz="1575" b="1">
                <a:solidFill>
                  <a:srgbClr val="FF7A6E"/>
                </a:solidFill>
                <a:latin typeface="Arial Unicode MS"/>
                <a:ea typeface="Arial Unicode MS"/>
                <a:cs typeface="Arial Unicode MS"/>
              </a:rPr>
              <a:t>禁止治理</a:t>
            </a:r>
          </a:p>
        </p:txBody>
      </p:sp>
      <p:sp>
        <p:nvSpPr>
          <p:cNvPr id="41" name="">
            <a:extLst xmlns:a="http://schemas.openxmlformats.org/drawingml/2006/main">
              <a:ext uri="{FF2B5EF4-FFF2-40B4-BE49-F238E27FC236}">
                <a16:creationId xmlns:a16="http://schemas.microsoft.com/office/drawing/2014/main" id="{4C7EA2D8-8E43-4059-963C-9DC9FA385FBD}"/>
              </a:ext>
            </a:extLst>
          </p:cNvPr>
          <p:cNvSpPr>
            <a:spLocks xmlns:a="http://schemas.openxmlformats.org/drawingml/2006/main" noGrp="1"/>
          </p:cNvSpPr>
          <p:nvPr/>
        </p:nvSpPr>
        <p:spPr>
          <a:xfrm xmlns:a="http://schemas.openxmlformats.org/drawingml/2006/main">
            <a:off x="6191250" y="49053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D7E7F2"/>
                </a:solidFill>
                <a:latin typeface="Arial Unicode MS"/>
                <a:ea typeface="Arial Unicode MS"/>
                <a:cs typeface="Arial Unicode MS"/>
              </a:defRPr>
            </a:defPPr>
          </a:lstStyle>
          <a:p xmlns:a="http://schemas.openxmlformats.org/drawingml/2006/main">
            <a:pPr algn="l">
              <a:defRPr sz="1275" b="0">
                <a:solidFill>
                  <a:srgbClr val="D7E7F2"/>
                </a:solidFill>
                <a:latin typeface="Arial Unicode MS"/>
                <a:ea typeface="Arial Unicode MS"/>
                <a:cs typeface="Arial Unicode MS"/>
              </a:defRPr>
            </a:pPr>
            <a:r>
              <a:rPr sz="1275" b="0">
                <a:solidFill>
                  <a:srgbClr val="D7E7F2"/>
                </a:solidFill>
                <a:latin typeface="Arial Unicode MS"/>
                <a:ea typeface="Arial Unicode MS"/>
                <a:cs typeface="Arial Unicode MS"/>
              </a:rPr>
              <a:t>转移用户质押、追溯奖励、绕过 timelock、破坏 ELON 兑付储备</a:t>
            </a:r>
          </a:p>
        </p:txBody>
      </p:sp>
      <p:sp>
        <p:nvSpPr>
          <p:cNvPr id="42" name="">
            <a:extLst xmlns:a="http://schemas.openxmlformats.org/drawingml/2006/main">
              <a:ext uri="{FF2B5EF4-FFF2-40B4-BE49-F238E27FC236}">
                <a16:creationId xmlns:a16="http://schemas.microsoft.com/office/drawing/2014/main" id="{1D366B1A-BB3B-490D-BED0-9FC1A602FAB8}"/>
              </a:ext>
            </a:extLst>
          </p:cNvPr>
          <p:cNvSpPr>
            <a:spLocks xmlns:a="http://schemas.openxmlformats.org/drawingml/2006/main" noGrp="1"/>
          </p:cNvSpPr>
          <p:nvPr/>
        </p:nvSpPr>
        <p:spPr>
          <a:xfrm xmlns:a="http://schemas.openxmlformats.org/drawingml/2006/main">
            <a:off x="666750" y="5876925"/>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F1B84B"/>
                </a:solidFill>
                <a:latin typeface="Arial Unicode MS"/>
                <a:ea typeface="Arial Unicode MS"/>
                <a:cs typeface="Arial Unicode MS"/>
              </a:defRPr>
            </a:defPPr>
          </a:lstStyle>
          <a:p xmlns:a="http://schemas.openxmlformats.org/drawingml/2006/main">
            <a:pPr algn="l">
              <a:defRPr sz="1050" b="0">
                <a:solidFill>
                  <a:srgbClr val="F1B84B"/>
                </a:solidFill>
                <a:latin typeface="Arial Unicode MS"/>
                <a:ea typeface="Arial Unicode MS"/>
                <a:cs typeface="Arial Unicode MS"/>
              </a:defRPr>
            </a:pPr>
            <a:r>
              <a:rPr sz="1050" b="0">
                <a:solidFill>
                  <a:srgbClr val="F1B84B"/>
                </a:solidFill>
                <a:latin typeface="Arial Unicode MS"/>
                <a:ea typeface="Arial Unicode MS"/>
                <a:cs typeface="Arial Unicode MS"/>
              </a:rPr>
              <a:t>执行器必须使用动作白名单；紧急权限自动到期。</a:t>
            </a:r>
          </a:p>
        </p:txBody>
      </p:sp>
    </p:spTree>
    <p:extLst>
      <p:ext uri="{BB962C8B-B14F-4D97-AF65-F5344CB8AC3E}">
        <p14:creationId xmlns:p14="http://schemas.microsoft.com/office/powerpoint/2010/main" val="1379385399"/>
      </p:ext>
    </p:extLst>
  </p:cSld>
</p:sld>
</file>

<file path=ppt/slides/slide17.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E7FCBDD-19AE-4DA8-A2AE-A1B85E440A0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A6746CD-3D42-4CA8-99DA-00DF9A768911}"/>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16 推进计划</a:t>
            </a:r>
          </a:p>
        </p:txBody>
      </p:sp>
      <p:sp>
        <p:nvSpPr>
          <p:cNvPr id="3" name="">
            <a:extLst xmlns:a="http://schemas.openxmlformats.org/drawingml/2006/main">
              <a:ext uri="{FF2B5EF4-FFF2-40B4-BE49-F238E27FC236}">
                <a16:creationId xmlns:a16="http://schemas.microsoft.com/office/drawing/2014/main" id="{BB7CD6F1-3701-4C9C-9D5D-40513703E190}"/>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分阶段实施</a:t>
            </a:r>
          </a:p>
        </p:txBody>
      </p:sp>
      <p:sp>
        <p:nvSpPr>
          <p:cNvPr id="4" name="">
            <a:extLst xmlns:a="http://schemas.openxmlformats.org/drawingml/2006/main">
              <a:ext uri="{FF2B5EF4-FFF2-40B4-BE49-F238E27FC236}">
                <a16:creationId xmlns:a16="http://schemas.microsoft.com/office/drawing/2014/main" id="{8FD0FEF4-E4C3-449F-82A2-8FDD62FEBF39}"/>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2D6BAE0-1471-41D2-B151-0D7E14AA0555}"/>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17</a:t>
            </a:r>
          </a:p>
        </p:txBody>
      </p:sp>
      <p:sp>
        <p:nvSpPr>
          <p:cNvPr id="6" name="">
            <a:extLst xmlns:a="http://schemas.openxmlformats.org/drawingml/2006/main">
              <a:ext uri="{FF2B5EF4-FFF2-40B4-BE49-F238E27FC236}">
                <a16:creationId xmlns:a16="http://schemas.microsoft.com/office/drawing/2014/main" id="{4B0A4262-EB1D-409E-B399-0DBB48EAC4EC}"/>
              </a:ext>
            </a:extLst>
          </p:cNvPr>
          <p:cNvSpPr>
            <a:spLocks xmlns:a="http://schemas.openxmlformats.org/drawingml/2006/main" noGrp="1"/>
          </p:cNvSpPr>
          <p:nvPr/>
        </p:nvSpPr>
        <p:spPr>
          <a:xfrm xmlns:a="http://schemas.openxmlformats.org/drawingml/2006/main">
            <a:off x="666750" y="1571625"/>
            <a:ext cx="647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550" b="1">
                <a:solidFill>
                  <a:srgbClr val="8FA9BB"/>
                </a:solidFill>
                <a:latin typeface="Arial Unicode MS"/>
                <a:ea typeface="Arial Unicode MS"/>
                <a:cs typeface="Arial Unicode MS"/>
              </a:defRPr>
            </a:defPPr>
          </a:lstStyle>
          <a:p xmlns:a="http://schemas.openxmlformats.org/drawingml/2006/main">
            <a:pPr algn="ctr">
              <a:defRPr sz="2550" b="1">
                <a:solidFill>
                  <a:srgbClr val="8FA9BB"/>
                </a:solidFill>
                <a:latin typeface="Arial Unicode MS"/>
                <a:ea typeface="Arial Unicode MS"/>
                <a:cs typeface="Arial Unicode MS"/>
              </a:defRPr>
            </a:pPr>
            <a:r>
              <a:rPr sz="2550" b="1">
                <a:solidFill>
                  <a:srgbClr val="8FA9BB"/>
                </a:solidFill>
                <a:latin typeface="Arial Unicode MS"/>
                <a:ea typeface="Arial Unicode MS"/>
                <a:cs typeface="Arial Unicode MS"/>
              </a:rPr>
              <a:t>0</a:t>
            </a:r>
          </a:p>
        </p:txBody>
      </p:sp>
      <p:sp>
        <p:nvSpPr>
          <p:cNvPr id="7" name="">
            <a:extLst xmlns:a="http://schemas.openxmlformats.org/drawingml/2006/main">
              <a:ext uri="{FF2B5EF4-FFF2-40B4-BE49-F238E27FC236}">
                <a16:creationId xmlns:a16="http://schemas.microsoft.com/office/drawing/2014/main" id="{98A25D89-6405-4E76-BC53-2A9E76C70DB3}"/>
              </a:ext>
            </a:extLst>
          </p:cNvPr>
          <p:cNvSpPr>
            <a:spLocks xmlns:a="http://schemas.openxmlformats.org/drawingml/2006/main" noGrp="1"/>
          </p:cNvSpPr>
          <p:nvPr/>
        </p:nvSpPr>
        <p:spPr>
          <a:xfrm xmlns:a="http://schemas.openxmlformats.org/drawingml/2006/main">
            <a:off x="1428750" y="1838325"/>
            <a:ext cx="1619250" cy="38100"/>
          </a:xfrm>
          <a:prstGeom xmlns:a="http://schemas.openxmlformats.org/drawingml/2006/main" prst="rect">
            <a:avLst/>
          </a:prstGeom>
          <a:solidFill xmlns:a="http://schemas.openxmlformats.org/drawingml/2006/main">
            <a:srgbClr val="8FA9B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724D91-D28D-42C9-8C1F-A6C8024496CA}"/>
              </a:ext>
            </a:extLst>
          </p:cNvPr>
          <p:cNvSpPr>
            <a:spLocks xmlns:a="http://schemas.openxmlformats.org/drawingml/2006/main" noGrp="1"/>
          </p:cNvSpPr>
          <p:nvPr/>
        </p:nvSpPr>
        <p:spPr>
          <a:xfrm xmlns:a="http://schemas.openxmlformats.org/drawingml/2006/main">
            <a:off x="3286125" y="157162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a:solidFill>
                  <a:srgbClr val="F7FBFF"/>
                </a:solidFill>
                <a:latin typeface="Arial Unicode MS"/>
                <a:ea typeface="Arial Unicode MS"/>
                <a:cs typeface="Arial Unicode MS"/>
              </a:defRPr>
            </a:defPPr>
          </a:lstStyle>
          <a:p xmlns:a="http://schemas.openxmlformats.org/drawingml/2006/main">
            <a:pPr algn="l">
              <a:defRPr sz="1725" b="1">
                <a:solidFill>
                  <a:srgbClr val="F7FBFF"/>
                </a:solidFill>
                <a:latin typeface="Arial Unicode MS"/>
                <a:ea typeface="Arial Unicode MS"/>
                <a:cs typeface="Arial Unicode MS"/>
              </a:defRPr>
            </a:pPr>
            <a:r>
              <a:rPr sz="1725" b="1">
                <a:solidFill>
                  <a:srgbClr val="F7FBFF"/>
                </a:solidFill>
                <a:latin typeface="Arial Unicode MS"/>
                <a:ea typeface="Arial Unicode MS"/>
                <a:cs typeface="Arial Unicode MS"/>
              </a:rPr>
              <a:t>参数与仿真</a:t>
            </a:r>
          </a:p>
        </p:txBody>
      </p:sp>
      <p:sp>
        <p:nvSpPr>
          <p:cNvPr id="9" name="">
            <a:extLst xmlns:a="http://schemas.openxmlformats.org/drawingml/2006/main">
              <a:ext uri="{FF2B5EF4-FFF2-40B4-BE49-F238E27FC236}">
                <a16:creationId xmlns:a16="http://schemas.microsoft.com/office/drawing/2014/main" id="{21471785-1EC0-4AAD-B8A0-00E2E115E931}"/>
              </a:ext>
            </a:extLst>
          </p:cNvPr>
          <p:cNvSpPr>
            <a:spLocks xmlns:a="http://schemas.openxmlformats.org/drawingml/2006/main" noGrp="1"/>
          </p:cNvSpPr>
          <p:nvPr/>
        </p:nvSpPr>
        <p:spPr>
          <a:xfrm xmlns:a="http://schemas.openxmlformats.org/drawingml/2006/main">
            <a:off x="5905500" y="1571625"/>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票权集中度、发行与储备压力</a:t>
            </a:r>
          </a:p>
        </p:txBody>
      </p:sp>
      <p:sp>
        <p:nvSpPr>
          <p:cNvPr id="10" name="">
            <a:extLst xmlns:a="http://schemas.openxmlformats.org/drawingml/2006/main">
              <a:ext uri="{FF2B5EF4-FFF2-40B4-BE49-F238E27FC236}">
                <a16:creationId xmlns:a16="http://schemas.microsoft.com/office/drawing/2014/main" id="{6C37ED74-BD89-41DA-8A82-D489926861C8}"/>
              </a:ext>
            </a:extLst>
          </p:cNvPr>
          <p:cNvSpPr>
            <a:spLocks xmlns:a="http://schemas.openxmlformats.org/drawingml/2006/main" noGrp="1"/>
          </p:cNvSpPr>
          <p:nvPr/>
        </p:nvSpPr>
        <p:spPr>
          <a:xfrm xmlns:a="http://schemas.openxmlformats.org/drawingml/2006/main">
            <a:off x="666750" y="2447925"/>
            <a:ext cx="647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550" b="1">
                <a:solidFill>
                  <a:srgbClr val="4DE3D1"/>
                </a:solidFill>
                <a:latin typeface="Arial Unicode MS"/>
                <a:ea typeface="Arial Unicode MS"/>
                <a:cs typeface="Arial Unicode MS"/>
              </a:defRPr>
            </a:defPPr>
          </a:lstStyle>
          <a:p xmlns:a="http://schemas.openxmlformats.org/drawingml/2006/main">
            <a:pPr algn="ctr">
              <a:defRPr sz="2550" b="1">
                <a:solidFill>
                  <a:srgbClr val="4DE3D1"/>
                </a:solidFill>
                <a:latin typeface="Arial Unicode MS"/>
                <a:ea typeface="Arial Unicode MS"/>
                <a:cs typeface="Arial Unicode MS"/>
              </a:defRPr>
            </a:pPr>
            <a:r>
              <a:rPr sz="2550" b="1">
                <a:solidFill>
                  <a:srgbClr val="4DE3D1"/>
                </a:solidFill>
                <a:latin typeface="Arial Unicode MS"/>
                <a:ea typeface="Arial Unicode MS"/>
                <a:cs typeface="Arial Unicode MS"/>
              </a:rPr>
              <a:t>1</a:t>
            </a:r>
          </a:p>
        </p:txBody>
      </p:sp>
      <p:sp>
        <p:nvSpPr>
          <p:cNvPr id="11" name="">
            <a:extLst xmlns:a="http://schemas.openxmlformats.org/drawingml/2006/main">
              <a:ext uri="{FF2B5EF4-FFF2-40B4-BE49-F238E27FC236}">
                <a16:creationId xmlns:a16="http://schemas.microsoft.com/office/drawing/2014/main" id="{EC937111-9A1D-4FC6-961B-EBDE7FAD8CDC}"/>
              </a:ext>
            </a:extLst>
          </p:cNvPr>
          <p:cNvSpPr>
            <a:spLocks xmlns:a="http://schemas.openxmlformats.org/drawingml/2006/main" noGrp="1"/>
          </p:cNvSpPr>
          <p:nvPr/>
        </p:nvSpPr>
        <p:spPr>
          <a:xfrm xmlns:a="http://schemas.openxmlformats.org/drawingml/2006/main">
            <a:off x="1428750" y="2714625"/>
            <a:ext cx="1619250" cy="381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CAB8F6A-7DBE-49A5-9FA0-5941970DF5FA}"/>
              </a:ext>
            </a:extLst>
          </p:cNvPr>
          <p:cNvSpPr>
            <a:spLocks xmlns:a="http://schemas.openxmlformats.org/drawingml/2006/main" noGrp="1"/>
          </p:cNvSpPr>
          <p:nvPr/>
        </p:nvSpPr>
        <p:spPr>
          <a:xfrm xmlns:a="http://schemas.openxmlformats.org/drawingml/2006/main">
            <a:off x="3286125" y="244792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a:solidFill>
                  <a:srgbClr val="F7FBFF"/>
                </a:solidFill>
                <a:latin typeface="Arial Unicode MS"/>
                <a:ea typeface="Arial Unicode MS"/>
                <a:cs typeface="Arial Unicode MS"/>
              </a:defRPr>
            </a:defPPr>
          </a:lstStyle>
          <a:p xmlns:a="http://schemas.openxmlformats.org/drawingml/2006/main">
            <a:pPr algn="l">
              <a:defRPr sz="1725" b="1">
                <a:solidFill>
                  <a:srgbClr val="F7FBFF"/>
                </a:solidFill>
                <a:latin typeface="Arial Unicode MS"/>
                <a:ea typeface="Arial Unicode MS"/>
                <a:cs typeface="Arial Unicode MS"/>
              </a:defRPr>
            </a:pPr>
            <a:r>
              <a:rPr sz="1725" b="1">
                <a:solidFill>
                  <a:srgbClr val="F7FBFF"/>
                </a:solidFill>
                <a:latin typeface="Arial Unicode MS"/>
                <a:ea typeface="Arial Unicode MS"/>
                <a:cs typeface="Arial Unicode MS"/>
              </a:rPr>
              <a:t>BP 竞选与资料</a:t>
            </a:r>
          </a:p>
        </p:txBody>
      </p:sp>
      <p:sp>
        <p:nvSpPr>
          <p:cNvPr id="13" name="">
            <a:extLst xmlns:a="http://schemas.openxmlformats.org/drawingml/2006/main">
              <a:ext uri="{FF2B5EF4-FFF2-40B4-BE49-F238E27FC236}">
                <a16:creationId xmlns:a16="http://schemas.microsoft.com/office/drawing/2014/main" id="{989ABD90-EF5A-4A15-8E32-DEF250239FDF}"/>
              </a:ext>
            </a:extLst>
          </p:cNvPr>
          <p:cNvSpPr>
            <a:spLocks xmlns:a="http://schemas.openxmlformats.org/drawingml/2006/main" noGrp="1"/>
          </p:cNvSpPr>
          <p:nvPr/>
        </p:nvSpPr>
        <p:spPr>
          <a:xfrm xmlns:a="http://schemas.openxmlformats.org/drawingml/2006/main">
            <a:off x="5905500" y="2447925"/>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自质押、metadata、平均分票</a:t>
            </a:r>
          </a:p>
        </p:txBody>
      </p:sp>
      <p:sp>
        <p:nvSpPr>
          <p:cNvPr id="14" name="">
            <a:extLst xmlns:a="http://schemas.openxmlformats.org/drawingml/2006/main">
              <a:ext uri="{FF2B5EF4-FFF2-40B4-BE49-F238E27FC236}">
                <a16:creationId xmlns:a16="http://schemas.microsoft.com/office/drawing/2014/main" id="{C54C9C14-1A39-4D4D-A2B9-56394F205BA0}"/>
              </a:ext>
            </a:extLst>
          </p:cNvPr>
          <p:cNvSpPr>
            <a:spLocks xmlns:a="http://schemas.openxmlformats.org/drawingml/2006/main" noGrp="1"/>
          </p:cNvSpPr>
          <p:nvPr/>
        </p:nvSpPr>
        <p:spPr>
          <a:xfrm xmlns:a="http://schemas.openxmlformats.org/drawingml/2006/main">
            <a:off x="666750" y="3324225"/>
            <a:ext cx="647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550" b="1">
                <a:solidFill>
                  <a:srgbClr val="F1B84B"/>
                </a:solidFill>
                <a:latin typeface="Arial Unicode MS"/>
                <a:ea typeface="Arial Unicode MS"/>
                <a:cs typeface="Arial Unicode MS"/>
              </a:defRPr>
            </a:defPPr>
          </a:lstStyle>
          <a:p xmlns:a="http://schemas.openxmlformats.org/drawingml/2006/main">
            <a:pPr algn="ctr">
              <a:defRPr sz="2550" b="1">
                <a:solidFill>
                  <a:srgbClr val="F1B84B"/>
                </a:solidFill>
                <a:latin typeface="Arial Unicode MS"/>
                <a:ea typeface="Arial Unicode MS"/>
                <a:cs typeface="Arial Unicode MS"/>
              </a:defRPr>
            </a:pPr>
            <a:r>
              <a:rPr sz="2550" b="1">
                <a:solidFill>
                  <a:srgbClr val="F1B84B"/>
                </a:solidFill>
                <a:latin typeface="Arial Unicode MS"/>
                <a:ea typeface="Arial Unicode MS"/>
                <a:cs typeface="Arial Unicode MS"/>
              </a:rPr>
              <a:t>2</a:t>
            </a:r>
          </a:p>
        </p:txBody>
      </p:sp>
      <p:sp>
        <p:nvSpPr>
          <p:cNvPr id="15" name="">
            <a:extLst xmlns:a="http://schemas.openxmlformats.org/drawingml/2006/main">
              <a:ext uri="{FF2B5EF4-FFF2-40B4-BE49-F238E27FC236}">
                <a16:creationId xmlns:a16="http://schemas.microsoft.com/office/drawing/2014/main" id="{BCD569F9-D5A6-46DC-AFD4-911C20CDCB52}"/>
              </a:ext>
            </a:extLst>
          </p:cNvPr>
          <p:cNvSpPr>
            <a:spLocks xmlns:a="http://schemas.openxmlformats.org/drawingml/2006/main" noGrp="1"/>
          </p:cNvSpPr>
          <p:nvPr/>
        </p:nvSpPr>
        <p:spPr>
          <a:xfrm xmlns:a="http://schemas.openxmlformats.org/drawingml/2006/main">
            <a:off x="1428750" y="3590925"/>
            <a:ext cx="1619250" cy="38100"/>
          </a:xfrm>
          <a:prstGeom xmlns:a="http://schemas.openxmlformats.org/drawingml/2006/main" prst="rect">
            <a:avLst/>
          </a:prstGeom>
          <a:solidFill xmlns:a="http://schemas.openxmlformats.org/drawingml/2006/main">
            <a:srgbClr val="F1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1701C30-2764-4A45-B76F-BA729C579058}"/>
              </a:ext>
            </a:extLst>
          </p:cNvPr>
          <p:cNvSpPr>
            <a:spLocks xmlns:a="http://schemas.openxmlformats.org/drawingml/2006/main" noGrp="1"/>
          </p:cNvSpPr>
          <p:nvPr/>
        </p:nvSpPr>
        <p:spPr>
          <a:xfrm xmlns:a="http://schemas.openxmlformats.org/drawingml/2006/main">
            <a:off x="3286125" y="332422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a:solidFill>
                  <a:srgbClr val="F7FBFF"/>
                </a:solidFill>
                <a:latin typeface="Arial Unicode MS"/>
                <a:ea typeface="Arial Unicode MS"/>
                <a:cs typeface="Arial Unicode MS"/>
              </a:defRPr>
            </a:defPPr>
          </a:lstStyle>
          <a:p xmlns:a="http://schemas.openxmlformats.org/drawingml/2006/main">
            <a:pPr algn="l">
              <a:defRPr sz="1725" b="1">
                <a:solidFill>
                  <a:srgbClr val="F7FBFF"/>
                </a:solidFill>
                <a:latin typeface="Arial Unicode MS"/>
                <a:ea typeface="Arial Unicode MS"/>
                <a:cs typeface="Arial Unicode MS"/>
              </a:defRPr>
            </a:pPr>
            <a:r>
              <a:rPr sz="1725" b="1">
                <a:solidFill>
                  <a:srgbClr val="F7FBFF"/>
                </a:solidFill>
                <a:latin typeface="Arial Unicode MS"/>
                <a:ea typeface="Arial Unicode MS"/>
                <a:cs typeface="Arial Unicode MS"/>
              </a:rPr>
              <a:t>绩效与奖励</a:t>
            </a:r>
          </a:p>
        </p:txBody>
      </p:sp>
      <p:sp>
        <p:nvSpPr>
          <p:cNvPr id="17" name="">
            <a:extLst xmlns:a="http://schemas.openxmlformats.org/drawingml/2006/main">
              <a:ext uri="{FF2B5EF4-FFF2-40B4-BE49-F238E27FC236}">
                <a16:creationId xmlns:a16="http://schemas.microsoft.com/office/drawing/2014/main" id="{ECCC8DB6-79F0-4857-B11C-8F108D1E70D8}"/>
              </a:ext>
            </a:extLst>
          </p:cNvPr>
          <p:cNvSpPr>
            <a:spLocks xmlns:a="http://schemas.openxmlformats.org/drawingml/2006/main" noGrp="1"/>
          </p:cNvSpPr>
          <p:nvPr/>
        </p:nvSpPr>
        <p:spPr>
          <a:xfrm xmlns:a="http://schemas.openxmlformats.org/drawingml/2006/main">
            <a:off x="5905500" y="3324225"/>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intrinsic、epoch、ELON 负债</a:t>
            </a:r>
          </a:p>
        </p:txBody>
      </p:sp>
      <p:sp>
        <p:nvSpPr>
          <p:cNvPr id="18" name="">
            <a:extLst xmlns:a="http://schemas.openxmlformats.org/drawingml/2006/main">
              <a:ext uri="{FF2B5EF4-FFF2-40B4-BE49-F238E27FC236}">
                <a16:creationId xmlns:a16="http://schemas.microsoft.com/office/drawing/2014/main" id="{C838F222-56D9-4EF7-BA1B-12A1DE61270C}"/>
              </a:ext>
            </a:extLst>
          </p:cNvPr>
          <p:cNvSpPr>
            <a:spLocks xmlns:a="http://schemas.openxmlformats.org/drawingml/2006/main" noGrp="1"/>
          </p:cNvSpPr>
          <p:nvPr/>
        </p:nvSpPr>
        <p:spPr>
          <a:xfrm xmlns:a="http://schemas.openxmlformats.org/drawingml/2006/main">
            <a:off x="666750" y="4200525"/>
            <a:ext cx="647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550" b="1">
                <a:solidFill>
                  <a:srgbClr val="58D68D"/>
                </a:solidFill>
                <a:latin typeface="Arial Unicode MS"/>
                <a:ea typeface="Arial Unicode MS"/>
                <a:cs typeface="Arial Unicode MS"/>
              </a:defRPr>
            </a:defPPr>
          </a:lstStyle>
          <a:p xmlns:a="http://schemas.openxmlformats.org/drawingml/2006/main">
            <a:pPr algn="ctr">
              <a:defRPr sz="2550" b="1">
                <a:solidFill>
                  <a:srgbClr val="58D68D"/>
                </a:solidFill>
                <a:latin typeface="Arial Unicode MS"/>
                <a:ea typeface="Arial Unicode MS"/>
                <a:cs typeface="Arial Unicode MS"/>
              </a:defRPr>
            </a:pPr>
            <a:r>
              <a:rPr sz="2550" b="1">
                <a:solidFill>
                  <a:srgbClr val="58D68D"/>
                </a:solidFill>
                <a:latin typeface="Arial Unicode MS"/>
                <a:ea typeface="Arial Unicode MS"/>
                <a:cs typeface="Arial Unicode MS"/>
              </a:rPr>
              <a:t>3</a:t>
            </a:r>
          </a:p>
        </p:txBody>
      </p:sp>
      <p:sp>
        <p:nvSpPr>
          <p:cNvPr id="19" name="">
            <a:extLst xmlns:a="http://schemas.openxmlformats.org/drawingml/2006/main">
              <a:ext uri="{FF2B5EF4-FFF2-40B4-BE49-F238E27FC236}">
                <a16:creationId xmlns:a16="http://schemas.microsoft.com/office/drawing/2014/main" id="{374F42A1-8A23-455C-AA56-4F123E009E59}"/>
              </a:ext>
            </a:extLst>
          </p:cNvPr>
          <p:cNvSpPr>
            <a:spLocks xmlns:a="http://schemas.openxmlformats.org/drawingml/2006/main" noGrp="1"/>
          </p:cNvSpPr>
          <p:nvPr/>
        </p:nvSpPr>
        <p:spPr>
          <a:xfrm xmlns:a="http://schemas.openxmlformats.org/drawingml/2006/main">
            <a:off x="1428750" y="4467225"/>
            <a:ext cx="1619250" cy="38100"/>
          </a:xfrm>
          <a:prstGeom xmlns:a="http://schemas.openxmlformats.org/drawingml/2006/main" prst="rect">
            <a:avLst/>
          </a:prstGeom>
          <a:solidFill xmlns:a="http://schemas.openxmlformats.org/drawingml/2006/main">
            <a:srgbClr val="58D68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5A22C69-68A0-4FB9-BA50-D1604A5333E3}"/>
              </a:ext>
            </a:extLst>
          </p:cNvPr>
          <p:cNvSpPr>
            <a:spLocks xmlns:a="http://schemas.openxmlformats.org/drawingml/2006/main" noGrp="1"/>
          </p:cNvSpPr>
          <p:nvPr/>
        </p:nvSpPr>
        <p:spPr>
          <a:xfrm xmlns:a="http://schemas.openxmlformats.org/drawingml/2006/main">
            <a:off x="3286125" y="420052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a:solidFill>
                  <a:srgbClr val="F7FBFF"/>
                </a:solidFill>
                <a:latin typeface="Arial Unicode MS"/>
                <a:ea typeface="Arial Unicode MS"/>
                <a:cs typeface="Arial Unicode MS"/>
              </a:defRPr>
            </a:defPPr>
          </a:lstStyle>
          <a:p xmlns:a="http://schemas.openxmlformats.org/drawingml/2006/main">
            <a:pPr algn="l">
              <a:defRPr sz="1725" b="1">
                <a:solidFill>
                  <a:srgbClr val="F7FBFF"/>
                </a:solidFill>
                <a:latin typeface="Arial Unicode MS"/>
                <a:ea typeface="Arial Unicode MS"/>
                <a:cs typeface="Arial Unicode MS"/>
              </a:defRPr>
            </a:pPr>
            <a:r>
              <a:rPr sz="1725" b="1">
                <a:solidFill>
                  <a:srgbClr val="F7FBFF"/>
                </a:solidFill>
                <a:latin typeface="Arial Unicode MS"/>
                <a:ea typeface="Arial Unicode MS"/>
                <a:cs typeface="Arial Unicode MS"/>
              </a:rPr>
              <a:t>DAO</a:t>
            </a:r>
          </a:p>
        </p:txBody>
      </p:sp>
      <p:sp>
        <p:nvSpPr>
          <p:cNvPr id="21" name="">
            <a:extLst xmlns:a="http://schemas.openxmlformats.org/drawingml/2006/main">
              <a:ext uri="{FF2B5EF4-FFF2-40B4-BE49-F238E27FC236}">
                <a16:creationId xmlns:a16="http://schemas.microsoft.com/office/drawing/2014/main" id="{2F3701B6-8D79-400F-B182-07B15281F605}"/>
              </a:ext>
            </a:extLst>
          </p:cNvPr>
          <p:cNvSpPr>
            <a:spLocks xmlns:a="http://schemas.openxmlformats.org/drawingml/2006/main" noGrp="1"/>
          </p:cNvSpPr>
          <p:nvPr/>
        </p:nvSpPr>
        <p:spPr>
          <a:xfrm xmlns:a="http://schemas.openxmlformats.org/drawingml/2006/main">
            <a:off x="5905500" y="4200525"/>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快照、白名单、timelock</a:t>
            </a:r>
          </a:p>
        </p:txBody>
      </p:sp>
      <p:sp>
        <p:nvSpPr>
          <p:cNvPr id="22" name="">
            <a:extLst xmlns:a="http://schemas.openxmlformats.org/drawingml/2006/main">
              <a:ext uri="{FF2B5EF4-FFF2-40B4-BE49-F238E27FC236}">
                <a16:creationId xmlns:a16="http://schemas.microsoft.com/office/drawing/2014/main" id="{9DB37BF9-F1A9-4280-87A9-43AC489A9F14}"/>
              </a:ext>
            </a:extLst>
          </p:cNvPr>
          <p:cNvSpPr>
            <a:spLocks xmlns:a="http://schemas.openxmlformats.org/drawingml/2006/main" noGrp="1"/>
          </p:cNvSpPr>
          <p:nvPr/>
        </p:nvSpPr>
        <p:spPr>
          <a:xfrm xmlns:a="http://schemas.openxmlformats.org/drawingml/2006/main">
            <a:off x="666750" y="5076825"/>
            <a:ext cx="647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550" b="1">
                <a:solidFill>
                  <a:srgbClr val="FF7A6E"/>
                </a:solidFill>
                <a:latin typeface="Arial Unicode MS"/>
                <a:ea typeface="Arial Unicode MS"/>
                <a:cs typeface="Arial Unicode MS"/>
              </a:defRPr>
            </a:defPPr>
          </a:lstStyle>
          <a:p xmlns:a="http://schemas.openxmlformats.org/drawingml/2006/main">
            <a:pPr algn="ctr">
              <a:defRPr sz="2550" b="1">
                <a:solidFill>
                  <a:srgbClr val="FF7A6E"/>
                </a:solidFill>
                <a:latin typeface="Arial Unicode MS"/>
                <a:ea typeface="Arial Unicode MS"/>
                <a:cs typeface="Arial Unicode MS"/>
              </a:defRPr>
            </a:pPr>
            <a:r>
              <a:rPr sz="2550" b="1">
                <a:solidFill>
                  <a:srgbClr val="FF7A6E"/>
                </a:solidFill>
                <a:latin typeface="Arial Unicode MS"/>
                <a:ea typeface="Arial Unicode MS"/>
                <a:cs typeface="Arial Unicode MS"/>
              </a:rPr>
              <a:t>4</a:t>
            </a:r>
          </a:p>
        </p:txBody>
      </p:sp>
      <p:sp>
        <p:nvSpPr>
          <p:cNvPr id="23" name="">
            <a:extLst xmlns:a="http://schemas.openxmlformats.org/drawingml/2006/main">
              <a:ext uri="{FF2B5EF4-FFF2-40B4-BE49-F238E27FC236}">
                <a16:creationId xmlns:a16="http://schemas.microsoft.com/office/drawing/2014/main" id="{63CC3A71-6E6D-4163-9D73-F94FEE5C7CCC}"/>
              </a:ext>
            </a:extLst>
          </p:cNvPr>
          <p:cNvSpPr>
            <a:spLocks xmlns:a="http://schemas.openxmlformats.org/drawingml/2006/main" noGrp="1"/>
          </p:cNvSpPr>
          <p:nvPr/>
        </p:nvSpPr>
        <p:spPr>
          <a:xfrm xmlns:a="http://schemas.openxmlformats.org/drawingml/2006/main">
            <a:off x="1428750" y="5343525"/>
            <a:ext cx="1619250" cy="38100"/>
          </a:xfrm>
          <a:prstGeom xmlns:a="http://schemas.openxmlformats.org/drawingml/2006/main" prst="rect">
            <a:avLst/>
          </a:prstGeom>
          <a:solidFill xmlns:a="http://schemas.openxmlformats.org/drawingml/2006/main">
            <a:srgbClr val="FF7A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E6EA944-D70D-4C4D-88C1-151DEB3B94C3}"/>
              </a:ext>
            </a:extLst>
          </p:cNvPr>
          <p:cNvSpPr>
            <a:spLocks xmlns:a="http://schemas.openxmlformats.org/drawingml/2006/main" noGrp="1"/>
          </p:cNvSpPr>
          <p:nvPr/>
        </p:nvSpPr>
        <p:spPr>
          <a:xfrm xmlns:a="http://schemas.openxmlformats.org/drawingml/2006/main">
            <a:off x="3286125" y="507682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a:solidFill>
                  <a:srgbClr val="F7FBFF"/>
                </a:solidFill>
                <a:latin typeface="Arial Unicode MS"/>
                <a:ea typeface="Arial Unicode MS"/>
                <a:cs typeface="Arial Unicode MS"/>
              </a:defRPr>
            </a:defPPr>
          </a:lstStyle>
          <a:p xmlns:a="http://schemas.openxmlformats.org/drawingml/2006/main">
            <a:pPr algn="l">
              <a:defRPr sz="1725" b="1">
                <a:solidFill>
                  <a:srgbClr val="F7FBFF"/>
                </a:solidFill>
                <a:latin typeface="Arial Unicode MS"/>
                <a:ea typeface="Arial Unicode MS"/>
                <a:cs typeface="Arial Unicode MS"/>
              </a:defRPr>
            </a:pPr>
            <a:r>
              <a:rPr sz="1725" b="1">
                <a:solidFill>
                  <a:srgbClr val="F7FBFF"/>
                </a:solidFill>
                <a:latin typeface="Arial Unicode MS"/>
                <a:ea typeface="Arial Unicode MS"/>
                <a:cs typeface="Arial Unicode MS"/>
              </a:rPr>
              <a:t>作弊证据</a:t>
            </a:r>
          </a:p>
        </p:txBody>
      </p:sp>
      <p:sp>
        <p:nvSpPr>
          <p:cNvPr id="25" name="">
            <a:extLst xmlns:a="http://schemas.openxmlformats.org/drawingml/2006/main">
              <a:ext uri="{FF2B5EF4-FFF2-40B4-BE49-F238E27FC236}">
                <a16:creationId xmlns:a16="http://schemas.microsoft.com/office/drawing/2014/main" id="{FEFCF097-1BB9-400E-AE01-94C4E26946D0}"/>
              </a:ext>
            </a:extLst>
          </p:cNvPr>
          <p:cNvSpPr>
            <a:spLocks xmlns:a="http://schemas.openxmlformats.org/drawingml/2006/main" noGrp="1"/>
          </p:cNvSpPr>
          <p:nvPr/>
        </p:nvSpPr>
        <p:spPr>
          <a:xfrm xmlns:a="http://schemas.openxmlformats.org/drawingml/2006/main">
            <a:off x="5905500" y="5076825"/>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双签验证、挑战与罚没</a:t>
            </a:r>
          </a:p>
        </p:txBody>
      </p:sp>
      <p:sp>
        <p:nvSpPr>
          <p:cNvPr id="26" name="">
            <a:extLst xmlns:a="http://schemas.openxmlformats.org/drawingml/2006/main">
              <a:ext uri="{FF2B5EF4-FFF2-40B4-BE49-F238E27FC236}">
                <a16:creationId xmlns:a16="http://schemas.microsoft.com/office/drawing/2014/main" id="{417972A3-0543-4A56-891D-EB0A1A52BA6A}"/>
              </a:ext>
            </a:extLst>
          </p:cNvPr>
          <p:cNvSpPr>
            <a:spLocks xmlns:a="http://schemas.openxmlformats.org/drawingml/2006/main" noGrp="1"/>
          </p:cNvSpPr>
          <p:nvPr/>
        </p:nvSpPr>
        <p:spPr>
          <a:xfrm xmlns:a="http://schemas.openxmlformats.org/drawingml/2006/main">
            <a:off x="666750" y="6048375"/>
            <a:ext cx="10287000" cy="323850"/>
          </a:xfrm>
          <a:prstGeom xmlns:a="http://schemas.openxmlformats.org/drawingml/2006/main" prst="roundRect">
            <a:avLst>
              <a:gd name="adj" fmla="val 23529"/>
            </a:avLst>
          </a:prstGeom>
          <a:solidFill xmlns:a="http://schemas.openxmlformats.org/drawingml/2006/main">
            <a:srgbClr val="0B203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C4A8F44-1722-4869-B25A-50E6FBB73F3A}"/>
              </a:ext>
            </a:extLst>
          </p:cNvPr>
          <p:cNvSpPr>
            <a:spLocks xmlns:a="http://schemas.openxmlformats.org/drawingml/2006/main" noGrp="1"/>
          </p:cNvSpPr>
          <p:nvPr/>
        </p:nvSpPr>
        <p:spPr>
          <a:xfrm xmlns:a="http://schemas.openxmlformats.org/drawingml/2006/main">
            <a:off x="666750" y="6048375"/>
            <a:ext cx="3429000" cy="323850"/>
          </a:xfrm>
          <a:prstGeom xmlns:a="http://schemas.openxmlformats.org/drawingml/2006/main" prst="roundRect">
            <a:avLst>
              <a:gd name="adj" fmla="val 23529"/>
            </a:avLst>
          </a:prstGeom>
          <a:solidFill xmlns:a="http://schemas.openxmlformats.org/drawingml/2006/main">
            <a:srgbClr val="4DE3D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17B6DAF-F4E8-4C44-B7A8-DAA41FA94B99}"/>
              </a:ext>
            </a:extLst>
          </p:cNvPr>
          <p:cNvSpPr>
            <a:spLocks xmlns:a="http://schemas.openxmlformats.org/drawingml/2006/main" noGrp="1"/>
          </p:cNvSpPr>
          <p:nvPr/>
        </p:nvSpPr>
        <p:spPr>
          <a:xfrm xmlns:a="http://schemas.openxmlformats.org/drawingml/2006/main">
            <a:off x="762000" y="6067425"/>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125" b="1">
                <a:solidFill>
                  <a:srgbClr val="F7FBFF"/>
                </a:solidFill>
                <a:latin typeface="Arial Unicode MS"/>
                <a:ea typeface="Arial Unicode MS"/>
                <a:cs typeface="Arial Unicode MS"/>
              </a:defRPr>
            </a:defPPr>
          </a:lstStyle>
          <a:p xmlns:a="http://schemas.openxmlformats.org/drawingml/2006/main">
            <a:pPr algn="ctr">
              <a:defRPr sz="1125" b="1">
                <a:solidFill>
                  <a:srgbClr val="F7FBFF"/>
                </a:solidFill>
                <a:latin typeface="Arial Unicode MS"/>
                <a:ea typeface="Arial Unicode MS"/>
                <a:cs typeface="Arial Unicode MS"/>
              </a:defRPr>
            </a:pPr>
            <a:r>
              <a:rPr sz="1125" b="1">
                <a:solidFill>
                  <a:srgbClr val="F7FBFF"/>
                </a:solidFill>
                <a:latin typeface="Arial Unicode MS"/>
                <a:ea typeface="Arial Unicode MS"/>
                <a:cs typeface="Arial Unicode MS"/>
              </a:rPr>
              <a:t>当前：FIP Draft + intrinsic 原型</a:t>
            </a:r>
          </a:p>
        </p:txBody>
      </p:sp>
    </p:spTree>
    <p:extLst>
      <p:ext uri="{BB962C8B-B14F-4D97-AF65-F5344CB8AC3E}">
        <p14:creationId xmlns:p14="http://schemas.microsoft.com/office/powerpoint/2010/main" val="1882329129"/>
      </p:ext>
    </p:extLst>
  </p:cSld>
</p:sld>
</file>

<file path=ppt/slides/slide18.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AB04A9B-F92D-425B-8982-5E546B82D67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DE3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3C6F2C-E4B4-4392-86FF-284A75BBB06C}"/>
              </a:ext>
            </a:extLst>
          </p:cNvPr>
          <p:cNvSpPr>
            <a:spLocks xmlns:a="http://schemas.openxmlformats.org/drawingml/2006/main" noGrp="1"/>
          </p:cNvSpPr>
          <p:nvPr/>
        </p:nvSpPr>
        <p:spPr>
          <a:xfrm xmlns:a="http://schemas.openxmlformats.org/drawingml/2006/main">
            <a:off x="514350" y="266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4DE3D1"/>
                </a:solidFill>
                <a:latin typeface="Arial Unicode MS"/>
                <a:ea typeface="Arial Unicode MS"/>
                <a:cs typeface="Arial Unicode MS"/>
              </a:defRPr>
            </a:defPPr>
          </a:lstStyle>
          <a:p xmlns:a="http://schemas.openxmlformats.org/drawingml/2006/main">
            <a:pPr algn="l">
              <a:defRPr sz="1125" b="1">
                <a:solidFill>
                  <a:srgbClr val="4DE3D1"/>
                </a:solidFill>
                <a:latin typeface="Arial Unicode MS"/>
                <a:ea typeface="Arial Unicode MS"/>
                <a:cs typeface="Arial Unicode MS"/>
              </a:defRPr>
            </a:pPr>
            <a:r>
              <a:rPr sz="1125" b="1">
                <a:solidFill>
                  <a:srgbClr val="4DE3D1"/>
                </a:solidFill>
                <a:latin typeface="Arial Unicode MS"/>
                <a:ea typeface="Arial Unicode MS"/>
                <a:cs typeface="Arial Unicode MS"/>
              </a:rPr>
              <a:t>17 FIP 流程</a:t>
            </a:r>
          </a:p>
        </p:txBody>
      </p:sp>
      <p:sp>
        <p:nvSpPr>
          <p:cNvPr id="3" name="">
            <a:extLst xmlns:a="http://schemas.openxmlformats.org/drawingml/2006/main">
              <a:ext uri="{FF2B5EF4-FFF2-40B4-BE49-F238E27FC236}">
                <a16:creationId xmlns:a16="http://schemas.microsoft.com/office/drawing/2014/main" id="{AEEA0351-50C8-401D-A0C0-F8A4A081BB00}"/>
              </a:ext>
            </a:extLst>
          </p:cNvPr>
          <p:cNvSpPr>
            <a:spLocks xmlns:a="http://schemas.openxmlformats.org/drawingml/2006/main" noGrp="1"/>
          </p:cNvSpPr>
          <p:nvPr/>
        </p:nvSpPr>
        <p:spPr>
          <a:xfrm xmlns:a="http://schemas.openxmlformats.org/drawingml/2006/main">
            <a:off x="51435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550" b="1">
                <a:solidFill>
                  <a:srgbClr val="F7FBFF"/>
                </a:solidFill>
                <a:latin typeface="Arial Unicode MS"/>
                <a:ea typeface="Arial Unicode MS"/>
                <a:cs typeface="Arial Unicode MS"/>
              </a:defRPr>
            </a:defPPr>
          </a:lstStyle>
          <a:p xmlns:a="http://schemas.openxmlformats.org/drawingml/2006/main">
            <a:pPr algn="l">
              <a:defRPr sz="2550" b="1">
                <a:solidFill>
                  <a:srgbClr val="F7FBFF"/>
                </a:solidFill>
                <a:latin typeface="Arial Unicode MS"/>
                <a:ea typeface="Arial Unicode MS"/>
                <a:cs typeface="Arial Unicode MS"/>
              </a:defRPr>
            </a:pPr>
            <a:r>
              <a:rPr sz="2550" b="1">
                <a:solidFill>
                  <a:srgbClr val="F7FBFF"/>
                </a:solidFill>
                <a:latin typeface="Arial Unicode MS"/>
                <a:ea typeface="Arial Unicode MS"/>
                <a:cs typeface="Arial Unicode MS"/>
              </a:rPr>
              <a:t>进入 Review 前的决策与证据</a:t>
            </a:r>
          </a:p>
        </p:txBody>
      </p:sp>
      <p:sp>
        <p:nvSpPr>
          <p:cNvPr id="4" name="">
            <a:extLst xmlns:a="http://schemas.openxmlformats.org/drawingml/2006/main">
              <a:ext uri="{FF2B5EF4-FFF2-40B4-BE49-F238E27FC236}">
                <a16:creationId xmlns:a16="http://schemas.microsoft.com/office/drawing/2014/main" id="{E18833DE-51C1-4D94-96AD-F476E9E225DA}"/>
              </a:ext>
            </a:extLst>
          </p:cNvPr>
          <p:cNvSpPr>
            <a:spLocks xmlns:a="http://schemas.openxmlformats.org/drawingml/2006/main" noGrp="1"/>
          </p:cNvSpPr>
          <p:nvPr/>
        </p:nvSpPr>
        <p:spPr>
          <a:xfrm xmlns:a="http://schemas.openxmlformats.org/drawingml/2006/main">
            <a:off x="514350" y="1266825"/>
            <a:ext cx="11144250" cy="19050"/>
          </a:xfrm>
          <a:prstGeom xmlns:a="http://schemas.openxmlformats.org/drawingml/2006/main" prst="rect">
            <a:avLst/>
          </a:prstGeom>
          <a:solidFill xmlns:a="http://schemas.openxmlformats.org/drawingml/2006/main">
            <a:srgbClr val="27435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07B66B-B049-43B7-A473-F030658820CC}"/>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defPPr algn="r">
              <a:defRPr sz="900" b="0">
                <a:solidFill>
                  <a:srgbClr val="8FA9BB"/>
                </a:solidFill>
                <a:latin typeface="Arial Unicode MS"/>
                <a:ea typeface="Arial Unicode MS"/>
                <a:cs typeface="Arial Unicode MS"/>
              </a:defRPr>
            </a:defPPr>
          </a:lstStyle>
          <a:p xmlns:a="http://schemas.openxmlformats.org/drawingml/2006/main">
            <a:pPr algn="r">
              <a:defRPr sz="900" b="0">
                <a:solidFill>
                  <a:srgbClr val="8FA9BB"/>
                </a:solidFill>
                <a:latin typeface="Arial Unicode MS"/>
                <a:ea typeface="Arial Unicode MS"/>
                <a:cs typeface="Arial Unicode MS"/>
              </a:defRPr>
            </a:pPr>
            <a:r>
              <a:rPr sz="900" b="0">
                <a:solidFill>
                  <a:srgbClr val="8FA9BB"/>
                </a:solidFill>
                <a:latin typeface="Arial Unicode MS"/>
                <a:ea typeface="Arial Unicode MS"/>
                <a:cs typeface="Arial Unicode MS"/>
              </a:rPr>
              <a:t>FIP-0001 DRAFT  ·  18</a:t>
            </a:r>
          </a:p>
        </p:txBody>
      </p:sp>
      <p:sp>
        <p:nvSpPr>
          <p:cNvPr id="6" name="">
            <a:extLst xmlns:a="http://schemas.openxmlformats.org/drawingml/2006/main">
              <a:ext uri="{FF2B5EF4-FFF2-40B4-BE49-F238E27FC236}">
                <a16:creationId xmlns:a16="http://schemas.microsoft.com/office/drawing/2014/main" id="{B67A6302-ACD8-4A47-9B56-E3ECC6E0FD26}"/>
              </a:ext>
            </a:extLst>
          </p:cNvPr>
          <p:cNvSpPr>
            <a:spLocks xmlns:a="http://schemas.openxmlformats.org/drawingml/2006/main" noGrp="1"/>
          </p:cNvSpPr>
          <p:nvPr/>
        </p:nvSpPr>
        <p:spPr>
          <a:xfrm xmlns:a="http://schemas.openxmlformats.org/drawingml/2006/main">
            <a:off x="666750" y="16192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950" b="1">
                <a:solidFill>
                  <a:srgbClr val="F1B84B"/>
                </a:solidFill>
                <a:latin typeface="Arial Unicode MS"/>
                <a:ea typeface="Arial Unicode MS"/>
                <a:cs typeface="Arial Unicode MS"/>
              </a:defRPr>
            </a:defPPr>
          </a:lstStyle>
          <a:p xmlns:a="http://schemas.openxmlformats.org/drawingml/2006/main">
            <a:pPr algn="l">
              <a:defRPr sz="1950" b="1">
                <a:solidFill>
                  <a:srgbClr val="F1B84B"/>
                </a:solidFill>
                <a:latin typeface="Arial Unicode MS"/>
                <a:ea typeface="Arial Unicode MS"/>
                <a:cs typeface="Arial Unicode MS"/>
              </a:defRPr>
            </a:pPr>
            <a:r>
              <a:rPr sz="1950" b="1">
                <a:solidFill>
                  <a:srgbClr val="F1B84B"/>
                </a:solidFill>
                <a:latin typeface="Arial Unicode MS"/>
                <a:ea typeface="Arial Unicode MS"/>
                <a:cs typeface="Arial Unicode MS"/>
              </a:rPr>
              <a:t>需要决策</a:t>
            </a:r>
          </a:p>
        </p:txBody>
      </p:sp>
      <p:sp>
        <p:nvSpPr>
          <p:cNvPr id="7" name="">
            <a:extLst xmlns:a="http://schemas.openxmlformats.org/drawingml/2006/main">
              <a:ext uri="{FF2B5EF4-FFF2-40B4-BE49-F238E27FC236}">
                <a16:creationId xmlns:a16="http://schemas.microsoft.com/office/drawing/2014/main" id="{08E8D939-420E-4820-B782-CE4171DBC7FC}"/>
              </a:ext>
            </a:extLst>
          </p:cNvPr>
          <p:cNvSpPr>
            <a:spLocks xmlns:a="http://schemas.openxmlformats.org/drawingml/2006/main" noGrp="1"/>
          </p:cNvSpPr>
          <p:nvPr/>
        </p:nvSpPr>
        <p:spPr>
          <a:xfrm xmlns:a="http://schemas.openxmlformats.org/drawingml/2006/main">
            <a:off x="6477000" y="16192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950" b="1">
                <a:solidFill>
                  <a:srgbClr val="4DE3D1"/>
                </a:solidFill>
                <a:latin typeface="Arial Unicode MS"/>
                <a:ea typeface="Arial Unicode MS"/>
                <a:cs typeface="Arial Unicode MS"/>
              </a:defRPr>
            </a:defPPr>
          </a:lstStyle>
          <a:p xmlns:a="http://schemas.openxmlformats.org/drawingml/2006/main">
            <a:pPr algn="l">
              <a:defRPr sz="1950" b="1">
                <a:solidFill>
                  <a:srgbClr val="4DE3D1"/>
                </a:solidFill>
                <a:latin typeface="Arial Unicode MS"/>
                <a:ea typeface="Arial Unicode MS"/>
                <a:cs typeface="Arial Unicode MS"/>
              </a:defRPr>
            </a:pPr>
            <a:r>
              <a:rPr sz="1950" b="1">
                <a:solidFill>
                  <a:srgbClr val="4DE3D1"/>
                </a:solidFill>
                <a:latin typeface="Arial Unicode MS"/>
                <a:ea typeface="Arial Unicode MS"/>
                <a:cs typeface="Arial Unicode MS"/>
              </a:rPr>
              <a:t>需要证据</a:t>
            </a:r>
          </a:p>
        </p:txBody>
      </p:sp>
      <p:sp>
        <p:nvSpPr>
          <p:cNvPr id="8" name="">
            <a:extLst xmlns:a="http://schemas.openxmlformats.org/drawingml/2006/main">
              <a:ext uri="{FF2B5EF4-FFF2-40B4-BE49-F238E27FC236}">
                <a16:creationId xmlns:a16="http://schemas.microsoft.com/office/drawing/2014/main" id="{2FB21F17-4057-43C9-91CC-E070A58413D1}"/>
              </a:ext>
            </a:extLst>
          </p:cNvPr>
          <p:cNvSpPr>
            <a:spLocks xmlns:a="http://schemas.openxmlformats.org/drawingml/2006/main" noGrp="1"/>
          </p:cNvSpPr>
          <p:nvPr/>
        </p:nvSpPr>
        <p:spPr>
          <a:xfrm xmlns:a="http://schemas.openxmlformats.org/drawingml/2006/main">
            <a:off x="666750" y="223837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F1B84B"/>
                </a:solidFill>
                <a:latin typeface="Arial Unicode MS"/>
                <a:ea typeface="Arial Unicode MS"/>
                <a:cs typeface="Arial Unicode MS"/>
              </a:defRPr>
            </a:defPPr>
          </a:lstStyle>
          <a:p xmlns:a="http://schemas.openxmlformats.org/drawingml/2006/main">
            <a:pPr algn="l">
              <a:defRPr sz="1275" b="1">
                <a:solidFill>
                  <a:srgbClr val="F1B84B"/>
                </a:solidFill>
                <a:latin typeface="Arial Unicode MS"/>
                <a:ea typeface="Arial Unicode MS"/>
                <a:cs typeface="Arial Unicode MS"/>
              </a:defRPr>
            </a:pPr>
            <a:r>
              <a:rPr sz="1275" b="1">
                <a:solidFill>
                  <a:srgbClr val="F1B84B"/>
                </a:solidFill>
                <a:latin typeface="Arial Unicode MS"/>
                <a:ea typeface="Arial Unicode MS"/>
                <a:cs typeface="Arial Unicode MS"/>
              </a:rPr>
              <a:t>01</a:t>
            </a:r>
          </a:p>
        </p:txBody>
      </p:sp>
      <p:sp>
        <p:nvSpPr>
          <p:cNvPr id="9" name="">
            <a:extLst xmlns:a="http://schemas.openxmlformats.org/drawingml/2006/main">
              <a:ext uri="{FF2B5EF4-FFF2-40B4-BE49-F238E27FC236}">
                <a16:creationId xmlns:a16="http://schemas.microsoft.com/office/drawing/2014/main" id="{4F83805D-E496-4F38-B77B-F1CDC65F5ECB}"/>
              </a:ext>
            </a:extLst>
          </p:cNvPr>
          <p:cNvSpPr>
            <a:spLocks xmlns:a="http://schemas.openxmlformats.org/drawingml/2006/main" noGrp="1"/>
          </p:cNvSpPr>
          <p:nvPr/>
        </p:nvSpPr>
        <p:spPr>
          <a:xfrm xmlns:a="http://schemas.openxmlformats.org/drawingml/2006/main">
            <a:off x="1285875" y="223837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各扩容阶段的席位组合</a:t>
            </a:r>
          </a:p>
        </p:txBody>
      </p:sp>
      <p:sp>
        <p:nvSpPr>
          <p:cNvPr id="10" name="">
            <a:extLst xmlns:a="http://schemas.openxmlformats.org/drawingml/2006/main">
              <a:ext uri="{FF2B5EF4-FFF2-40B4-BE49-F238E27FC236}">
                <a16:creationId xmlns:a16="http://schemas.microsoft.com/office/drawing/2014/main" id="{0A026BE8-5A3A-45D5-920D-FE9D36DDE40F}"/>
              </a:ext>
            </a:extLst>
          </p:cNvPr>
          <p:cNvSpPr>
            <a:spLocks xmlns:a="http://schemas.openxmlformats.org/drawingml/2006/main" noGrp="1"/>
          </p:cNvSpPr>
          <p:nvPr/>
        </p:nvSpPr>
        <p:spPr>
          <a:xfrm xmlns:a="http://schemas.openxmlformats.org/drawingml/2006/main">
            <a:off x="666750" y="286702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F1B84B"/>
                </a:solidFill>
                <a:latin typeface="Arial Unicode MS"/>
                <a:ea typeface="Arial Unicode MS"/>
                <a:cs typeface="Arial Unicode MS"/>
              </a:defRPr>
            </a:defPPr>
          </a:lstStyle>
          <a:p xmlns:a="http://schemas.openxmlformats.org/drawingml/2006/main">
            <a:pPr algn="l">
              <a:defRPr sz="1275" b="1">
                <a:solidFill>
                  <a:srgbClr val="F1B84B"/>
                </a:solidFill>
                <a:latin typeface="Arial Unicode MS"/>
                <a:ea typeface="Arial Unicode MS"/>
                <a:cs typeface="Arial Unicode MS"/>
              </a:defRPr>
            </a:pPr>
            <a:r>
              <a:rPr sz="1275" b="1">
                <a:solidFill>
                  <a:srgbClr val="F1B84B"/>
                </a:solidFill>
                <a:latin typeface="Arial Unicode MS"/>
                <a:ea typeface="Arial Unicode MS"/>
                <a:cs typeface="Arial Unicode MS"/>
              </a:rPr>
              <a:t>02</a:t>
            </a:r>
          </a:p>
        </p:txBody>
      </p:sp>
      <p:sp>
        <p:nvSpPr>
          <p:cNvPr id="11" name="">
            <a:extLst xmlns:a="http://schemas.openxmlformats.org/drawingml/2006/main">
              <a:ext uri="{FF2B5EF4-FFF2-40B4-BE49-F238E27FC236}">
                <a16:creationId xmlns:a16="http://schemas.microsoft.com/office/drawing/2014/main" id="{3CDFC6BD-96A2-4162-A461-52C560299815}"/>
              </a:ext>
            </a:extLst>
          </p:cNvPr>
          <p:cNvSpPr>
            <a:spLocks xmlns:a="http://schemas.openxmlformats.org/drawingml/2006/main" noGrp="1"/>
          </p:cNvSpPr>
          <p:nvPr/>
        </p:nvSpPr>
        <p:spPr>
          <a:xfrm xmlns:a="http://schemas.openxmlformats.org/drawingml/2006/main">
            <a:off x="1285875" y="28670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5% 排名软上限与票权衰减</a:t>
            </a:r>
          </a:p>
        </p:txBody>
      </p:sp>
      <p:sp>
        <p:nvSpPr>
          <p:cNvPr id="12" name="">
            <a:extLst xmlns:a="http://schemas.openxmlformats.org/drawingml/2006/main">
              <a:ext uri="{FF2B5EF4-FFF2-40B4-BE49-F238E27FC236}">
                <a16:creationId xmlns:a16="http://schemas.microsoft.com/office/drawing/2014/main" id="{C80D950F-5519-4492-865C-E6D344856578}"/>
              </a:ext>
            </a:extLst>
          </p:cNvPr>
          <p:cNvSpPr>
            <a:spLocks xmlns:a="http://schemas.openxmlformats.org/drawingml/2006/main" noGrp="1"/>
          </p:cNvSpPr>
          <p:nvPr/>
        </p:nvSpPr>
        <p:spPr>
          <a:xfrm xmlns:a="http://schemas.openxmlformats.org/drawingml/2006/main">
            <a:off x="666750" y="349567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F1B84B"/>
                </a:solidFill>
                <a:latin typeface="Arial Unicode MS"/>
                <a:ea typeface="Arial Unicode MS"/>
                <a:cs typeface="Arial Unicode MS"/>
              </a:defRPr>
            </a:defPPr>
          </a:lstStyle>
          <a:p xmlns:a="http://schemas.openxmlformats.org/drawingml/2006/main">
            <a:pPr algn="l">
              <a:defRPr sz="1275" b="1">
                <a:solidFill>
                  <a:srgbClr val="F1B84B"/>
                </a:solidFill>
                <a:latin typeface="Arial Unicode MS"/>
                <a:ea typeface="Arial Unicode MS"/>
                <a:cs typeface="Arial Unicode MS"/>
              </a:defRPr>
            </a:pPr>
            <a:r>
              <a:rPr sz="1275" b="1">
                <a:solidFill>
                  <a:srgbClr val="F1B84B"/>
                </a:solidFill>
                <a:latin typeface="Arial Unicode MS"/>
                <a:ea typeface="Arial Unicode MS"/>
                <a:cs typeface="Arial Unicode MS"/>
              </a:rPr>
              <a:t>03</a:t>
            </a:r>
          </a:p>
        </p:txBody>
      </p:sp>
      <p:sp>
        <p:nvSpPr>
          <p:cNvPr id="13" name="">
            <a:extLst xmlns:a="http://schemas.openxmlformats.org/drawingml/2006/main">
              <a:ext uri="{FF2B5EF4-FFF2-40B4-BE49-F238E27FC236}">
                <a16:creationId xmlns:a16="http://schemas.microsoft.com/office/drawing/2014/main" id="{C81C2A64-D979-45CD-9B30-5759F4F9A616}"/>
              </a:ext>
            </a:extLst>
          </p:cNvPr>
          <p:cNvSpPr>
            <a:spLocks xmlns:a="http://schemas.openxmlformats.org/drawingml/2006/main" noGrp="1"/>
          </p:cNvSpPr>
          <p:nvPr/>
        </p:nvSpPr>
        <p:spPr>
          <a:xfrm xmlns:a="http://schemas.openxmlformats.org/drawingml/2006/main">
            <a:off x="1285875" y="349567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epoch 时长与在线门槛</a:t>
            </a:r>
          </a:p>
        </p:txBody>
      </p:sp>
      <p:sp>
        <p:nvSpPr>
          <p:cNvPr id="14" name="">
            <a:extLst xmlns:a="http://schemas.openxmlformats.org/drawingml/2006/main">
              <a:ext uri="{FF2B5EF4-FFF2-40B4-BE49-F238E27FC236}">
                <a16:creationId xmlns:a16="http://schemas.microsoft.com/office/drawing/2014/main" id="{89A6844F-C074-44E8-B3BD-DA8AF90A3204}"/>
              </a:ext>
            </a:extLst>
          </p:cNvPr>
          <p:cNvSpPr>
            <a:spLocks xmlns:a="http://schemas.openxmlformats.org/drawingml/2006/main" noGrp="1"/>
          </p:cNvSpPr>
          <p:nvPr/>
        </p:nvSpPr>
        <p:spPr>
          <a:xfrm xmlns:a="http://schemas.openxmlformats.org/drawingml/2006/main">
            <a:off x="666750" y="412432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F1B84B"/>
                </a:solidFill>
                <a:latin typeface="Arial Unicode MS"/>
                <a:ea typeface="Arial Unicode MS"/>
                <a:cs typeface="Arial Unicode MS"/>
              </a:defRPr>
            </a:defPPr>
          </a:lstStyle>
          <a:p xmlns:a="http://schemas.openxmlformats.org/drawingml/2006/main">
            <a:pPr algn="l">
              <a:defRPr sz="1275" b="1">
                <a:solidFill>
                  <a:srgbClr val="F1B84B"/>
                </a:solidFill>
                <a:latin typeface="Arial Unicode MS"/>
                <a:ea typeface="Arial Unicode MS"/>
                <a:cs typeface="Arial Unicode MS"/>
              </a:defRPr>
            </a:pPr>
            <a:r>
              <a:rPr sz="1275" b="1">
                <a:solidFill>
                  <a:srgbClr val="F1B84B"/>
                </a:solidFill>
                <a:latin typeface="Arial Unicode MS"/>
                <a:ea typeface="Arial Unicode MS"/>
                <a:cs typeface="Arial Unicode MS"/>
              </a:rPr>
              <a:t>04</a:t>
            </a:r>
          </a:p>
        </p:txBody>
      </p:sp>
      <p:sp>
        <p:nvSpPr>
          <p:cNvPr id="15" name="">
            <a:extLst xmlns:a="http://schemas.openxmlformats.org/drawingml/2006/main">
              <a:ext uri="{FF2B5EF4-FFF2-40B4-BE49-F238E27FC236}">
                <a16:creationId xmlns:a16="http://schemas.microsoft.com/office/drawing/2014/main" id="{5E025CD5-816B-4C0F-AC09-35E7645FB2AD}"/>
              </a:ext>
            </a:extLst>
          </p:cNvPr>
          <p:cNvSpPr>
            <a:spLocks xmlns:a="http://schemas.openxmlformats.org/drawingml/2006/main" noGrp="1"/>
          </p:cNvSpPr>
          <p:nvPr/>
        </p:nvSpPr>
        <p:spPr>
          <a:xfrm xmlns:a="http://schemas.openxmlformats.org/drawingml/2006/main">
            <a:off x="1285875" y="41243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10% / 90% ELON 排放比例</a:t>
            </a:r>
          </a:p>
        </p:txBody>
      </p:sp>
      <p:sp>
        <p:nvSpPr>
          <p:cNvPr id="16" name="">
            <a:extLst xmlns:a="http://schemas.openxmlformats.org/drawingml/2006/main">
              <a:ext uri="{FF2B5EF4-FFF2-40B4-BE49-F238E27FC236}">
                <a16:creationId xmlns:a16="http://schemas.microsoft.com/office/drawing/2014/main" id="{2CA56020-CD8B-4CB2-9031-D3B97AC9CFB7}"/>
              </a:ext>
            </a:extLst>
          </p:cNvPr>
          <p:cNvSpPr>
            <a:spLocks xmlns:a="http://schemas.openxmlformats.org/drawingml/2006/main" noGrp="1"/>
          </p:cNvSpPr>
          <p:nvPr/>
        </p:nvSpPr>
        <p:spPr>
          <a:xfrm xmlns:a="http://schemas.openxmlformats.org/drawingml/2006/main">
            <a:off x="666750" y="475297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F1B84B"/>
                </a:solidFill>
                <a:latin typeface="Arial Unicode MS"/>
                <a:ea typeface="Arial Unicode MS"/>
                <a:cs typeface="Arial Unicode MS"/>
              </a:defRPr>
            </a:defPPr>
          </a:lstStyle>
          <a:p xmlns:a="http://schemas.openxmlformats.org/drawingml/2006/main">
            <a:pPr algn="l">
              <a:defRPr sz="1275" b="1">
                <a:solidFill>
                  <a:srgbClr val="F1B84B"/>
                </a:solidFill>
                <a:latin typeface="Arial Unicode MS"/>
                <a:ea typeface="Arial Unicode MS"/>
                <a:cs typeface="Arial Unicode MS"/>
              </a:defRPr>
            </a:pPr>
            <a:r>
              <a:rPr sz="1275" b="1">
                <a:solidFill>
                  <a:srgbClr val="F1B84B"/>
                </a:solidFill>
                <a:latin typeface="Arial Unicode MS"/>
                <a:ea typeface="Arial Unicode MS"/>
                <a:cs typeface="Arial Unicode MS"/>
              </a:rPr>
              <a:t>05</a:t>
            </a:r>
          </a:p>
        </p:txBody>
      </p:sp>
      <p:sp>
        <p:nvSpPr>
          <p:cNvPr id="17" name="">
            <a:extLst xmlns:a="http://schemas.openxmlformats.org/drawingml/2006/main">
              <a:ext uri="{FF2B5EF4-FFF2-40B4-BE49-F238E27FC236}">
                <a16:creationId xmlns:a16="http://schemas.microsoft.com/office/drawing/2014/main" id="{2E957C89-FE57-49CC-BEEC-1510A1DC0D03}"/>
              </a:ext>
            </a:extLst>
          </p:cNvPr>
          <p:cNvSpPr>
            <a:spLocks xmlns:a="http://schemas.openxmlformats.org/drawingml/2006/main" noGrp="1"/>
          </p:cNvSpPr>
          <p:nvPr/>
        </p:nvSpPr>
        <p:spPr>
          <a:xfrm xmlns:a="http://schemas.openxmlformats.org/drawingml/2006/main">
            <a:off x="1285875" y="475297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DAO 权限矩阵与参数边界</a:t>
            </a:r>
          </a:p>
        </p:txBody>
      </p:sp>
      <p:sp>
        <p:nvSpPr>
          <p:cNvPr id="18" name="">
            <a:extLst xmlns:a="http://schemas.openxmlformats.org/drawingml/2006/main">
              <a:ext uri="{FF2B5EF4-FFF2-40B4-BE49-F238E27FC236}">
                <a16:creationId xmlns:a16="http://schemas.microsoft.com/office/drawing/2014/main" id="{B5EA898D-1699-4062-B57B-22AB504DD0F9}"/>
              </a:ext>
            </a:extLst>
          </p:cNvPr>
          <p:cNvSpPr>
            <a:spLocks xmlns:a="http://schemas.openxmlformats.org/drawingml/2006/main" noGrp="1"/>
          </p:cNvSpPr>
          <p:nvPr/>
        </p:nvSpPr>
        <p:spPr>
          <a:xfrm xmlns:a="http://schemas.openxmlformats.org/drawingml/2006/main">
            <a:off x="6477000" y="223837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1">
                <a:solidFill>
                  <a:srgbClr val="4DE3D1"/>
                </a:solidFill>
                <a:latin typeface="Arial Unicode MS"/>
                <a:ea typeface="Arial Unicode MS"/>
                <a:cs typeface="Arial Unicode MS"/>
              </a:defRPr>
            </a:defPPr>
          </a:lstStyle>
          <a:p xmlns:a="http://schemas.openxmlformats.org/drawingml/2006/main">
            <a:pPr algn="l">
              <a:defRPr sz="1500" b="1">
                <a:solidFill>
                  <a:srgbClr val="4DE3D1"/>
                </a:solidFill>
                <a:latin typeface="Arial Unicode MS"/>
                <a:ea typeface="Arial Unicode MS"/>
                <a:cs typeface="Arial Unicode MS"/>
              </a:defRPr>
            </a:pPr>
            <a:r>
              <a:rPr sz="1500" b="1">
                <a:solidFill>
                  <a:srgbClr val="4DE3D1"/>
                </a:solidFill>
                <a:latin typeface="Arial Unicode MS"/>
                <a:ea typeface="Arial Unicode MS"/>
                <a:cs typeface="Arial Unicode MS"/>
              </a:rPr>
              <a:t>✓</a:t>
            </a:r>
          </a:p>
        </p:txBody>
      </p:sp>
      <p:sp>
        <p:nvSpPr>
          <p:cNvPr id="19" name="">
            <a:extLst xmlns:a="http://schemas.openxmlformats.org/drawingml/2006/main">
              <a:ext uri="{FF2B5EF4-FFF2-40B4-BE49-F238E27FC236}">
                <a16:creationId xmlns:a16="http://schemas.microsoft.com/office/drawing/2014/main" id="{2F4C1AC1-8E95-4591-ACF3-4E60916FC752}"/>
              </a:ext>
            </a:extLst>
          </p:cNvPr>
          <p:cNvSpPr>
            <a:spLocks xmlns:a="http://schemas.openxmlformats.org/drawingml/2006/main" noGrp="1"/>
          </p:cNvSpPr>
          <p:nvPr/>
        </p:nvSpPr>
        <p:spPr>
          <a:xfrm xmlns:a="http://schemas.openxmlformats.org/drawingml/2006/main">
            <a:off x="7096125" y="2238375"/>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当前持币分布经济仿真</a:t>
            </a:r>
          </a:p>
        </p:txBody>
      </p:sp>
      <p:sp>
        <p:nvSpPr>
          <p:cNvPr id="20" name="">
            <a:extLst xmlns:a="http://schemas.openxmlformats.org/drawingml/2006/main">
              <a:ext uri="{FF2B5EF4-FFF2-40B4-BE49-F238E27FC236}">
                <a16:creationId xmlns:a16="http://schemas.microsoft.com/office/drawing/2014/main" id="{772C2466-375C-46F1-9DD3-C0D21E3E9F14}"/>
              </a:ext>
            </a:extLst>
          </p:cNvPr>
          <p:cNvSpPr>
            <a:spLocks xmlns:a="http://schemas.openxmlformats.org/drawingml/2006/main" noGrp="1"/>
          </p:cNvSpPr>
          <p:nvPr/>
        </p:nvSpPr>
        <p:spPr>
          <a:xfrm xmlns:a="http://schemas.openxmlformats.org/drawingml/2006/main">
            <a:off x="6477000" y="286702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1">
                <a:solidFill>
                  <a:srgbClr val="4DE3D1"/>
                </a:solidFill>
                <a:latin typeface="Arial Unicode MS"/>
                <a:ea typeface="Arial Unicode MS"/>
                <a:cs typeface="Arial Unicode MS"/>
              </a:defRPr>
            </a:defPPr>
          </a:lstStyle>
          <a:p xmlns:a="http://schemas.openxmlformats.org/drawingml/2006/main">
            <a:pPr algn="l">
              <a:defRPr sz="1500" b="1">
                <a:solidFill>
                  <a:srgbClr val="4DE3D1"/>
                </a:solidFill>
                <a:latin typeface="Arial Unicode MS"/>
                <a:ea typeface="Arial Unicode MS"/>
                <a:cs typeface="Arial Unicode MS"/>
              </a:defRPr>
            </a:pPr>
            <a:r>
              <a:rPr sz="1500" b="1">
                <a:solidFill>
                  <a:srgbClr val="4DE3D1"/>
                </a:solidFill>
                <a:latin typeface="Arial Unicode MS"/>
                <a:ea typeface="Arial Unicode MS"/>
                <a:cs typeface="Arial Unicode MS"/>
              </a:rPr>
              <a:t>✓</a:t>
            </a:r>
          </a:p>
        </p:txBody>
      </p:sp>
      <p:sp>
        <p:nvSpPr>
          <p:cNvPr id="21" name="">
            <a:extLst xmlns:a="http://schemas.openxmlformats.org/drawingml/2006/main">
              <a:ext uri="{FF2B5EF4-FFF2-40B4-BE49-F238E27FC236}">
                <a16:creationId xmlns:a16="http://schemas.microsoft.com/office/drawing/2014/main" id="{B5DFCF74-2EBE-49E4-AF7E-13BCEE74A5ED}"/>
              </a:ext>
            </a:extLst>
          </p:cNvPr>
          <p:cNvSpPr>
            <a:spLocks xmlns:a="http://schemas.openxmlformats.org/drawingml/2006/main" noGrp="1"/>
          </p:cNvSpPr>
          <p:nvPr/>
        </p:nvSpPr>
        <p:spPr>
          <a:xfrm xmlns:a="http://schemas.openxmlformats.org/drawingml/2006/main">
            <a:off x="7096125" y="2867025"/>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两节点独立重放一致</a:t>
            </a:r>
          </a:p>
        </p:txBody>
      </p:sp>
      <p:sp>
        <p:nvSpPr>
          <p:cNvPr id="22" name="">
            <a:extLst xmlns:a="http://schemas.openxmlformats.org/drawingml/2006/main">
              <a:ext uri="{FF2B5EF4-FFF2-40B4-BE49-F238E27FC236}">
                <a16:creationId xmlns:a16="http://schemas.microsoft.com/office/drawing/2014/main" id="{A12B18E7-C036-4202-8826-5F749D67FB14}"/>
              </a:ext>
            </a:extLst>
          </p:cNvPr>
          <p:cNvSpPr>
            <a:spLocks xmlns:a="http://schemas.openxmlformats.org/drawingml/2006/main" noGrp="1"/>
          </p:cNvSpPr>
          <p:nvPr/>
        </p:nvSpPr>
        <p:spPr>
          <a:xfrm xmlns:a="http://schemas.openxmlformats.org/drawingml/2006/main">
            <a:off x="6477000" y="349567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1">
                <a:solidFill>
                  <a:srgbClr val="4DE3D1"/>
                </a:solidFill>
                <a:latin typeface="Arial Unicode MS"/>
                <a:ea typeface="Arial Unicode MS"/>
                <a:cs typeface="Arial Unicode MS"/>
              </a:defRPr>
            </a:defPPr>
          </a:lstStyle>
          <a:p xmlns:a="http://schemas.openxmlformats.org/drawingml/2006/main">
            <a:pPr algn="l">
              <a:defRPr sz="1500" b="1">
                <a:solidFill>
                  <a:srgbClr val="4DE3D1"/>
                </a:solidFill>
                <a:latin typeface="Arial Unicode MS"/>
                <a:ea typeface="Arial Unicode MS"/>
                <a:cs typeface="Arial Unicode MS"/>
              </a:defRPr>
            </a:pPr>
            <a:r>
              <a:rPr sz="1500" b="1">
                <a:solidFill>
                  <a:srgbClr val="4DE3D1"/>
                </a:solidFill>
                <a:latin typeface="Arial Unicode MS"/>
                <a:ea typeface="Arial Unicode MS"/>
                <a:cs typeface="Arial Unicode MS"/>
              </a:rPr>
              <a:t>✓</a:t>
            </a:r>
          </a:p>
        </p:txBody>
      </p:sp>
      <p:sp>
        <p:nvSpPr>
          <p:cNvPr id="23" name="">
            <a:extLst xmlns:a="http://schemas.openxmlformats.org/drawingml/2006/main">
              <a:ext uri="{FF2B5EF4-FFF2-40B4-BE49-F238E27FC236}">
                <a16:creationId xmlns:a16="http://schemas.microsoft.com/office/drawing/2014/main" id="{397A5B4E-4DB6-45C6-A013-840F7EBA9198}"/>
              </a:ext>
            </a:extLst>
          </p:cNvPr>
          <p:cNvSpPr>
            <a:spLocks xmlns:a="http://schemas.openxmlformats.org/drawingml/2006/main" noGrp="1"/>
          </p:cNvSpPr>
          <p:nvPr/>
        </p:nvSpPr>
        <p:spPr>
          <a:xfrm xmlns:a="http://schemas.openxmlformats.org/drawingml/2006/main">
            <a:off x="7096125" y="3495675"/>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归一化奖励与储备守恒测试</a:t>
            </a:r>
          </a:p>
        </p:txBody>
      </p:sp>
      <p:sp>
        <p:nvSpPr>
          <p:cNvPr id="24" name="">
            <a:extLst xmlns:a="http://schemas.openxmlformats.org/drawingml/2006/main">
              <a:ext uri="{FF2B5EF4-FFF2-40B4-BE49-F238E27FC236}">
                <a16:creationId xmlns:a16="http://schemas.microsoft.com/office/drawing/2014/main" id="{9A364A42-121F-4A2D-8FB2-0148EEA5F714}"/>
              </a:ext>
            </a:extLst>
          </p:cNvPr>
          <p:cNvSpPr>
            <a:spLocks xmlns:a="http://schemas.openxmlformats.org/drawingml/2006/main" noGrp="1"/>
          </p:cNvSpPr>
          <p:nvPr/>
        </p:nvSpPr>
        <p:spPr>
          <a:xfrm xmlns:a="http://schemas.openxmlformats.org/drawingml/2006/main">
            <a:off x="6477000" y="412432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1">
                <a:solidFill>
                  <a:srgbClr val="4DE3D1"/>
                </a:solidFill>
                <a:latin typeface="Arial Unicode MS"/>
                <a:ea typeface="Arial Unicode MS"/>
                <a:cs typeface="Arial Unicode MS"/>
              </a:defRPr>
            </a:defPPr>
          </a:lstStyle>
          <a:p xmlns:a="http://schemas.openxmlformats.org/drawingml/2006/main">
            <a:pPr algn="l">
              <a:defRPr sz="1500" b="1">
                <a:solidFill>
                  <a:srgbClr val="4DE3D1"/>
                </a:solidFill>
                <a:latin typeface="Arial Unicode MS"/>
                <a:ea typeface="Arial Unicode MS"/>
                <a:cs typeface="Arial Unicode MS"/>
              </a:defRPr>
            </a:pPr>
            <a:r>
              <a:rPr sz="1500" b="1">
                <a:solidFill>
                  <a:srgbClr val="4DE3D1"/>
                </a:solidFill>
                <a:latin typeface="Arial Unicode MS"/>
                <a:ea typeface="Arial Unicode MS"/>
                <a:cs typeface="Arial Unicode MS"/>
              </a:rPr>
              <a:t>✓</a:t>
            </a:r>
          </a:p>
        </p:txBody>
      </p:sp>
      <p:sp>
        <p:nvSpPr>
          <p:cNvPr id="25" name="">
            <a:extLst xmlns:a="http://schemas.openxmlformats.org/drawingml/2006/main">
              <a:ext uri="{FF2B5EF4-FFF2-40B4-BE49-F238E27FC236}">
                <a16:creationId xmlns:a16="http://schemas.microsoft.com/office/drawing/2014/main" id="{85BE709D-4B9C-4BD9-B750-ABBB21822895}"/>
              </a:ext>
            </a:extLst>
          </p:cNvPr>
          <p:cNvSpPr>
            <a:spLocks xmlns:a="http://schemas.openxmlformats.org/drawingml/2006/main" noGrp="1"/>
          </p:cNvSpPr>
          <p:nvPr/>
        </p:nvSpPr>
        <p:spPr>
          <a:xfrm xmlns:a="http://schemas.openxmlformats.org/drawingml/2006/main">
            <a:off x="7096125" y="4124325"/>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主网快照迁移测试</a:t>
            </a:r>
          </a:p>
        </p:txBody>
      </p:sp>
      <p:sp>
        <p:nvSpPr>
          <p:cNvPr id="26" name="">
            <a:extLst xmlns:a="http://schemas.openxmlformats.org/drawingml/2006/main">
              <a:ext uri="{FF2B5EF4-FFF2-40B4-BE49-F238E27FC236}">
                <a16:creationId xmlns:a16="http://schemas.microsoft.com/office/drawing/2014/main" id="{192BE372-A6E2-4A19-940D-6459F365D672}"/>
              </a:ext>
            </a:extLst>
          </p:cNvPr>
          <p:cNvSpPr>
            <a:spLocks xmlns:a="http://schemas.openxmlformats.org/drawingml/2006/main" noGrp="1"/>
          </p:cNvSpPr>
          <p:nvPr/>
        </p:nvSpPr>
        <p:spPr>
          <a:xfrm xmlns:a="http://schemas.openxmlformats.org/drawingml/2006/main">
            <a:off x="6477000" y="475297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1">
                <a:solidFill>
                  <a:srgbClr val="4DE3D1"/>
                </a:solidFill>
                <a:latin typeface="Arial Unicode MS"/>
                <a:ea typeface="Arial Unicode MS"/>
                <a:cs typeface="Arial Unicode MS"/>
              </a:defRPr>
            </a:defPPr>
          </a:lstStyle>
          <a:p xmlns:a="http://schemas.openxmlformats.org/drawingml/2006/main">
            <a:pPr algn="l">
              <a:defRPr sz="1500" b="1">
                <a:solidFill>
                  <a:srgbClr val="4DE3D1"/>
                </a:solidFill>
                <a:latin typeface="Arial Unicode MS"/>
                <a:ea typeface="Arial Unicode MS"/>
                <a:cs typeface="Arial Unicode MS"/>
              </a:defRPr>
            </a:pPr>
            <a:r>
              <a:rPr sz="1500" b="1">
                <a:solidFill>
                  <a:srgbClr val="4DE3D1"/>
                </a:solidFill>
                <a:latin typeface="Arial Unicode MS"/>
                <a:ea typeface="Arial Unicode MS"/>
                <a:cs typeface="Arial Unicode MS"/>
              </a:rPr>
              <a:t>✓</a:t>
            </a:r>
          </a:p>
        </p:txBody>
      </p:sp>
      <p:sp>
        <p:nvSpPr>
          <p:cNvPr id="27" name="">
            <a:extLst xmlns:a="http://schemas.openxmlformats.org/drawingml/2006/main">
              <a:ext uri="{FF2B5EF4-FFF2-40B4-BE49-F238E27FC236}">
                <a16:creationId xmlns:a16="http://schemas.microsoft.com/office/drawing/2014/main" id="{548381A1-F86B-4D6F-A902-7737B569AC3B}"/>
              </a:ext>
            </a:extLst>
          </p:cNvPr>
          <p:cNvSpPr>
            <a:spLocks xmlns:a="http://schemas.openxmlformats.org/drawingml/2006/main" noGrp="1"/>
          </p:cNvSpPr>
          <p:nvPr/>
        </p:nvSpPr>
        <p:spPr>
          <a:xfrm xmlns:a="http://schemas.openxmlformats.org/drawingml/2006/main">
            <a:off x="7096125" y="4752975"/>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D7E7F2"/>
                </a:solidFill>
                <a:latin typeface="Arial Unicode MS"/>
                <a:ea typeface="Arial Unicode MS"/>
                <a:cs typeface="Arial Unicode MS"/>
              </a:defRPr>
            </a:defPPr>
          </a:lstStyle>
          <a:p xmlns:a="http://schemas.openxmlformats.org/drawingml/2006/main">
            <a:pPr algn="l">
              <a:defRPr sz="1350" b="0">
                <a:solidFill>
                  <a:srgbClr val="D7E7F2"/>
                </a:solidFill>
                <a:latin typeface="Arial Unicode MS"/>
                <a:ea typeface="Arial Unicode MS"/>
                <a:cs typeface="Arial Unicode MS"/>
              </a:defRPr>
            </a:pPr>
            <a:r>
              <a:rPr sz="1350" b="0">
                <a:solidFill>
                  <a:srgbClr val="D7E7F2"/>
                </a:solidFill>
                <a:latin typeface="Arial Unicode MS"/>
                <a:ea typeface="Arial Unicode MS"/>
                <a:cs typeface="Arial Unicode MS"/>
              </a:rPr>
              <a:t>测试网连续运行 30 天</a:t>
            </a:r>
          </a:p>
        </p:txBody>
      </p:sp>
      <p:sp>
        <p:nvSpPr>
          <p:cNvPr id="28" name="">
            <a:extLst xmlns:a="http://schemas.openxmlformats.org/drawingml/2006/main">
              <a:ext uri="{FF2B5EF4-FFF2-40B4-BE49-F238E27FC236}">
                <a16:creationId xmlns:a16="http://schemas.microsoft.com/office/drawing/2014/main" id="{8A6D8DCC-8EEF-48AD-B6FA-FE864BD4A8DE}"/>
              </a:ext>
            </a:extLst>
          </p:cNvPr>
          <p:cNvSpPr>
            <a:spLocks xmlns:a="http://schemas.openxmlformats.org/drawingml/2006/main" noGrp="1"/>
          </p:cNvSpPr>
          <p:nvPr/>
        </p:nvSpPr>
        <p:spPr>
          <a:xfrm xmlns:a="http://schemas.openxmlformats.org/drawingml/2006/main">
            <a:off x="666750" y="5715000"/>
            <a:ext cx="10287000" cy="523875"/>
          </a:xfrm>
          <a:prstGeom xmlns:a="http://schemas.openxmlformats.org/drawingml/2006/main" prst="roundRect">
            <a:avLst>
              <a:gd name="adj" fmla="val 14545"/>
            </a:avLst>
          </a:prstGeom>
          <a:solidFill xmlns:a="http://schemas.openxmlformats.org/drawingml/2006/main">
            <a:srgbClr val="176B8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18C7680-E4EC-42A9-A3DB-43C16BBE5A37}"/>
              </a:ext>
            </a:extLst>
          </p:cNvPr>
          <p:cNvSpPr>
            <a:spLocks xmlns:a="http://schemas.openxmlformats.org/drawingml/2006/main" noGrp="1"/>
          </p:cNvSpPr>
          <p:nvPr/>
        </p:nvSpPr>
        <p:spPr>
          <a:xfrm xmlns:a="http://schemas.openxmlformats.org/drawingml/2006/main">
            <a:off x="876300" y="5772150"/>
            <a:ext cx="9858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425" b="1">
                <a:solidFill>
                  <a:srgbClr val="F7FBFF"/>
                </a:solidFill>
                <a:latin typeface="Arial Unicode MS"/>
                <a:ea typeface="Arial Unicode MS"/>
                <a:cs typeface="Arial Unicode MS"/>
              </a:defRPr>
            </a:defPPr>
          </a:lstStyle>
          <a:p xmlns:a="http://schemas.openxmlformats.org/drawingml/2006/main">
            <a:pPr algn="ctr">
              <a:defRPr sz="1425" b="1">
                <a:solidFill>
                  <a:srgbClr val="F7FBFF"/>
                </a:solidFill>
                <a:latin typeface="Arial Unicode MS"/>
                <a:ea typeface="Arial Unicode MS"/>
                <a:cs typeface="Arial Unicode MS"/>
              </a:defRPr>
            </a:pPr>
            <a:r>
              <a:rPr sz="1425" b="1">
                <a:solidFill>
                  <a:srgbClr val="F7FBFF"/>
                </a:solidFill>
                <a:latin typeface="Arial Unicode MS"/>
                <a:ea typeface="Arial Unicode MS"/>
                <a:cs typeface="Arial Unicode MS"/>
              </a:rPr>
              <a:t>Draft 合并只发布规范，不代表 Accepted、Implemented 或主网激活</a:t>
            </a:r>
          </a:p>
        </p:txBody>
      </p:sp>
    </p:spTree>
    <p:extLst>
      <p:ext uri="{BB962C8B-B14F-4D97-AF65-F5344CB8AC3E}">
        <p14:creationId xmlns:p14="http://schemas.microsoft.com/office/powerpoint/2010/main" val="17143537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2026-10-19T12:23:02.9920000Z</dcterms:created>
  <dcterms:modified xsi:type="dcterms:W3CDTF">2026-10-19T12:23:02.9920000Z</dcterms:modified>
</coreProperties>
</file>